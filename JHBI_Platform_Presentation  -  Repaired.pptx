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792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JHBI Payment Products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Unified Data Platform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February 2026 | Internal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Payment data fragmented across 7 payment rails and 4+ source systems, creating data silos and limiting analytical 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JHBI unified data platform providing single source of truth with multi-layered architecture (Raw → Silver → Gold zones)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ACH, Wire, Card, Zelle, RTP/FedNow, Check/RDC, and Bill Payment transactions across 300+ financial institutions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Enable consortium analytics, real-time fraud detection, regulatory reporting, and data-as-a-service monetization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JHBI Platform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</a:rPr>
              <a:t>Jack Henry Business Intelligence (JHBI) is a data-as-a-service platform delivering unified payment transaction data to financial institutions and enabling consortium-level analytics.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0604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Core Capabilities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Multi-tenant data isolation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Real-time CDC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Unified schema across 7 rails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PCI/PII compliant tokenization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API &amp; data marketplace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260604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37560" y="192024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 Systems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iPay (ACH, Wire)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EPS (Card processing)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Payrailz (P2P, RTP)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794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BPS (Bill payment)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4206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CPS (Check processing)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60604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192024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 Cases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Fraud detection &amp; prevention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Regulatory reporting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Consortium benchmarking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Customer analytics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206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Revenue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Challenge: Payment Data Fragmentation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Current State Challenges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7 different payment rails with unique data structures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4+ source systems with inconsistent schemas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No unified view across payment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Limited ability for cross-rail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Siloed compliance and fraud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Complex integration for consuming applications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Fragmented Data Landscape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iPay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Payrailz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29200" y="269748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761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ACH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69748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2761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Wire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69748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2761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Card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269748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0" y="2761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Zelle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24612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3101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RTP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24612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0" y="33101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Check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324612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0" y="33101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Bill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= Data Silos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JHBI Solution: Unified Payment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Unified Data Platform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64592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Source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1460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834640" y="1645920"/>
            <a:ext cx="1645920" cy="914400"/>
          </a:xfrm>
          <a:prstGeom prst="rect">
            <a:avLst/>
          </a:prstGeom>
          <a:solidFill>
            <a:srgbClr val="7B88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Raw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Zone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164592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Silver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Zone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1645920" cy="9144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Gold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Zone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Key Benefits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Single source of truth: One unified schema across all payment rails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7033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Multi-tenant isolation: Secure data segregation with _tenant_id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Real-time insights: CDC-enabled streaming with &lt;5min latency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Flexible analysis: Raw layer for forensics, Gold layer for analytics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5262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Consortium analytics: Anonymized benchmarking across FIs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Multi-Layer Architecture: Source to Gold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005840"/>
            <a:ext cx="5486400" cy="640080"/>
          </a:xfrm>
          <a:prstGeom prst="rect">
            <a:avLst/>
          </a:prstGeom>
          <a:solidFill>
            <a:srgbClr val="1E2761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 Systems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iPay, EPS, Payrailz, BPS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CDC-enabled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source databases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7556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920240"/>
            <a:ext cx="5486400" cy="640080"/>
          </a:xfrm>
          <a:prstGeom prst="rect">
            <a:avLst/>
          </a:prstGeom>
          <a:solidFill>
            <a:srgbClr val="7B8894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Raw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Source-specific tables (7 tables)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Maintains original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structure &amp; history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606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26700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2834640"/>
            <a:ext cx="548640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Silver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3154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Unified payment transactions (1 table)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Normalized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with JSONB details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0" y="35844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3749040"/>
            <a:ext cx="5486400" cy="640080"/>
          </a:xfrm>
          <a:prstGeom prst="rect">
            <a:avLst/>
          </a:prstGeom>
          <a:solidFill>
            <a:srgbClr val="FFB300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Gold Layer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01168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Analytics &amp; aggregations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Pre-aggregated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BI &amp; reporting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Reference Tables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Status codes, Payment types,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Return codes, Directions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Metadata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Data catalog, Lineage,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Source-to-target mappings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Payment Types Supported (7 Rails)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Automated Clearing House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Highest volume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51760" cy="411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Wire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Wire Transfers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High value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51760" cy="4114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Credit &amp; Debit Cards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High frequency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2651760" cy="4114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Zelle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P2P Payments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Growing rapidly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56032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37560" y="2560320"/>
            <a:ext cx="2651760" cy="41148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RTP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7472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Real-Time Payments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24/7 instant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56032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9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solidFill>
            <a:srgbClr val="19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FedNow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5508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Federal Reserve RTP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Instant settlement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265176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Check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9436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Check &amp; RDC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Declining but stable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Each payment type has unique attributes stored in unified schema's payment_details JSONB column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Flow &amp; CDC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Source Capture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CDC enabled at 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database (iPay, EPS, etc.)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Tokenization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PCI/PII fields tokenized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at ingestion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Raw Load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Preserve source structure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with CDC metadata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Silver Transform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Normalize to unified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schema with JSONB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CDC Metadata Standards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3375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337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_cdc_sequence_id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3375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Monotonic sequence for ordering changes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3611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_cdc_operation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361188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I (Insert), U (Update), D (Delete)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8862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3886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_cdc_timestamp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388620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When change was captured at source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1605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4160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_cdc_source_system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41605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Source application identifier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4348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_cdc_load_timestamp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44348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When record landed in target database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1: Raw Zone - Source-Specific Tables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Preserve original source structure with minimal transformation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~50M/day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ach_transaction_id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raw_wire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~500K/day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wire_transaction_id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raw_card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~100M/day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card_transaction_id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raw_zelle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~10M/day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zelle_transaction_id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raw_rtp_fednow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~2M/day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instant_payment_id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47472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raw_check_rdc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~5M/day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check_transaction_id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raw_billpay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~15M/day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5074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bill_pay_transaction_id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Characteristics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✓ 1:1 mapping with source system schemas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1480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✓ Contains source-specific fields (e.g., trace_number for ACH)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40410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✓ All records include CDC metadata (_cdc_*) and _tenant_id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2: Silver Zone - Unified Schema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Single unified table for all payment types with normalized common fields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solidFill>
            <a:srgbClr val="00A896"/>
          </a:solidFill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unified_payment_transactions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210312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Common Fields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transaction_id (PK)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tenant_id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payment_type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source_system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amount, currency_code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transaction_date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3251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status, direction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4600" y="2560320"/>
            <a:ext cx="210312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1460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Timeline Fields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initiated_timestamp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posted_timestamp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settled_timestamp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effective_date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settlement_date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2103120" cy="36576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Party Fields (Tokenized)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originator_name (PII)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originator_account_token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originator_routing_number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beneficiary_name (PII)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beneficiary_account_token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beneficiary_routing_number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9516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95160" y="2560320"/>
            <a:ext cx="2103120" cy="36576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9516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Rail-Specific Fields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payment_details JSONB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{ trace_number, ... } for ACH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{ wire_reference, ... } for Wire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3232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{ card_number, ... } for Card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{ email, phone } for Zelle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etc.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JSONB approach allows flexibility without schema changes when new payment rails are added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3: Gold Zone - Analytics &amp;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Pre-aggregated, business-optimized tables for reporting and analytics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gold_by_payment_type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Daily aggregations by payment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txn_count, total_amount, avg_amount, fee_revenue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414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gold_by_tenant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Per-FI performance metrics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volume, revenue, settlement_times, status_distribution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3101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gold_fraud_signals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5387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Fraud detection features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anomaly_scores, velocity_checks, cross-rail patterns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420624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1788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gold_consortium_benchmarks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4074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Anonymized peer comparisons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digital_adoption, fraud_rates, avg_transaction_size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Primary Use Cases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5074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◆ Executive dashboards &amp; KPI monitoring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5074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◆ Regulatory reporting (faster aggregations)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5303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◆ Consortium analytics &amp; peer benchmarking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5303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◆ ML/AI feature engineering for fraud models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Cross-Layer Data Lineage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Example: ACH Transaction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iPay Database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ach_transactions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8229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737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CDC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1828800" cy="914400"/>
          </a:xfrm>
          <a:prstGeom prst="rect">
            <a:avLst/>
          </a:prstGeom>
          <a:solidFill>
            <a:srgbClr val="7B88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raw_ach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CDC metadata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920240"/>
            <a:ext cx="8229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0" y="17373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Transform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1945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Silver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unified_payment_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377440"/>
            <a:ext cx="0" cy="45720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2697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Aggregate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3017520"/>
            <a:ext cx="2194560" cy="9144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Gold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gold_by_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payment_type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Metadata Lineage Tracking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metadata_source_to_target table captures: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Source system → Target table mappings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Field-level transformations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Data quality rules applied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Standard Metadata Column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Consistent metadata columns applied to ALL transaction tables across all layers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Multi-Tenancy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_tenant_id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Financial institution identifier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Change Data Capture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791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_cdc_sequence_id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6791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Sequence for ordering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6791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9352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_cdc_operation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9352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I/U/D operation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352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VARCHAR(1)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1912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_cdc_timestamp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1912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Source capture 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1912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TIMESTAMP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447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_cdc_source_system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4472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Source identifier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447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VARCHAR(100)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_cdc_load_timestamp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703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Target load 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TIMESTAMP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96512"/>
            <a:ext cx="8229600" cy="36576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142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5079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created_timestamp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4507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Record creation 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4507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TIMESTAMP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7640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updated_timestamp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47640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Last update time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7640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TIMESTAMP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50200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created_by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0" y="50200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Creator identifier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50200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52760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updated_by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5276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Updater identifier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5276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" y="5715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Classification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6080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[field]_classification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0" y="6080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PCI/PII/Standard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6080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Metadata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6336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[field]_encrypted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0" y="6336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Encryption flag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83680" y="6336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BOOLEAN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Multi-Tenancy Strategy: _tenant_id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Isolation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Row-Level Security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All queries automatically filtered by _tenant_id using database policies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Segregation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Each FI can only access their own transaction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Consortium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73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Gold layer provides anonymized aggregates for benchmarking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API 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JWT tokens include tenant_id claim for automatic filtering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Implementation Example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Enable RLS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unified_payment_transactions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ROW LEVEL SECURITY;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tenant policy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tenant_isolation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unified_payment_transactions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_tenant_id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current_setting(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'app.tenant_id'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)::VARCHAR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Application sets tenant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app.tenant_id = 'FI_12345';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Query auto-filtered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unified_payment_transactions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'SETTLED';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Only returns FI_12345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300+ financial institutions segregated with zero cross-tenant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CDC Capabilities: Real-Time Data Streaming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Why CDC?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Real-Time Latency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&lt; 5 minutes from source to silver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Incremental 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Only process changed records, not full table scans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423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Audit Trail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6700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Complete history of all changes (I/U/D operations)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2860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2423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Event Ordering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26700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Sequence IDs ensure correct ordering of changes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CDC Workflow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1. Source database captures DML operations (INSERT/UPDATE/DELETE)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2. CDC process reads change log and enriches with metadata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3. Tokenization applied to PCI/PII fields at ingestion boundary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48056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4. Raw layer receives changes with _cdc_* metadata preserved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5. Transform pipeline processes new/changed records to silver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Current Volume: ~180M transactions/day processed with CDC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&amp; Compliance Standards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PCI Compliance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Account numbers tokenized at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Card numbers never stored in plaintext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Tokens irreversible without secure vault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Detokenization only for authorized systems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PCI DSS Level 1 certified infrastructure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743200" cy="45720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PII Protection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Names, addresses flagged as PII in schema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Encryption at rest (AES-256)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Encryption in transit (TLS 1.3)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Masked in non-production environments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Access logging for audit trail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Governance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Every field has data classification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Metadata catalog tracks sensitivity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Role-based access control (RBAC)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Column-level security where applicable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Automated compliance scanning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Compliance Frameworks Supported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PCI DSS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9456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SOC 2 Type II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GDPR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CCPA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GLBA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1520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NACHA Rules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Unified Schema: Technical Specifications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Hybrid Columnar + JSONB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Common fields as columns for fast filtering; rail-specific fields in JSONB for flexibility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unified_payment_transactions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transaction_id (PK)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tenant_id (indexed)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5117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payment_type (indexed)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source_system, source_transaction_id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535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amount, currency_code, fee_amount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transaction_date, settlement_date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558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status, direction, channel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570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originator_* (tokenized)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581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beneficiary_* (tokenized)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59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payment_details JSONB 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_cdc_* (5 fields)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616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created_timestamp, updated_timestamp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Why JSONB for Rail Details?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2011680"/>
            <a:ext cx="41148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1945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194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Schema Flexibility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Add new payment rails without schema changes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26517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Indexed Queries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8346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GIN indexes allow fast JSON field lookups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3108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Type Safety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2918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JSON Schema validation enforces structure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3566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Storage Efficiency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3749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Only store fields relevant to each rail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023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2064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Version Compatibility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42062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Handle multiple source system versions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Performance &amp; Scalability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Current Production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Daily Transaction Volume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09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180M+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23560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Data Ingestion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709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&lt; 5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Query Response Time (p95)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532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&lt; 500ms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46320" y="219456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2356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Data Retention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2532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7 years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Optimization Strategies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474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Partitioning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4747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Tables partitioned by transaction_date (monthly) and _tenant_id for faster queries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7673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767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Indexing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3767328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Composite indexes on (tenant_id, status, date); GIN indexes on JSONB columns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05993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599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Compression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059936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Columnar compression on cold data (&gt;90 days); reduces storage by 70%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35254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35254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Caching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51760" y="4352544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Redis cache for gold layer aggregations; 95% cache hit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64515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4645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Archival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51760" y="464515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Data &gt;3 years moved to cold storage (S3/BigQuery long-term); queryable via federation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Implementation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09728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1704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1: 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11704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CAF50"/>
                </a:solidFill>
              </a:rPr>
              <a:t>Completed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44475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Raw &amp; Silver layer schemas designed • CDC pipelines for ACH, Wire, Card • Multi-tenancy &amp; security framework • Initial 50 FIs onboarded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05740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21305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2: Expansion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1305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300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0487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Add Zelle, RTP, FedNow rails • Gold layer analytics tables • API marketplace launch • Scale to 150 FIs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906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01752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090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3: Advanced Analytics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090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96"/>
                </a:solidFill>
              </a:rPr>
              <a:t>Q2-Q3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3649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Consortium benchmarking • ML-powered fraud detection • Real-time event streaming • 300+ FIs onboarded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" y="397764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4050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4: Monetization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Q4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32511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Data-as-a-service subscriptions • Premium API tiers • White-label analytics • International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7889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Review standard metadata column requirements with data architecture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004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Validate unified schema design with consuming applications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Prioritize Phase 2 payment rails (Zelle, RTP, FedNow) for development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Establish governance for gold layer aggregation definitions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4348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Plan consortium analytics pilot with 10-15 participating FIs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</a:rPr>
              <a:t>Questions? Contact: jhbi-platform-team@jackhenry.com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2228</Words>
  <Application>Microsoft Macintosh PowerPoint</Application>
  <PresentationFormat>On-screen Show (16:9)</PresentationFormat>
  <Paragraphs>511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Payment Products Platform</dc:title>
  <dc:subject>Data Architecture &amp; Unified Schema Design</dc:subject>
  <dc:creator>JHBI Team</dc:creator>
  <cp:lastModifiedBy>Adam Ames</cp:lastModifiedBy>
  <cp:revision>2</cp:revision>
  <dcterms:created xsi:type="dcterms:W3CDTF">2026-02-17T01:20:06Z</dcterms:created>
  <dcterms:modified xsi:type="dcterms:W3CDTF">2026-02-17T01:26:20Z</dcterms:modified>
</cp:coreProperties>
</file>