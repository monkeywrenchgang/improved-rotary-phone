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8" d="100"/>
          <a:sy n="168" d="100"/>
        </p:scale>
        <p:origin x="23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11320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4.png"/><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9.png"/><Relationship Id="rId4" Type="http://schemas.openxmlformats.org/officeDocument/2006/relationships/image" Target="../media/image10.png"/></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image" Target="../media/image17.png"/><Relationship Id="rId4" Type="http://schemas.openxmlformats.org/officeDocument/2006/relationships/image" Target="../media/image16.png"/></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8.png"/><Relationship Id="rId7"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3.png"/><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5.png"/><Relationship Id="rId5" Type="http://schemas.openxmlformats.org/officeDocument/2006/relationships/image" Target="../media/image10.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20.png"/><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057"/>
        </a:solidFill>
        <a:effectLst/>
      </p:bgPr>
    </p:bg>
    <p:spTree>
      <p:nvGrpSpPr>
        <p:cNvPr id="1" name=""/>
        <p:cNvGrpSpPr/>
        <p:nvPr/>
      </p:nvGrpSpPr>
      <p:grpSpPr>
        <a:xfrm>
          <a:off x="0" y="0"/>
          <a:ext cx="0" cy="0"/>
          <a:chOff x="0" y="0"/>
          <a:chExt cx="0" cy="0"/>
        </a:xfrm>
      </p:grpSpPr>
      <p:sp>
        <p:nvSpPr>
          <p:cNvPr id="2" name="Shape 0"/>
          <p:cNvSpPr/>
          <p:nvPr/>
        </p:nvSpPr>
        <p:spPr>
          <a:xfrm>
            <a:off x="6217920" y="0"/>
            <a:ext cx="2926080" cy="5143500"/>
          </a:xfrm>
          <a:prstGeom prst="rect">
            <a:avLst/>
          </a:prstGeom>
          <a:solidFill>
            <a:srgbClr val="1B4A7A"/>
          </a:solidFill>
          <a:ln w="12700">
            <a:solidFill>
              <a:srgbClr val="333333"/>
            </a:solidFill>
            <a:prstDash val="solid"/>
          </a:ln>
        </p:spPr>
        <p:txBody>
          <a:bodyPr/>
          <a:lstStyle/>
          <a:p>
            <a:endParaRPr lang="en-US"/>
          </a:p>
        </p:txBody>
      </p:sp>
      <p:sp>
        <p:nvSpPr>
          <p:cNvPr id="3" name="Shape 1"/>
          <p:cNvSpPr/>
          <p:nvPr/>
        </p:nvSpPr>
        <p:spPr>
          <a:xfrm>
            <a:off x="7772400" y="0"/>
            <a:ext cx="1371600" cy="5143500"/>
          </a:xfrm>
          <a:prstGeom prst="rect">
            <a:avLst/>
          </a:prstGeom>
          <a:solidFill>
            <a:srgbClr val="00A651">
              <a:alpha val="40000"/>
            </a:srgbClr>
          </a:solidFill>
          <a:ln w="12700">
            <a:solidFill>
              <a:srgbClr val="333333"/>
            </a:solidFill>
            <a:prstDash val="solid"/>
          </a:ln>
        </p:spPr>
        <p:txBody>
          <a:bodyPr/>
          <a:lstStyle/>
          <a:p>
            <a:endParaRPr lang="en-US"/>
          </a:p>
        </p:txBody>
      </p:sp>
      <p:sp>
        <p:nvSpPr>
          <p:cNvPr id="4" name="Shape 2"/>
          <p:cNvSpPr/>
          <p:nvPr/>
        </p:nvSpPr>
        <p:spPr>
          <a:xfrm>
            <a:off x="8595360" y="0"/>
            <a:ext cx="548640" cy="5143500"/>
          </a:xfrm>
          <a:prstGeom prst="rect">
            <a:avLst/>
          </a:prstGeom>
          <a:solidFill>
            <a:srgbClr val="009B8D">
              <a:alpha val="50000"/>
            </a:srgbClr>
          </a:solidFill>
          <a:ln w="12700">
            <a:solidFill>
              <a:srgbClr val="333333"/>
            </a:solidFill>
            <a:prstDash val="solid"/>
          </a:ln>
        </p:spPr>
        <p:txBody>
          <a:bodyPr/>
          <a:lstStyle/>
          <a:p>
            <a:endParaRPr lang="en-US"/>
          </a:p>
        </p:txBody>
      </p:sp>
      <p:sp>
        <p:nvSpPr>
          <p:cNvPr id="5" name="Shape 3"/>
          <p:cNvSpPr/>
          <p:nvPr/>
        </p:nvSpPr>
        <p:spPr>
          <a:xfrm>
            <a:off x="457200" y="1005840"/>
            <a:ext cx="64008" cy="3200400"/>
          </a:xfrm>
          <a:prstGeom prst="rect">
            <a:avLst/>
          </a:prstGeom>
          <a:solidFill>
            <a:srgbClr val="00A651"/>
          </a:solidFill>
          <a:ln w="12700">
            <a:solidFill>
              <a:srgbClr val="333333"/>
            </a:solidFill>
            <a:prstDash val="solid"/>
          </a:ln>
        </p:spPr>
        <p:txBody>
          <a:bodyPr/>
          <a:lstStyle/>
          <a:p>
            <a:endParaRPr lang="en-US"/>
          </a:p>
        </p:txBody>
      </p:sp>
      <p:sp>
        <p:nvSpPr>
          <p:cNvPr id="6" name="Shape 4"/>
          <p:cNvSpPr/>
          <p:nvPr/>
        </p:nvSpPr>
        <p:spPr>
          <a:xfrm>
            <a:off x="658368" y="1005840"/>
            <a:ext cx="1280160" cy="310896"/>
          </a:xfrm>
          <a:prstGeom prst="rect">
            <a:avLst/>
          </a:prstGeom>
          <a:solidFill>
            <a:srgbClr val="00A651"/>
          </a:solidFill>
          <a:ln w="12700">
            <a:solidFill>
              <a:srgbClr val="333333"/>
            </a:solidFill>
            <a:prstDash val="solid"/>
          </a:ln>
        </p:spPr>
        <p:txBody>
          <a:bodyPr/>
          <a:lstStyle/>
          <a:p>
            <a:endParaRPr lang="en-US"/>
          </a:p>
        </p:txBody>
      </p:sp>
      <p:sp>
        <p:nvSpPr>
          <p:cNvPr id="7" name="Text 5"/>
          <p:cNvSpPr/>
          <p:nvPr/>
        </p:nvSpPr>
        <p:spPr>
          <a:xfrm>
            <a:off x="658368" y="1005840"/>
            <a:ext cx="1280160" cy="310896"/>
          </a:xfrm>
          <a:prstGeom prst="rect">
            <a:avLst/>
          </a:prstGeom>
          <a:noFill/>
          <a:ln/>
        </p:spPr>
        <p:txBody>
          <a:bodyPr wrap="square" lIns="0" tIns="0" rIns="0" bIns="0" rtlCol="0" anchor="ctr"/>
          <a:lstStyle/>
          <a:p>
            <a:pPr marL="0" indent="0" algn="ctr">
              <a:buNone/>
            </a:pPr>
            <a:r>
              <a:rPr lang="en-US" sz="900" b="1" kern="0" spc="200" dirty="0">
                <a:solidFill>
                  <a:srgbClr val="FFFFFF"/>
                </a:solidFill>
                <a:latin typeface="Calibri" pitchFamily="34" charset="0"/>
                <a:ea typeface="Calibri" pitchFamily="34" charset="-122"/>
                <a:cs typeface="Calibri" pitchFamily="34" charset="-120"/>
              </a:rPr>
              <a:t>JACK HENRY</a:t>
            </a:r>
            <a:endParaRPr lang="en-US" sz="900" dirty="0"/>
          </a:p>
        </p:txBody>
      </p:sp>
      <p:sp>
        <p:nvSpPr>
          <p:cNvPr id="8" name="Text 6"/>
          <p:cNvSpPr/>
          <p:nvPr/>
        </p:nvSpPr>
        <p:spPr>
          <a:xfrm>
            <a:off x="658368" y="1463040"/>
            <a:ext cx="5303520" cy="2377440"/>
          </a:xfrm>
          <a:prstGeom prst="rect">
            <a:avLst/>
          </a:prstGeom>
          <a:noFill/>
          <a:ln/>
        </p:spPr>
        <p:txBody>
          <a:bodyPr wrap="square" lIns="0" tIns="0" rIns="0" bIns="0" rtlCol="0" anchor="t"/>
          <a:lstStyle/>
          <a:p>
            <a:pPr marL="0" indent="0">
              <a:buNone/>
            </a:pPr>
            <a:r>
              <a:rPr lang="en-US" sz="4000" b="1" dirty="0">
                <a:solidFill>
                  <a:srgbClr val="FFFFFF"/>
                </a:solidFill>
                <a:latin typeface="Calibri" pitchFamily="34" charset="0"/>
                <a:ea typeface="Calibri" pitchFamily="34" charset="-122"/>
                <a:cs typeface="Calibri" pitchFamily="34" charset="-120"/>
              </a:rPr>
              <a:t>Redefining</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Enterprise Data</a:t>
            </a:r>
            <a:endParaRPr lang="en-US" sz="4000" dirty="0"/>
          </a:p>
          <a:p>
            <a:pPr marL="0" indent="0">
              <a:buNone/>
            </a:pPr>
            <a:r>
              <a:rPr lang="en-US" sz="4000" b="1" dirty="0">
                <a:solidFill>
                  <a:srgbClr val="FFFFFF"/>
                </a:solidFill>
                <a:latin typeface="Calibri" pitchFamily="34" charset="0"/>
                <a:ea typeface="Calibri" pitchFamily="34" charset="-122"/>
                <a:cs typeface="Calibri" pitchFamily="34" charset="-120"/>
              </a:rPr>
              <a:t>Strategy</a:t>
            </a:r>
            <a:endParaRPr lang="en-US" sz="4000" dirty="0"/>
          </a:p>
        </p:txBody>
      </p:sp>
      <p:sp>
        <p:nvSpPr>
          <p:cNvPr id="9" name="Shape 7"/>
          <p:cNvSpPr/>
          <p:nvPr/>
        </p:nvSpPr>
        <p:spPr>
          <a:xfrm>
            <a:off x="658368" y="3931920"/>
            <a:ext cx="5303520" cy="45720"/>
          </a:xfrm>
          <a:prstGeom prst="rect">
            <a:avLst/>
          </a:prstGeom>
          <a:solidFill>
            <a:srgbClr val="00A651"/>
          </a:solidFill>
          <a:ln w="12700">
            <a:solidFill>
              <a:srgbClr val="333333"/>
            </a:solidFill>
            <a:prstDash val="solid"/>
          </a:ln>
        </p:spPr>
        <p:txBody>
          <a:bodyPr/>
          <a:lstStyle/>
          <a:p>
            <a:endParaRPr lang="en-US"/>
          </a:p>
        </p:txBody>
      </p:sp>
      <p:sp>
        <p:nvSpPr>
          <p:cNvPr id="10" name="Text 8"/>
          <p:cNvSpPr/>
          <p:nvPr/>
        </p:nvSpPr>
        <p:spPr>
          <a:xfrm>
            <a:off x="658368" y="4069080"/>
            <a:ext cx="5303520" cy="365760"/>
          </a:xfrm>
          <a:prstGeom prst="rect">
            <a:avLst/>
          </a:prstGeom>
          <a:noFill/>
          <a:ln/>
        </p:spPr>
        <p:txBody>
          <a:bodyPr wrap="square" lIns="0" tIns="0" rIns="0" bIns="0" rtlCol="0" anchor="t"/>
          <a:lstStyle/>
          <a:p>
            <a:pPr marL="0" indent="0">
              <a:buNone/>
            </a:pPr>
            <a:r>
              <a:rPr lang="en-US" sz="1300" dirty="0">
                <a:solidFill>
                  <a:srgbClr val="9ABDD8"/>
                </a:solidFill>
                <a:latin typeface="Calibri" pitchFamily="34" charset="0"/>
                <a:ea typeface="Calibri" pitchFamily="34" charset="-122"/>
                <a:cs typeface="Calibri" pitchFamily="34" charset="-120"/>
              </a:rPr>
              <a:t>Introducing JHBI: The Next-Generation Data Platform as a Service</a:t>
            </a:r>
            <a:endParaRPr lang="en-US" sz="1300" dirty="0"/>
          </a:p>
        </p:txBody>
      </p:sp>
      <p:sp>
        <p:nvSpPr>
          <p:cNvPr id="11" name="Text 9"/>
          <p:cNvSpPr/>
          <p:nvPr/>
        </p:nvSpPr>
        <p:spPr>
          <a:xfrm>
            <a:off x="658368" y="4572000"/>
            <a:ext cx="54864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Mike Ames</a:t>
            </a:r>
            <a:r>
              <a:rPr lang="en-US" sz="1200" dirty="0">
                <a:solidFill>
                  <a:srgbClr val="9ABDD8"/>
                </a:solidFill>
                <a:latin typeface="Calibri" pitchFamily="34" charset="0"/>
                <a:ea typeface="Calibri" pitchFamily="34" charset="-122"/>
                <a:cs typeface="Calibri" pitchFamily="34" charset="-120"/>
              </a:rPr>
              <a:t>  |  Director of Data Science</a:t>
            </a:r>
            <a:endParaRPr lang="en-US" sz="1200" dirty="0"/>
          </a:p>
        </p:txBody>
      </p:sp>
      <p:sp>
        <p:nvSpPr>
          <p:cNvPr id="12" name="Text 10"/>
          <p:cNvSpPr/>
          <p:nvPr/>
        </p:nvSpPr>
        <p:spPr>
          <a:xfrm>
            <a:off x="658368" y="4846320"/>
            <a:ext cx="594360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Elspeth Bloodgood</a:t>
            </a:r>
            <a:r>
              <a:rPr lang="en-US" sz="1200" dirty="0">
                <a:solidFill>
                  <a:srgbClr val="9ABDD8"/>
                </a:solidFill>
                <a:latin typeface="Calibri" pitchFamily="34" charset="0"/>
                <a:ea typeface="Calibri" pitchFamily="34" charset="-122"/>
                <a:cs typeface="Calibri" pitchFamily="34" charset="-120"/>
              </a:rPr>
              <a:t>  |  Senior Advisor, Data Governance</a:t>
            </a:r>
            <a:endParaRPr lang="en-US" sz="1200" dirty="0"/>
          </a:p>
        </p:txBody>
      </p:sp>
      <p:pic>
        <p:nvPicPr>
          <p:cNvPr id="13" name="Image 0" descr="preencoded.png"/>
          <p:cNvPicPr>
            <a:picLocks noChangeAspect="1"/>
          </p:cNvPicPr>
          <p:nvPr/>
        </p:nvPicPr>
        <p:blipFill>
          <a:blip r:embed="rId3">
            <a:alphaModFix amt="60000"/>
          </a:blip>
          <a:stretch>
            <a:fillRect/>
          </a:stretch>
        </p:blipFill>
        <p:spPr>
          <a:xfrm>
            <a:off x="6583680" y="1097280"/>
            <a:ext cx="640080" cy="640080"/>
          </a:xfrm>
          <a:prstGeom prst="rect">
            <a:avLst/>
          </a:prstGeom>
        </p:spPr>
      </p:pic>
      <p:pic>
        <p:nvPicPr>
          <p:cNvPr id="14" name="Image 1" descr="preencoded.png"/>
          <p:cNvPicPr>
            <a:picLocks noChangeAspect="1"/>
          </p:cNvPicPr>
          <p:nvPr/>
        </p:nvPicPr>
        <p:blipFill>
          <a:blip r:embed="rId4">
            <a:alphaModFix amt="60000"/>
          </a:blip>
          <a:stretch>
            <a:fillRect/>
          </a:stretch>
        </p:blipFill>
        <p:spPr>
          <a:xfrm>
            <a:off x="6583680" y="2286000"/>
            <a:ext cx="640080" cy="640080"/>
          </a:xfrm>
          <a:prstGeom prst="rect">
            <a:avLst/>
          </a:prstGeom>
        </p:spPr>
      </p:pic>
      <p:pic>
        <p:nvPicPr>
          <p:cNvPr id="15" name="Image 2" descr="preencoded.png"/>
          <p:cNvPicPr>
            <a:picLocks noChangeAspect="1"/>
          </p:cNvPicPr>
          <p:nvPr/>
        </p:nvPicPr>
        <p:blipFill>
          <a:blip r:embed="rId5">
            <a:alphaModFix amt="60000"/>
          </a:blip>
          <a:stretch>
            <a:fillRect/>
          </a:stretch>
        </p:blipFill>
        <p:spPr>
          <a:xfrm>
            <a:off x="6583680" y="3474720"/>
            <a:ext cx="640080" cy="64008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64008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Today's Agenda</a:t>
            </a:r>
            <a:endParaRPr lang="en-US" sz="3400" dirty="0"/>
          </a:p>
        </p:txBody>
      </p:sp>
      <p:sp>
        <p:nvSpPr>
          <p:cNvPr id="3" name="Shape 1"/>
          <p:cNvSpPr/>
          <p:nvPr/>
        </p:nvSpPr>
        <p:spPr>
          <a:xfrm>
            <a:off x="365760" y="1097280"/>
            <a:ext cx="1965960" cy="347472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4" name="Shape 2"/>
          <p:cNvSpPr/>
          <p:nvPr/>
        </p:nvSpPr>
        <p:spPr>
          <a:xfrm>
            <a:off x="365760" y="1097280"/>
            <a:ext cx="1965960" cy="73152"/>
          </a:xfrm>
          <a:prstGeom prst="rect">
            <a:avLst/>
          </a:prstGeom>
          <a:solidFill>
            <a:srgbClr val="003057"/>
          </a:solidFill>
          <a:ln w="12700">
            <a:solidFill>
              <a:srgbClr val="333333"/>
            </a:solidFill>
            <a:prstDash val="solid"/>
          </a:ln>
        </p:spPr>
        <p:txBody>
          <a:bodyPr/>
          <a:lstStyle/>
          <a:p>
            <a:endParaRPr lang="en-US"/>
          </a:p>
        </p:txBody>
      </p:sp>
      <p:sp>
        <p:nvSpPr>
          <p:cNvPr id="5" name="Text 3"/>
          <p:cNvSpPr/>
          <p:nvPr/>
        </p:nvSpPr>
        <p:spPr>
          <a:xfrm>
            <a:off x="365760" y="1234440"/>
            <a:ext cx="1965960" cy="640080"/>
          </a:xfrm>
          <a:prstGeom prst="rect">
            <a:avLst/>
          </a:prstGeom>
          <a:noFill/>
          <a:ln/>
        </p:spPr>
        <p:txBody>
          <a:bodyPr wrap="square" lIns="0" tIns="0" rIns="0" bIns="0" rtlCol="0" anchor="ctr"/>
          <a:lstStyle/>
          <a:p>
            <a:pPr marL="0" indent="0" algn="ctr">
              <a:buNone/>
            </a:pPr>
            <a:r>
              <a:rPr lang="en-US" sz="3600" b="1" dirty="0">
                <a:solidFill>
                  <a:srgbClr val="003057"/>
                </a:solidFill>
                <a:latin typeface="Calibri" pitchFamily="34" charset="0"/>
                <a:ea typeface="Calibri" pitchFamily="34" charset="-122"/>
                <a:cs typeface="Calibri" pitchFamily="34" charset="-120"/>
              </a:rPr>
              <a:t>01</a:t>
            </a:r>
            <a:endParaRPr lang="en-US" sz="3600" dirty="0"/>
          </a:p>
        </p:txBody>
      </p:sp>
      <p:sp>
        <p:nvSpPr>
          <p:cNvPr id="6" name="Text 4"/>
          <p:cNvSpPr/>
          <p:nvPr/>
        </p:nvSpPr>
        <p:spPr>
          <a:xfrm>
            <a:off x="475488" y="1920240"/>
            <a:ext cx="1783080" cy="640080"/>
          </a:xfrm>
          <a:prstGeom prst="rect">
            <a:avLst/>
          </a:prstGeom>
          <a:noFill/>
          <a:ln/>
        </p:spPr>
        <p:txBody>
          <a:bodyPr wrap="square" lIns="0" tIns="0" rIns="0" bIns="0" rtlCol="0" anchor="t"/>
          <a:lstStyle/>
          <a:p>
            <a:pPr marL="0" indent="0" algn="ctr">
              <a:buNone/>
            </a:pPr>
            <a:r>
              <a:rPr lang="en-US" sz="1400" b="1" dirty="0">
                <a:solidFill>
                  <a:srgbClr val="1A202C"/>
                </a:solidFill>
                <a:latin typeface="Calibri" pitchFamily="34" charset="0"/>
                <a:ea typeface="Calibri" pitchFamily="34" charset="-122"/>
                <a:cs typeface="Calibri" pitchFamily="34" charset="-120"/>
              </a:rPr>
              <a:t>The Data Imperative</a:t>
            </a:r>
            <a:endParaRPr lang="en-US" sz="1400" dirty="0"/>
          </a:p>
        </p:txBody>
      </p:sp>
      <p:sp>
        <p:nvSpPr>
          <p:cNvPr id="7" name="Text 5"/>
          <p:cNvSpPr/>
          <p:nvPr/>
        </p:nvSpPr>
        <p:spPr>
          <a:xfrm>
            <a:off x="475488" y="2651760"/>
            <a:ext cx="1783080" cy="164592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Why enterprise data strategy matters now more than ever</a:t>
            </a:r>
            <a:endParaRPr lang="en-US" sz="1100" dirty="0"/>
          </a:p>
        </p:txBody>
      </p:sp>
      <p:sp>
        <p:nvSpPr>
          <p:cNvPr id="8" name="Shape 6"/>
          <p:cNvSpPr/>
          <p:nvPr/>
        </p:nvSpPr>
        <p:spPr>
          <a:xfrm>
            <a:off x="2514600" y="1097280"/>
            <a:ext cx="1965960" cy="347472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9" name="Shape 7"/>
          <p:cNvSpPr/>
          <p:nvPr/>
        </p:nvSpPr>
        <p:spPr>
          <a:xfrm>
            <a:off x="2514600" y="1097280"/>
            <a:ext cx="1965960" cy="73152"/>
          </a:xfrm>
          <a:prstGeom prst="rect">
            <a:avLst/>
          </a:prstGeom>
          <a:solidFill>
            <a:srgbClr val="00A651"/>
          </a:solidFill>
          <a:ln w="12700">
            <a:solidFill>
              <a:srgbClr val="333333"/>
            </a:solidFill>
            <a:prstDash val="solid"/>
          </a:ln>
        </p:spPr>
        <p:txBody>
          <a:bodyPr/>
          <a:lstStyle/>
          <a:p>
            <a:endParaRPr lang="en-US"/>
          </a:p>
        </p:txBody>
      </p:sp>
      <p:sp>
        <p:nvSpPr>
          <p:cNvPr id="10" name="Text 8"/>
          <p:cNvSpPr/>
          <p:nvPr/>
        </p:nvSpPr>
        <p:spPr>
          <a:xfrm>
            <a:off x="2514600" y="1234440"/>
            <a:ext cx="1965960" cy="640080"/>
          </a:xfrm>
          <a:prstGeom prst="rect">
            <a:avLst/>
          </a:prstGeom>
          <a:noFill/>
          <a:ln/>
        </p:spPr>
        <p:txBody>
          <a:bodyPr wrap="square" lIns="0" tIns="0" rIns="0" bIns="0" rtlCol="0" anchor="ctr"/>
          <a:lstStyle/>
          <a:p>
            <a:pPr marL="0" indent="0" algn="ctr">
              <a:buNone/>
            </a:pPr>
            <a:r>
              <a:rPr lang="en-US" sz="3600" b="1" dirty="0">
                <a:solidFill>
                  <a:srgbClr val="00A651"/>
                </a:solidFill>
                <a:latin typeface="Calibri" pitchFamily="34" charset="0"/>
                <a:ea typeface="Calibri" pitchFamily="34" charset="-122"/>
                <a:cs typeface="Calibri" pitchFamily="34" charset="-120"/>
              </a:rPr>
              <a:t>02</a:t>
            </a:r>
            <a:endParaRPr lang="en-US" sz="3600" dirty="0"/>
          </a:p>
        </p:txBody>
      </p:sp>
      <p:sp>
        <p:nvSpPr>
          <p:cNvPr id="11" name="Text 9"/>
          <p:cNvSpPr/>
          <p:nvPr/>
        </p:nvSpPr>
        <p:spPr>
          <a:xfrm>
            <a:off x="2624328" y="1920240"/>
            <a:ext cx="1783080" cy="640080"/>
          </a:xfrm>
          <a:prstGeom prst="rect">
            <a:avLst/>
          </a:prstGeom>
          <a:noFill/>
          <a:ln/>
        </p:spPr>
        <p:txBody>
          <a:bodyPr wrap="square" lIns="0" tIns="0" rIns="0" bIns="0" rtlCol="0" anchor="t"/>
          <a:lstStyle/>
          <a:p>
            <a:pPr marL="0" indent="0" algn="ctr">
              <a:buNone/>
            </a:pPr>
            <a:r>
              <a:rPr lang="en-US" sz="1400" b="1" dirty="0">
                <a:solidFill>
                  <a:srgbClr val="1A202C"/>
                </a:solidFill>
                <a:latin typeface="Calibri" pitchFamily="34" charset="0"/>
                <a:ea typeface="Calibri" pitchFamily="34" charset="-122"/>
                <a:cs typeface="Calibri" pitchFamily="34" charset="-120"/>
              </a:rPr>
              <a:t>Introducing JHBI</a:t>
            </a:r>
            <a:endParaRPr lang="en-US" sz="1400" dirty="0"/>
          </a:p>
        </p:txBody>
      </p:sp>
      <p:sp>
        <p:nvSpPr>
          <p:cNvPr id="12" name="Text 10"/>
          <p:cNvSpPr/>
          <p:nvPr/>
        </p:nvSpPr>
        <p:spPr>
          <a:xfrm>
            <a:off x="2624328" y="2651760"/>
            <a:ext cx="1783080" cy="164592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Platform architecture, the 360° member view &amp; data harmonization</a:t>
            </a:r>
            <a:endParaRPr lang="en-US" sz="1100" dirty="0"/>
          </a:p>
        </p:txBody>
      </p:sp>
      <p:sp>
        <p:nvSpPr>
          <p:cNvPr id="13" name="Shape 11"/>
          <p:cNvSpPr/>
          <p:nvPr/>
        </p:nvSpPr>
        <p:spPr>
          <a:xfrm>
            <a:off x="4663440" y="1097280"/>
            <a:ext cx="1965960" cy="347472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4" name="Shape 12"/>
          <p:cNvSpPr/>
          <p:nvPr/>
        </p:nvSpPr>
        <p:spPr>
          <a:xfrm>
            <a:off x="4663440" y="1097280"/>
            <a:ext cx="1965960" cy="73152"/>
          </a:xfrm>
          <a:prstGeom prst="rect">
            <a:avLst/>
          </a:prstGeom>
          <a:solidFill>
            <a:srgbClr val="009B8D"/>
          </a:solidFill>
          <a:ln w="12700">
            <a:solidFill>
              <a:srgbClr val="333333"/>
            </a:solidFill>
            <a:prstDash val="solid"/>
          </a:ln>
        </p:spPr>
        <p:txBody>
          <a:bodyPr/>
          <a:lstStyle/>
          <a:p>
            <a:endParaRPr lang="en-US"/>
          </a:p>
        </p:txBody>
      </p:sp>
      <p:sp>
        <p:nvSpPr>
          <p:cNvPr id="15" name="Text 13"/>
          <p:cNvSpPr/>
          <p:nvPr/>
        </p:nvSpPr>
        <p:spPr>
          <a:xfrm>
            <a:off x="4663440" y="1234440"/>
            <a:ext cx="1965960" cy="640080"/>
          </a:xfrm>
          <a:prstGeom prst="rect">
            <a:avLst/>
          </a:prstGeom>
          <a:noFill/>
          <a:ln/>
        </p:spPr>
        <p:txBody>
          <a:bodyPr wrap="square" lIns="0" tIns="0" rIns="0" bIns="0" rtlCol="0" anchor="ctr"/>
          <a:lstStyle/>
          <a:p>
            <a:pPr marL="0" indent="0" algn="ctr">
              <a:buNone/>
            </a:pPr>
            <a:r>
              <a:rPr lang="en-US" sz="3600" b="1" dirty="0">
                <a:solidFill>
                  <a:srgbClr val="009B8D"/>
                </a:solidFill>
                <a:latin typeface="Calibri" pitchFamily="34" charset="0"/>
                <a:ea typeface="Calibri" pitchFamily="34" charset="-122"/>
                <a:cs typeface="Calibri" pitchFamily="34" charset="-120"/>
              </a:rPr>
              <a:t>03</a:t>
            </a:r>
            <a:endParaRPr lang="en-US" sz="3600" dirty="0"/>
          </a:p>
        </p:txBody>
      </p:sp>
      <p:sp>
        <p:nvSpPr>
          <p:cNvPr id="16" name="Text 14"/>
          <p:cNvSpPr/>
          <p:nvPr/>
        </p:nvSpPr>
        <p:spPr>
          <a:xfrm>
            <a:off x="4773168" y="1920240"/>
            <a:ext cx="1783080" cy="640080"/>
          </a:xfrm>
          <a:prstGeom prst="rect">
            <a:avLst/>
          </a:prstGeom>
          <a:noFill/>
          <a:ln/>
        </p:spPr>
        <p:txBody>
          <a:bodyPr wrap="square" lIns="0" tIns="0" rIns="0" bIns="0" rtlCol="0" anchor="t"/>
          <a:lstStyle/>
          <a:p>
            <a:pPr marL="0" indent="0" algn="ctr">
              <a:buNone/>
            </a:pPr>
            <a:r>
              <a:rPr lang="en-US" sz="1400" b="1" dirty="0">
                <a:solidFill>
                  <a:srgbClr val="1A202C"/>
                </a:solidFill>
                <a:latin typeface="Calibri" pitchFamily="34" charset="0"/>
                <a:ea typeface="Calibri" pitchFamily="34" charset="-122"/>
                <a:cs typeface="Calibri" pitchFamily="34" charset="-120"/>
              </a:rPr>
              <a:t>Capabilities &amp; Governance</a:t>
            </a:r>
            <a:endParaRPr lang="en-US" sz="1400" dirty="0"/>
          </a:p>
        </p:txBody>
      </p:sp>
      <p:sp>
        <p:nvSpPr>
          <p:cNvPr id="17" name="Text 15"/>
          <p:cNvSpPr/>
          <p:nvPr/>
        </p:nvSpPr>
        <p:spPr>
          <a:xfrm>
            <a:off x="4773168" y="2651760"/>
            <a:ext cx="1783080" cy="164592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Analytics, data science, governance, and innovation possibilities</a:t>
            </a:r>
            <a:endParaRPr lang="en-US" sz="1100" dirty="0"/>
          </a:p>
        </p:txBody>
      </p:sp>
      <p:sp>
        <p:nvSpPr>
          <p:cNvPr id="18" name="Shape 16"/>
          <p:cNvSpPr/>
          <p:nvPr/>
        </p:nvSpPr>
        <p:spPr>
          <a:xfrm>
            <a:off x="6812280" y="1097280"/>
            <a:ext cx="1965960" cy="347472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9" name="Shape 17"/>
          <p:cNvSpPr/>
          <p:nvPr/>
        </p:nvSpPr>
        <p:spPr>
          <a:xfrm>
            <a:off x="6812280" y="1097280"/>
            <a:ext cx="1965960" cy="73152"/>
          </a:xfrm>
          <a:prstGeom prst="rect">
            <a:avLst/>
          </a:prstGeom>
          <a:solidFill>
            <a:srgbClr val="F5A623"/>
          </a:solidFill>
          <a:ln w="12700">
            <a:solidFill>
              <a:srgbClr val="333333"/>
            </a:solidFill>
            <a:prstDash val="solid"/>
          </a:ln>
        </p:spPr>
        <p:txBody>
          <a:bodyPr/>
          <a:lstStyle/>
          <a:p>
            <a:endParaRPr lang="en-US"/>
          </a:p>
        </p:txBody>
      </p:sp>
      <p:sp>
        <p:nvSpPr>
          <p:cNvPr id="20" name="Text 18"/>
          <p:cNvSpPr/>
          <p:nvPr/>
        </p:nvSpPr>
        <p:spPr>
          <a:xfrm>
            <a:off x="6812280" y="1234440"/>
            <a:ext cx="1965960" cy="640080"/>
          </a:xfrm>
          <a:prstGeom prst="rect">
            <a:avLst/>
          </a:prstGeom>
          <a:noFill/>
          <a:ln/>
        </p:spPr>
        <p:txBody>
          <a:bodyPr wrap="square" lIns="0" tIns="0" rIns="0" bIns="0" rtlCol="0" anchor="ctr"/>
          <a:lstStyle/>
          <a:p>
            <a:pPr marL="0" indent="0" algn="ctr">
              <a:buNone/>
            </a:pPr>
            <a:r>
              <a:rPr lang="en-US" sz="3600" b="1" dirty="0">
                <a:solidFill>
                  <a:srgbClr val="F5A623"/>
                </a:solidFill>
                <a:latin typeface="Calibri" pitchFamily="34" charset="0"/>
                <a:ea typeface="Calibri" pitchFamily="34" charset="-122"/>
                <a:cs typeface="Calibri" pitchFamily="34" charset="-120"/>
              </a:rPr>
              <a:t>04</a:t>
            </a:r>
            <a:endParaRPr lang="en-US" sz="3600" dirty="0"/>
          </a:p>
        </p:txBody>
      </p:sp>
      <p:sp>
        <p:nvSpPr>
          <p:cNvPr id="21" name="Text 19"/>
          <p:cNvSpPr/>
          <p:nvPr/>
        </p:nvSpPr>
        <p:spPr>
          <a:xfrm>
            <a:off x="6922008" y="1920240"/>
            <a:ext cx="1783080" cy="640080"/>
          </a:xfrm>
          <a:prstGeom prst="rect">
            <a:avLst/>
          </a:prstGeom>
          <a:noFill/>
          <a:ln/>
        </p:spPr>
        <p:txBody>
          <a:bodyPr wrap="square" lIns="0" tIns="0" rIns="0" bIns="0" rtlCol="0" anchor="t"/>
          <a:lstStyle/>
          <a:p>
            <a:pPr marL="0" indent="0" algn="ctr">
              <a:buNone/>
            </a:pPr>
            <a:r>
              <a:rPr lang="en-US" sz="1400" b="1" dirty="0">
                <a:solidFill>
                  <a:srgbClr val="1A202C"/>
                </a:solidFill>
                <a:latin typeface="Calibri" pitchFamily="34" charset="0"/>
                <a:ea typeface="Calibri" pitchFamily="34" charset="-122"/>
                <a:cs typeface="Calibri" pitchFamily="34" charset="-120"/>
              </a:rPr>
              <a:t>The Path Forward</a:t>
            </a:r>
            <a:endParaRPr lang="en-US" sz="1400" dirty="0"/>
          </a:p>
        </p:txBody>
      </p:sp>
      <p:sp>
        <p:nvSpPr>
          <p:cNvPr id="22" name="Text 20"/>
          <p:cNvSpPr/>
          <p:nvPr/>
        </p:nvSpPr>
        <p:spPr>
          <a:xfrm>
            <a:off x="6922008" y="2651760"/>
            <a:ext cx="1783080" cy="164592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Migration journey, client benefits &amp; the road ahead</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The Data Imperative</a:t>
            </a:r>
            <a:endParaRPr lang="en-US" sz="3400" dirty="0"/>
          </a:p>
        </p:txBody>
      </p:sp>
      <p:sp>
        <p:nvSpPr>
          <p:cNvPr id="3" name="Text 1"/>
          <p:cNvSpPr/>
          <p:nvPr/>
        </p:nvSpPr>
        <p:spPr>
          <a:xfrm>
            <a:off x="457200" y="868680"/>
            <a:ext cx="8229600" cy="365760"/>
          </a:xfrm>
          <a:prstGeom prst="rect">
            <a:avLst/>
          </a:prstGeom>
          <a:noFill/>
          <a:ln/>
        </p:spPr>
        <p:txBody>
          <a:bodyPr wrap="square" lIns="0" tIns="0" rIns="0" bIns="0" rtlCol="0" anchor="t"/>
          <a:lstStyle/>
          <a:p>
            <a:pPr marL="0" indent="0">
              <a:buNone/>
            </a:pPr>
            <a:r>
              <a:rPr lang="en-US" sz="1400" dirty="0">
                <a:solidFill>
                  <a:srgbClr val="4A5568"/>
                </a:solidFill>
                <a:latin typeface="Calibri" pitchFamily="34" charset="0"/>
                <a:ea typeface="Calibri" pitchFamily="34" charset="-122"/>
                <a:cs typeface="Calibri" pitchFamily="34" charset="-120"/>
              </a:rPr>
              <a:t>Financial institutions are sitting on a goldmine of data — but fragmentation is holding them back.</a:t>
            </a:r>
            <a:endParaRPr lang="en-US" sz="1400" dirty="0"/>
          </a:p>
        </p:txBody>
      </p:sp>
      <p:sp>
        <p:nvSpPr>
          <p:cNvPr id="4" name="Shape 2"/>
          <p:cNvSpPr/>
          <p:nvPr/>
        </p:nvSpPr>
        <p:spPr>
          <a:xfrm>
            <a:off x="365760" y="1371600"/>
            <a:ext cx="2606040" cy="329184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5" name="Shape 3"/>
          <p:cNvSpPr/>
          <p:nvPr/>
        </p:nvSpPr>
        <p:spPr>
          <a:xfrm>
            <a:off x="365760" y="1371600"/>
            <a:ext cx="2606040" cy="64008"/>
          </a:xfrm>
          <a:prstGeom prst="rect">
            <a:avLst/>
          </a:prstGeom>
          <a:solidFill>
            <a:srgbClr val="003057"/>
          </a:solidFill>
          <a:ln w="12700">
            <a:solidFill>
              <a:srgbClr val="333333"/>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371600" y="1600200"/>
            <a:ext cx="548640" cy="548640"/>
          </a:xfrm>
          <a:prstGeom prst="rect">
            <a:avLst/>
          </a:prstGeom>
        </p:spPr>
      </p:pic>
      <p:sp>
        <p:nvSpPr>
          <p:cNvPr id="7" name="Text 4"/>
          <p:cNvSpPr/>
          <p:nvPr/>
        </p:nvSpPr>
        <p:spPr>
          <a:xfrm>
            <a:off x="365760" y="2194560"/>
            <a:ext cx="2606040" cy="1005840"/>
          </a:xfrm>
          <a:prstGeom prst="rect">
            <a:avLst/>
          </a:prstGeom>
          <a:noFill/>
          <a:ln/>
        </p:spPr>
        <p:txBody>
          <a:bodyPr wrap="square" lIns="0" tIns="0" rIns="0" bIns="0" rtlCol="0" anchor="ctr"/>
          <a:lstStyle/>
          <a:p>
            <a:pPr marL="0" indent="0" algn="ctr">
              <a:buNone/>
            </a:pPr>
            <a:r>
              <a:rPr lang="en-US" sz="5400" b="1" dirty="0">
                <a:solidFill>
                  <a:srgbClr val="003057"/>
                </a:solidFill>
                <a:latin typeface="Calibri" pitchFamily="34" charset="0"/>
                <a:ea typeface="Calibri" pitchFamily="34" charset="-122"/>
                <a:cs typeface="Calibri" pitchFamily="34" charset="-120"/>
              </a:rPr>
              <a:t>80%</a:t>
            </a:r>
            <a:endParaRPr lang="en-US" sz="5400" dirty="0"/>
          </a:p>
        </p:txBody>
      </p:sp>
      <p:sp>
        <p:nvSpPr>
          <p:cNvPr id="8" name="Text 5"/>
          <p:cNvSpPr/>
          <p:nvPr/>
        </p:nvSpPr>
        <p:spPr>
          <a:xfrm>
            <a:off x="502920" y="3246120"/>
            <a:ext cx="2331720" cy="1188720"/>
          </a:xfrm>
          <a:prstGeom prst="rect">
            <a:avLst/>
          </a:prstGeom>
          <a:noFill/>
          <a:ln/>
        </p:spPr>
        <p:txBody>
          <a:bodyPr wrap="square" lIns="0" tIns="0" rIns="0" bIns="0" rtlCol="0" anchor="t"/>
          <a:lstStyle/>
          <a:p>
            <a:pPr marL="0" indent="0" algn="ctr">
              <a:buNone/>
            </a:pPr>
            <a:r>
              <a:rPr lang="en-US" sz="1300" dirty="0">
                <a:solidFill>
                  <a:srgbClr val="4A5568"/>
                </a:solidFill>
                <a:latin typeface="Calibri" pitchFamily="34" charset="0"/>
                <a:ea typeface="Calibri" pitchFamily="34" charset="-122"/>
                <a:cs typeface="Calibri" pitchFamily="34" charset="-120"/>
              </a:rPr>
              <a:t>of banking data is siloed</a:t>
            </a:r>
            <a:endParaRPr lang="en-US" sz="1300" dirty="0"/>
          </a:p>
          <a:p>
            <a:pPr marL="0" indent="0" algn="ctr">
              <a:buNone/>
            </a:pPr>
            <a:r>
              <a:rPr lang="en-US" sz="1300" dirty="0">
                <a:solidFill>
                  <a:srgbClr val="4A5568"/>
                </a:solidFill>
                <a:latin typeface="Calibri" pitchFamily="34" charset="0"/>
                <a:ea typeface="Calibri" pitchFamily="34" charset="-122"/>
                <a:cs typeface="Calibri" pitchFamily="34" charset="-120"/>
              </a:rPr>
              <a:t>across disconnected systems</a:t>
            </a:r>
            <a:endParaRPr lang="en-US" sz="1300" dirty="0"/>
          </a:p>
        </p:txBody>
      </p:sp>
      <p:sp>
        <p:nvSpPr>
          <p:cNvPr id="9" name="Shape 6"/>
          <p:cNvSpPr/>
          <p:nvPr/>
        </p:nvSpPr>
        <p:spPr>
          <a:xfrm>
            <a:off x="3200400" y="1371600"/>
            <a:ext cx="2606040" cy="329184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0" name="Shape 7"/>
          <p:cNvSpPr/>
          <p:nvPr/>
        </p:nvSpPr>
        <p:spPr>
          <a:xfrm>
            <a:off x="3200400" y="1371600"/>
            <a:ext cx="2606040" cy="64008"/>
          </a:xfrm>
          <a:prstGeom prst="rect">
            <a:avLst/>
          </a:prstGeom>
          <a:solidFill>
            <a:srgbClr val="00A651"/>
          </a:solidFill>
          <a:ln w="12700">
            <a:solidFill>
              <a:srgbClr val="33333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206240" y="1600200"/>
            <a:ext cx="548640" cy="548640"/>
          </a:xfrm>
          <a:prstGeom prst="rect">
            <a:avLst/>
          </a:prstGeom>
        </p:spPr>
      </p:pic>
      <p:sp>
        <p:nvSpPr>
          <p:cNvPr id="12" name="Text 8"/>
          <p:cNvSpPr/>
          <p:nvPr/>
        </p:nvSpPr>
        <p:spPr>
          <a:xfrm>
            <a:off x="3200400" y="2194560"/>
            <a:ext cx="2606040" cy="1005840"/>
          </a:xfrm>
          <a:prstGeom prst="rect">
            <a:avLst/>
          </a:prstGeom>
          <a:noFill/>
          <a:ln/>
        </p:spPr>
        <p:txBody>
          <a:bodyPr wrap="square" lIns="0" tIns="0" rIns="0" bIns="0" rtlCol="0" anchor="ctr"/>
          <a:lstStyle/>
          <a:p>
            <a:pPr marL="0" indent="0" algn="ctr">
              <a:buNone/>
            </a:pPr>
            <a:r>
              <a:rPr lang="en-US" sz="5400" b="1" dirty="0">
                <a:solidFill>
                  <a:srgbClr val="00A651"/>
                </a:solidFill>
                <a:latin typeface="Calibri" pitchFamily="34" charset="0"/>
                <a:ea typeface="Calibri" pitchFamily="34" charset="-122"/>
                <a:cs typeface="Calibri" pitchFamily="34" charset="-120"/>
              </a:rPr>
              <a:t>3×</a:t>
            </a:r>
            <a:endParaRPr lang="en-US" sz="5400" dirty="0"/>
          </a:p>
        </p:txBody>
      </p:sp>
      <p:sp>
        <p:nvSpPr>
          <p:cNvPr id="13" name="Text 9"/>
          <p:cNvSpPr/>
          <p:nvPr/>
        </p:nvSpPr>
        <p:spPr>
          <a:xfrm>
            <a:off x="3337560" y="3246120"/>
            <a:ext cx="2331720" cy="1188720"/>
          </a:xfrm>
          <a:prstGeom prst="rect">
            <a:avLst/>
          </a:prstGeom>
          <a:noFill/>
          <a:ln/>
        </p:spPr>
        <p:txBody>
          <a:bodyPr wrap="square" lIns="0" tIns="0" rIns="0" bIns="0" rtlCol="0" anchor="t"/>
          <a:lstStyle/>
          <a:p>
            <a:pPr marL="0" indent="0" algn="ctr">
              <a:buNone/>
            </a:pPr>
            <a:r>
              <a:rPr lang="en-US" sz="1300" dirty="0">
                <a:solidFill>
                  <a:srgbClr val="4A5568"/>
                </a:solidFill>
                <a:latin typeface="Calibri" pitchFamily="34" charset="0"/>
                <a:ea typeface="Calibri" pitchFamily="34" charset="-122"/>
                <a:cs typeface="Calibri" pitchFamily="34" charset="-120"/>
              </a:rPr>
              <a:t>more time spent finding data</a:t>
            </a:r>
            <a:endParaRPr lang="en-US" sz="1300" dirty="0"/>
          </a:p>
          <a:p>
            <a:pPr marL="0" indent="0" algn="ctr">
              <a:buNone/>
            </a:pPr>
            <a:r>
              <a:rPr lang="en-US" sz="1300" dirty="0">
                <a:solidFill>
                  <a:srgbClr val="4A5568"/>
                </a:solidFill>
                <a:latin typeface="Calibri" pitchFamily="34" charset="0"/>
                <a:ea typeface="Calibri" pitchFamily="34" charset="-122"/>
                <a:cs typeface="Calibri" pitchFamily="34" charset="-120"/>
              </a:rPr>
              <a:t>than analyzing it</a:t>
            </a:r>
            <a:endParaRPr lang="en-US" sz="1300" dirty="0"/>
          </a:p>
        </p:txBody>
      </p:sp>
      <p:sp>
        <p:nvSpPr>
          <p:cNvPr id="14" name="Shape 10"/>
          <p:cNvSpPr/>
          <p:nvPr/>
        </p:nvSpPr>
        <p:spPr>
          <a:xfrm>
            <a:off x="6035040" y="1371600"/>
            <a:ext cx="2606040" cy="329184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5" name="Shape 11"/>
          <p:cNvSpPr/>
          <p:nvPr/>
        </p:nvSpPr>
        <p:spPr>
          <a:xfrm>
            <a:off x="6035040" y="1371600"/>
            <a:ext cx="2606040" cy="64008"/>
          </a:xfrm>
          <a:prstGeom prst="rect">
            <a:avLst/>
          </a:prstGeom>
          <a:solidFill>
            <a:srgbClr val="009B8D"/>
          </a:solidFill>
          <a:ln w="12700">
            <a:solidFill>
              <a:srgbClr val="333333"/>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7040880" y="1600200"/>
            <a:ext cx="548640" cy="548640"/>
          </a:xfrm>
          <a:prstGeom prst="rect">
            <a:avLst/>
          </a:prstGeom>
        </p:spPr>
      </p:pic>
      <p:sp>
        <p:nvSpPr>
          <p:cNvPr id="17" name="Text 12"/>
          <p:cNvSpPr/>
          <p:nvPr/>
        </p:nvSpPr>
        <p:spPr>
          <a:xfrm>
            <a:off x="6035040" y="2194560"/>
            <a:ext cx="2606040" cy="1005840"/>
          </a:xfrm>
          <a:prstGeom prst="rect">
            <a:avLst/>
          </a:prstGeom>
          <a:noFill/>
          <a:ln/>
        </p:spPr>
        <p:txBody>
          <a:bodyPr wrap="square" lIns="0" tIns="0" rIns="0" bIns="0" rtlCol="0" anchor="ctr"/>
          <a:lstStyle/>
          <a:p>
            <a:pPr marL="0" indent="0" algn="ctr">
              <a:buNone/>
            </a:pPr>
            <a:r>
              <a:rPr lang="en-US" sz="5400" b="1" dirty="0">
                <a:solidFill>
                  <a:srgbClr val="009B8D"/>
                </a:solidFill>
                <a:latin typeface="Calibri" pitchFamily="34" charset="0"/>
                <a:ea typeface="Calibri" pitchFamily="34" charset="-122"/>
                <a:cs typeface="Calibri" pitchFamily="34" charset="-120"/>
              </a:rPr>
              <a:t>60%</a:t>
            </a:r>
            <a:endParaRPr lang="en-US" sz="5400" dirty="0"/>
          </a:p>
        </p:txBody>
      </p:sp>
      <p:sp>
        <p:nvSpPr>
          <p:cNvPr id="18" name="Text 13"/>
          <p:cNvSpPr/>
          <p:nvPr/>
        </p:nvSpPr>
        <p:spPr>
          <a:xfrm>
            <a:off x="6172200" y="3246120"/>
            <a:ext cx="2331720" cy="1188720"/>
          </a:xfrm>
          <a:prstGeom prst="rect">
            <a:avLst/>
          </a:prstGeom>
          <a:noFill/>
          <a:ln/>
        </p:spPr>
        <p:txBody>
          <a:bodyPr wrap="square" lIns="0" tIns="0" rIns="0" bIns="0" rtlCol="0" anchor="t"/>
          <a:lstStyle/>
          <a:p>
            <a:pPr marL="0" indent="0" algn="ctr">
              <a:buNone/>
            </a:pPr>
            <a:r>
              <a:rPr lang="en-US" sz="1300" dirty="0">
                <a:solidFill>
                  <a:srgbClr val="4A5568"/>
                </a:solidFill>
                <a:latin typeface="Calibri" pitchFamily="34" charset="0"/>
                <a:ea typeface="Calibri" pitchFamily="34" charset="-122"/>
                <a:cs typeface="Calibri" pitchFamily="34" charset="-120"/>
              </a:rPr>
              <a:t>of member insights</a:t>
            </a:r>
            <a:endParaRPr lang="en-US" sz="1300" dirty="0"/>
          </a:p>
          <a:p>
            <a:pPr marL="0" indent="0" algn="ctr">
              <a:buNone/>
            </a:pPr>
            <a:r>
              <a:rPr lang="en-US" sz="1300" dirty="0">
                <a:solidFill>
                  <a:srgbClr val="4A5568"/>
                </a:solidFill>
                <a:latin typeface="Calibri" pitchFamily="34" charset="0"/>
                <a:ea typeface="Calibri" pitchFamily="34" charset="-122"/>
                <a:cs typeface="Calibri" pitchFamily="34" charset="-120"/>
              </a:rPr>
              <a:t>never reach decision-makers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The Fragmented Data Challenge</a:t>
            </a:r>
            <a:endParaRPr lang="en-US" sz="34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Without a unified platform, members are seen differently by every business unit.</a:t>
            </a:r>
            <a:endParaRPr lang="en-US" sz="1300" dirty="0"/>
          </a:p>
        </p:txBody>
      </p:sp>
      <p:sp>
        <p:nvSpPr>
          <p:cNvPr id="4" name="Shape 2"/>
          <p:cNvSpPr/>
          <p:nvPr/>
        </p:nvSpPr>
        <p:spPr>
          <a:xfrm>
            <a:off x="3474720" y="1920240"/>
            <a:ext cx="2194560" cy="2194560"/>
          </a:xfrm>
          <a:prstGeom prst="ellipse">
            <a:avLst/>
          </a:prstGeom>
          <a:solidFill>
            <a:srgbClr val="E8EEF4"/>
          </a:solidFill>
          <a:ln w="12700">
            <a:solidFill>
              <a:srgbClr val="BDC8D6"/>
            </a:solidFill>
            <a:prstDash val="solid"/>
          </a:ln>
          <a:effectLst>
            <a:outerShdw blurRad="63500" dist="25400" dir="8100000" algn="bl" rotWithShape="0">
              <a:srgbClr val="000000">
                <a:alpha val="8000"/>
              </a:srgbClr>
            </a:outerShdw>
          </a:effectLst>
        </p:spPr>
        <p:txBody>
          <a:bodyPr/>
          <a:lstStyle/>
          <a:p>
            <a:endParaRPr lang="en-US"/>
          </a:p>
        </p:txBody>
      </p:sp>
      <p:sp>
        <p:nvSpPr>
          <p:cNvPr id="5" name="Text 3"/>
          <p:cNvSpPr/>
          <p:nvPr/>
        </p:nvSpPr>
        <p:spPr>
          <a:xfrm>
            <a:off x="3474720" y="1920240"/>
            <a:ext cx="2194560" cy="2194560"/>
          </a:xfrm>
          <a:prstGeom prst="rect">
            <a:avLst/>
          </a:prstGeom>
          <a:noFill/>
          <a:ln/>
        </p:spPr>
        <p:txBody>
          <a:bodyPr wrap="square" lIns="0" tIns="0" rIns="0" bIns="0" rtlCol="0" anchor="ctr"/>
          <a:lstStyle/>
          <a:p>
            <a:pPr marL="0" indent="0" algn="ctr">
              <a:buNone/>
            </a:pPr>
            <a:r>
              <a:rPr lang="en-US" sz="1500" b="1" dirty="0">
                <a:solidFill>
                  <a:srgbClr val="003057"/>
                </a:solidFill>
                <a:latin typeface="Calibri" pitchFamily="34" charset="0"/>
                <a:ea typeface="Calibri" pitchFamily="34" charset="-122"/>
                <a:cs typeface="Calibri" pitchFamily="34" charset="-120"/>
              </a:rPr>
              <a:t>MEMBER</a:t>
            </a:r>
            <a:endParaRPr lang="en-US" sz="1500" dirty="0"/>
          </a:p>
        </p:txBody>
      </p:sp>
      <p:sp>
        <p:nvSpPr>
          <p:cNvPr id="6" name="Shape 4"/>
          <p:cNvSpPr/>
          <p:nvPr/>
        </p:nvSpPr>
        <p:spPr>
          <a:xfrm>
            <a:off x="365760" y="1417320"/>
            <a:ext cx="1737360" cy="594360"/>
          </a:xfrm>
          <a:prstGeom prst="rect">
            <a:avLst/>
          </a:prstGeom>
          <a:solidFill>
            <a:srgbClr val="E8D5B7"/>
          </a:solidFill>
          <a:ln w="6350">
            <a:solidFill>
              <a:srgbClr val="C8CBD4"/>
            </a:solidFill>
            <a:prstDash val="solid"/>
          </a:ln>
          <a:effectLst>
            <a:outerShdw blurRad="63500" dist="25400" dir="8100000" algn="bl" rotWithShape="0">
              <a:srgbClr val="000000">
                <a:alpha val="8000"/>
              </a:srgbClr>
            </a:outerShdw>
          </a:effectLst>
        </p:spPr>
        <p:txBody>
          <a:bodyPr/>
          <a:lstStyle/>
          <a:p>
            <a:endParaRPr lang="en-US"/>
          </a:p>
        </p:txBody>
      </p:sp>
      <p:sp>
        <p:nvSpPr>
          <p:cNvPr id="7" name="Text 5"/>
          <p:cNvSpPr/>
          <p:nvPr/>
        </p:nvSpPr>
        <p:spPr>
          <a:xfrm>
            <a:off x="365760" y="1417320"/>
            <a:ext cx="1737360" cy="594360"/>
          </a:xfrm>
          <a:prstGeom prst="rect">
            <a:avLst/>
          </a:prstGeom>
          <a:noFill/>
          <a:ln/>
        </p:spPr>
        <p:txBody>
          <a:bodyPr wrap="square" lIns="0" tIns="0" rIns="0" bIns="0" rtlCol="0" anchor="ctr"/>
          <a:lstStyle/>
          <a:p>
            <a:pPr marL="0" indent="0" algn="ctr">
              <a:buNone/>
            </a:pPr>
            <a:r>
              <a:rPr lang="en-US" sz="1100" b="1" dirty="0">
                <a:solidFill>
                  <a:srgbClr val="1A202C"/>
                </a:solidFill>
                <a:latin typeface="Calibri" pitchFamily="34" charset="0"/>
                <a:ea typeface="Calibri" pitchFamily="34" charset="-122"/>
                <a:cs typeface="Calibri" pitchFamily="34" charset="-120"/>
              </a:rPr>
              <a:t>Core Banking</a:t>
            </a:r>
            <a:endParaRPr lang="en-US" sz="1100" dirty="0"/>
          </a:p>
        </p:txBody>
      </p:sp>
      <p:sp>
        <p:nvSpPr>
          <p:cNvPr id="8" name="Shape 6"/>
          <p:cNvSpPr/>
          <p:nvPr/>
        </p:nvSpPr>
        <p:spPr>
          <a:xfrm>
            <a:off x="365760" y="3200400"/>
            <a:ext cx="1737360" cy="594360"/>
          </a:xfrm>
          <a:prstGeom prst="rect">
            <a:avLst/>
          </a:prstGeom>
          <a:solidFill>
            <a:srgbClr val="E8D5B7"/>
          </a:solidFill>
          <a:ln w="6350">
            <a:solidFill>
              <a:srgbClr val="C8CBD4"/>
            </a:solidFill>
            <a:prstDash val="solid"/>
          </a:ln>
          <a:effectLst>
            <a:outerShdw blurRad="63500" dist="25400" dir="8100000" algn="bl" rotWithShape="0">
              <a:srgbClr val="000000">
                <a:alpha val="8000"/>
              </a:srgbClr>
            </a:outerShdw>
          </a:effectLst>
        </p:spPr>
        <p:txBody>
          <a:bodyPr/>
          <a:lstStyle/>
          <a:p>
            <a:endParaRPr lang="en-US"/>
          </a:p>
        </p:txBody>
      </p:sp>
      <p:sp>
        <p:nvSpPr>
          <p:cNvPr id="9" name="Text 7"/>
          <p:cNvSpPr/>
          <p:nvPr/>
        </p:nvSpPr>
        <p:spPr>
          <a:xfrm>
            <a:off x="365760" y="3200400"/>
            <a:ext cx="1737360" cy="594360"/>
          </a:xfrm>
          <a:prstGeom prst="rect">
            <a:avLst/>
          </a:prstGeom>
          <a:noFill/>
          <a:ln/>
        </p:spPr>
        <p:txBody>
          <a:bodyPr wrap="square" lIns="0" tIns="0" rIns="0" bIns="0" rtlCol="0" anchor="ctr"/>
          <a:lstStyle/>
          <a:p>
            <a:pPr marL="0" indent="0" algn="ctr">
              <a:buNone/>
            </a:pPr>
            <a:r>
              <a:rPr lang="en-US" sz="1100" b="1" dirty="0">
                <a:solidFill>
                  <a:srgbClr val="1A202C"/>
                </a:solidFill>
                <a:latin typeface="Calibri" pitchFamily="34" charset="0"/>
                <a:ea typeface="Calibri" pitchFamily="34" charset="-122"/>
                <a:cs typeface="Calibri" pitchFamily="34" charset="-120"/>
              </a:rPr>
              <a:t>Lending</a:t>
            </a:r>
            <a:endParaRPr lang="en-US" sz="1100" dirty="0"/>
          </a:p>
        </p:txBody>
      </p:sp>
      <p:sp>
        <p:nvSpPr>
          <p:cNvPr id="10" name="Shape 8"/>
          <p:cNvSpPr/>
          <p:nvPr/>
        </p:nvSpPr>
        <p:spPr>
          <a:xfrm>
            <a:off x="3474720" y="1234440"/>
            <a:ext cx="1737360" cy="594360"/>
          </a:xfrm>
          <a:prstGeom prst="rect">
            <a:avLst/>
          </a:prstGeom>
          <a:solidFill>
            <a:srgbClr val="D5D5E8"/>
          </a:solidFill>
          <a:ln w="6350">
            <a:solidFill>
              <a:srgbClr val="C8CBD4"/>
            </a:solidFill>
            <a:prstDash val="solid"/>
          </a:ln>
          <a:effectLst>
            <a:outerShdw blurRad="63500" dist="25400" dir="8100000" algn="bl" rotWithShape="0">
              <a:srgbClr val="000000">
                <a:alpha val="8000"/>
              </a:srgbClr>
            </a:outerShdw>
          </a:effectLst>
        </p:spPr>
        <p:txBody>
          <a:bodyPr/>
          <a:lstStyle/>
          <a:p>
            <a:endParaRPr lang="en-US"/>
          </a:p>
        </p:txBody>
      </p:sp>
      <p:sp>
        <p:nvSpPr>
          <p:cNvPr id="11" name="Text 9"/>
          <p:cNvSpPr/>
          <p:nvPr/>
        </p:nvSpPr>
        <p:spPr>
          <a:xfrm>
            <a:off x="3474720" y="1234440"/>
            <a:ext cx="1737360" cy="594360"/>
          </a:xfrm>
          <a:prstGeom prst="rect">
            <a:avLst/>
          </a:prstGeom>
          <a:noFill/>
          <a:ln/>
        </p:spPr>
        <p:txBody>
          <a:bodyPr wrap="square" lIns="0" tIns="0" rIns="0" bIns="0" rtlCol="0" anchor="ctr"/>
          <a:lstStyle/>
          <a:p>
            <a:pPr marL="0" indent="0" algn="ctr">
              <a:buNone/>
            </a:pPr>
            <a:r>
              <a:rPr lang="en-US" sz="1100" b="1" dirty="0">
                <a:solidFill>
                  <a:srgbClr val="1A202C"/>
                </a:solidFill>
                <a:latin typeface="Calibri" pitchFamily="34" charset="0"/>
                <a:ea typeface="Calibri" pitchFamily="34" charset="-122"/>
                <a:cs typeface="Calibri" pitchFamily="34" charset="-120"/>
              </a:rPr>
              <a:t>Digital Banking</a:t>
            </a:r>
            <a:endParaRPr lang="en-US" sz="1100" dirty="0"/>
          </a:p>
        </p:txBody>
      </p:sp>
      <p:sp>
        <p:nvSpPr>
          <p:cNvPr id="12" name="Shape 10"/>
          <p:cNvSpPr/>
          <p:nvPr/>
        </p:nvSpPr>
        <p:spPr>
          <a:xfrm>
            <a:off x="7040880" y="1417320"/>
            <a:ext cx="1737360" cy="594360"/>
          </a:xfrm>
          <a:prstGeom prst="rect">
            <a:avLst/>
          </a:prstGeom>
          <a:solidFill>
            <a:srgbClr val="D5D5E8"/>
          </a:solidFill>
          <a:ln w="6350">
            <a:solidFill>
              <a:srgbClr val="C8CBD4"/>
            </a:solidFill>
            <a:prstDash val="solid"/>
          </a:ln>
          <a:effectLst>
            <a:outerShdw blurRad="63500" dist="25400" dir="8100000" algn="bl" rotWithShape="0">
              <a:srgbClr val="000000">
                <a:alpha val="8000"/>
              </a:srgbClr>
            </a:outerShdw>
          </a:effectLst>
        </p:spPr>
        <p:txBody>
          <a:bodyPr/>
          <a:lstStyle/>
          <a:p>
            <a:endParaRPr lang="en-US"/>
          </a:p>
        </p:txBody>
      </p:sp>
      <p:sp>
        <p:nvSpPr>
          <p:cNvPr id="13" name="Text 11"/>
          <p:cNvSpPr/>
          <p:nvPr/>
        </p:nvSpPr>
        <p:spPr>
          <a:xfrm>
            <a:off x="7040880" y="1417320"/>
            <a:ext cx="1737360" cy="594360"/>
          </a:xfrm>
          <a:prstGeom prst="rect">
            <a:avLst/>
          </a:prstGeom>
          <a:noFill/>
          <a:ln/>
        </p:spPr>
        <p:txBody>
          <a:bodyPr wrap="square" lIns="0" tIns="0" rIns="0" bIns="0" rtlCol="0" anchor="ctr"/>
          <a:lstStyle/>
          <a:p>
            <a:pPr marL="0" indent="0" algn="ctr">
              <a:buNone/>
            </a:pPr>
            <a:r>
              <a:rPr lang="en-US" sz="1100" b="1" dirty="0">
                <a:solidFill>
                  <a:srgbClr val="1A202C"/>
                </a:solidFill>
                <a:latin typeface="Calibri" pitchFamily="34" charset="0"/>
                <a:ea typeface="Calibri" pitchFamily="34" charset="-122"/>
                <a:cs typeface="Calibri" pitchFamily="34" charset="-120"/>
              </a:rPr>
              <a:t>Payments</a:t>
            </a:r>
            <a:endParaRPr lang="en-US" sz="1100" dirty="0"/>
          </a:p>
        </p:txBody>
      </p:sp>
      <p:sp>
        <p:nvSpPr>
          <p:cNvPr id="14" name="Shape 12"/>
          <p:cNvSpPr/>
          <p:nvPr/>
        </p:nvSpPr>
        <p:spPr>
          <a:xfrm>
            <a:off x="7040880" y="3200400"/>
            <a:ext cx="1737360" cy="594360"/>
          </a:xfrm>
          <a:prstGeom prst="rect">
            <a:avLst/>
          </a:prstGeom>
          <a:solidFill>
            <a:srgbClr val="D5E8E0"/>
          </a:solidFill>
          <a:ln w="6350">
            <a:solidFill>
              <a:srgbClr val="C8CBD4"/>
            </a:solidFill>
            <a:prstDash val="solid"/>
          </a:ln>
          <a:effectLst>
            <a:outerShdw blurRad="63500" dist="25400" dir="8100000" algn="bl" rotWithShape="0">
              <a:srgbClr val="000000">
                <a:alpha val="8000"/>
              </a:srgbClr>
            </a:outerShdw>
          </a:effectLst>
        </p:spPr>
        <p:txBody>
          <a:bodyPr/>
          <a:lstStyle/>
          <a:p>
            <a:endParaRPr lang="en-US"/>
          </a:p>
        </p:txBody>
      </p:sp>
      <p:sp>
        <p:nvSpPr>
          <p:cNvPr id="15" name="Text 13"/>
          <p:cNvSpPr/>
          <p:nvPr/>
        </p:nvSpPr>
        <p:spPr>
          <a:xfrm>
            <a:off x="7040880" y="3200400"/>
            <a:ext cx="1737360" cy="594360"/>
          </a:xfrm>
          <a:prstGeom prst="rect">
            <a:avLst/>
          </a:prstGeom>
          <a:noFill/>
          <a:ln/>
        </p:spPr>
        <p:txBody>
          <a:bodyPr wrap="square" lIns="0" tIns="0" rIns="0" bIns="0" rtlCol="0" anchor="ctr"/>
          <a:lstStyle/>
          <a:p>
            <a:pPr marL="0" indent="0" algn="ctr">
              <a:buNone/>
            </a:pPr>
            <a:r>
              <a:rPr lang="en-US" sz="1100" b="1" dirty="0">
                <a:solidFill>
                  <a:srgbClr val="1A202C"/>
                </a:solidFill>
                <a:latin typeface="Calibri" pitchFamily="34" charset="0"/>
                <a:ea typeface="Calibri" pitchFamily="34" charset="-122"/>
                <a:cs typeface="Calibri" pitchFamily="34" charset="-120"/>
              </a:rPr>
              <a:t>Analytics</a:t>
            </a:r>
            <a:endParaRPr lang="en-US" sz="1100" dirty="0"/>
          </a:p>
        </p:txBody>
      </p:sp>
      <p:sp>
        <p:nvSpPr>
          <p:cNvPr id="16" name="Shape 14"/>
          <p:cNvSpPr/>
          <p:nvPr/>
        </p:nvSpPr>
        <p:spPr>
          <a:xfrm>
            <a:off x="7040880" y="2286000"/>
            <a:ext cx="1737360" cy="594360"/>
          </a:xfrm>
          <a:prstGeom prst="rect">
            <a:avLst/>
          </a:prstGeom>
          <a:solidFill>
            <a:srgbClr val="D5E8E0"/>
          </a:solidFill>
          <a:ln w="6350">
            <a:solidFill>
              <a:srgbClr val="C8CBD4"/>
            </a:solidFill>
            <a:prstDash val="solid"/>
          </a:ln>
          <a:effectLst>
            <a:outerShdw blurRad="63500" dist="25400" dir="8100000" algn="bl" rotWithShape="0">
              <a:srgbClr val="000000">
                <a:alpha val="8000"/>
              </a:srgbClr>
            </a:outerShdw>
          </a:effectLst>
        </p:spPr>
        <p:txBody>
          <a:bodyPr/>
          <a:lstStyle/>
          <a:p>
            <a:endParaRPr lang="en-US"/>
          </a:p>
        </p:txBody>
      </p:sp>
      <p:sp>
        <p:nvSpPr>
          <p:cNvPr id="17" name="Text 15"/>
          <p:cNvSpPr/>
          <p:nvPr/>
        </p:nvSpPr>
        <p:spPr>
          <a:xfrm>
            <a:off x="7040880" y="2286000"/>
            <a:ext cx="1737360" cy="594360"/>
          </a:xfrm>
          <a:prstGeom prst="rect">
            <a:avLst/>
          </a:prstGeom>
          <a:noFill/>
          <a:ln/>
        </p:spPr>
        <p:txBody>
          <a:bodyPr wrap="square" lIns="0" tIns="0" rIns="0" bIns="0" rtlCol="0" anchor="ctr"/>
          <a:lstStyle/>
          <a:p>
            <a:pPr marL="0" indent="0" algn="ctr">
              <a:buNone/>
            </a:pPr>
            <a:r>
              <a:rPr lang="en-US" sz="1100" b="1" dirty="0">
                <a:solidFill>
                  <a:srgbClr val="1A202C"/>
                </a:solidFill>
                <a:latin typeface="Calibri" pitchFamily="34" charset="0"/>
                <a:ea typeface="Calibri" pitchFamily="34" charset="-122"/>
                <a:cs typeface="Calibri" pitchFamily="34" charset="-120"/>
              </a:rPr>
              <a:t>CRM</a:t>
            </a:r>
            <a:endParaRPr lang="en-US" sz="1100" dirty="0"/>
          </a:p>
        </p:txBody>
      </p:sp>
      <p:sp>
        <p:nvSpPr>
          <p:cNvPr id="18" name="Shape 16"/>
          <p:cNvSpPr/>
          <p:nvPr/>
        </p:nvSpPr>
        <p:spPr>
          <a:xfrm>
            <a:off x="2103120" y="1691640"/>
            <a:ext cx="1371600" cy="0"/>
          </a:xfrm>
          <a:prstGeom prst="line">
            <a:avLst/>
          </a:prstGeom>
          <a:noFill/>
          <a:ln w="19050">
            <a:solidFill>
              <a:srgbClr val="C0CCDA"/>
            </a:solidFill>
            <a:prstDash val="dash"/>
          </a:ln>
        </p:spPr>
        <p:txBody>
          <a:bodyPr/>
          <a:lstStyle/>
          <a:p>
            <a:endParaRPr lang="en-US"/>
          </a:p>
        </p:txBody>
      </p:sp>
      <p:sp>
        <p:nvSpPr>
          <p:cNvPr id="19" name="Shape 17"/>
          <p:cNvSpPr/>
          <p:nvPr/>
        </p:nvSpPr>
        <p:spPr>
          <a:xfrm>
            <a:off x="2103120" y="3474720"/>
            <a:ext cx="1371600" cy="0"/>
          </a:xfrm>
          <a:prstGeom prst="line">
            <a:avLst/>
          </a:prstGeom>
          <a:noFill/>
          <a:ln w="19050">
            <a:solidFill>
              <a:srgbClr val="C0CCDA"/>
            </a:solidFill>
            <a:prstDash val="dash"/>
          </a:ln>
        </p:spPr>
        <p:txBody>
          <a:bodyPr/>
          <a:lstStyle/>
          <a:p>
            <a:endParaRPr lang="en-US"/>
          </a:p>
        </p:txBody>
      </p:sp>
      <p:sp>
        <p:nvSpPr>
          <p:cNvPr id="20" name="Shape 18"/>
          <p:cNvSpPr/>
          <p:nvPr/>
        </p:nvSpPr>
        <p:spPr>
          <a:xfrm>
            <a:off x="3931920" y="1737360"/>
            <a:ext cx="0" cy="182880"/>
          </a:xfrm>
          <a:prstGeom prst="line">
            <a:avLst/>
          </a:prstGeom>
          <a:noFill/>
          <a:ln w="19050">
            <a:solidFill>
              <a:srgbClr val="C0CCDA"/>
            </a:solidFill>
            <a:prstDash val="dash"/>
          </a:ln>
        </p:spPr>
        <p:txBody>
          <a:bodyPr/>
          <a:lstStyle/>
          <a:p>
            <a:endParaRPr lang="en-US"/>
          </a:p>
        </p:txBody>
      </p:sp>
      <p:sp>
        <p:nvSpPr>
          <p:cNvPr id="21" name="Shape 19"/>
          <p:cNvSpPr/>
          <p:nvPr/>
        </p:nvSpPr>
        <p:spPr>
          <a:xfrm>
            <a:off x="7040880" y="1691640"/>
            <a:ext cx="0" cy="0"/>
          </a:xfrm>
          <a:prstGeom prst="line">
            <a:avLst/>
          </a:prstGeom>
          <a:noFill/>
          <a:ln w="19050">
            <a:solidFill>
              <a:srgbClr val="C0CCDA"/>
            </a:solidFill>
            <a:prstDash val="dash"/>
          </a:ln>
        </p:spPr>
        <p:txBody>
          <a:bodyPr/>
          <a:lstStyle/>
          <a:p>
            <a:endParaRPr lang="en-US"/>
          </a:p>
        </p:txBody>
      </p:sp>
      <p:sp>
        <p:nvSpPr>
          <p:cNvPr id="22" name="Shape 20"/>
          <p:cNvSpPr/>
          <p:nvPr/>
        </p:nvSpPr>
        <p:spPr>
          <a:xfrm>
            <a:off x="7040880" y="3474720"/>
            <a:ext cx="0" cy="0"/>
          </a:xfrm>
          <a:prstGeom prst="line">
            <a:avLst/>
          </a:prstGeom>
          <a:noFill/>
          <a:ln w="19050">
            <a:solidFill>
              <a:srgbClr val="C0CCDA"/>
            </a:solidFill>
            <a:prstDash val="dash"/>
          </a:ln>
        </p:spPr>
        <p:txBody>
          <a:bodyPr/>
          <a:lstStyle/>
          <a:p>
            <a:endParaRPr lang="en-US"/>
          </a:p>
        </p:txBody>
      </p:sp>
      <p:sp>
        <p:nvSpPr>
          <p:cNvPr id="23" name="Shape 21"/>
          <p:cNvSpPr/>
          <p:nvPr/>
        </p:nvSpPr>
        <p:spPr>
          <a:xfrm>
            <a:off x="7040880" y="2560320"/>
            <a:ext cx="0" cy="0"/>
          </a:xfrm>
          <a:prstGeom prst="line">
            <a:avLst/>
          </a:prstGeom>
          <a:noFill/>
          <a:ln w="19050">
            <a:solidFill>
              <a:srgbClr val="C0CCDA"/>
            </a:solidFill>
            <a:prstDash val="dash"/>
          </a:ln>
        </p:spPr>
        <p:txBody>
          <a:bodyPr/>
          <a:lstStyle/>
          <a:p>
            <a:endParaRPr lang="en-US"/>
          </a:p>
        </p:txBody>
      </p:sp>
      <p:sp>
        <p:nvSpPr>
          <p:cNvPr id="24" name="Text 22"/>
          <p:cNvSpPr/>
          <p:nvPr/>
        </p:nvSpPr>
        <p:spPr>
          <a:xfrm>
            <a:off x="3200400" y="4023360"/>
            <a:ext cx="2743200" cy="365760"/>
          </a:xfrm>
          <a:prstGeom prst="rect">
            <a:avLst/>
          </a:prstGeom>
          <a:noFill/>
          <a:ln/>
        </p:spPr>
        <p:txBody>
          <a:bodyPr wrap="square" lIns="0" tIns="0" rIns="0" bIns="0" rtlCol="0" anchor="ctr"/>
          <a:lstStyle/>
          <a:p>
            <a:pPr marL="0" indent="0" algn="ctr">
              <a:buNone/>
            </a:pPr>
            <a:r>
              <a:rPr lang="en-US" sz="1200" b="1" i="1" dirty="0">
                <a:solidFill>
                  <a:srgbClr val="C0392B"/>
                </a:solidFill>
                <a:latin typeface="Calibri" pitchFamily="34" charset="0"/>
                <a:ea typeface="Calibri" pitchFamily="34" charset="-122"/>
                <a:cs typeface="Calibri" pitchFamily="34" charset="-120"/>
              </a:rPr>
              <a:t>No single source of truth</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03057"/>
        </a:solidFill>
        <a:effectLst/>
      </p:bgPr>
    </p:bg>
    <p:spTree>
      <p:nvGrpSpPr>
        <p:cNvPr id="1" name=""/>
        <p:cNvGrpSpPr/>
        <p:nvPr/>
      </p:nvGrpSpPr>
      <p:grpSpPr>
        <a:xfrm>
          <a:off x="0" y="0"/>
          <a:ext cx="0" cy="0"/>
          <a:chOff x="0" y="0"/>
          <a:chExt cx="0" cy="0"/>
        </a:xfrm>
      </p:grpSpPr>
      <p:sp>
        <p:nvSpPr>
          <p:cNvPr id="2" name="Shape 0"/>
          <p:cNvSpPr/>
          <p:nvPr/>
        </p:nvSpPr>
        <p:spPr>
          <a:xfrm>
            <a:off x="5029200" y="0"/>
            <a:ext cx="4114800" cy="5143500"/>
          </a:xfrm>
          <a:prstGeom prst="rect">
            <a:avLst/>
          </a:prstGeom>
          <a:solidFill>
            <a:srgbClr val="1B4A7A"/>
          </a:solidFill>
          <a:ln w="12700">
            <a:solidFill>
              <a:srgbClr val="333333"/>
            </a:solidFill>
            <a:prstDash val="solid"/>
          </a:ln>
        </p:spPr>
        <p:txBody>
          <a:bodyPr/>
          <a:lstStyle/>
          <a:p>
            <a:endParaRPr lang="en-US"/>
          </a:p>
        </p:txBody>
      </p:sp>
      <p:sp>
        <p:nvSpPr>
          <p:cNvPr id="3" name="Shape 1"/>
          <p:cNvSpPr/>
          <p:nvPr/>
        </p:nvSpPr>
        <p:spPr>
          <a:xfrm>
            <a:off x="7772400" y="0"/>
            <a:ext cx="1371600" cy="5143500"/>
          </a:xfrm>
          <a:prstGeom prst="rect">
            <a:avLst/>
          </a:prstGeom>
          <a:solidFill>
            <a:srgbClr val="00A651">
              <a:alpha val="30000"/>
            </a:srgbClr>
          </a:solidFill>
          <a:ln w="12700">
            <a:solidFill>
              <a:srgbClr val="333333"/>
            </a:solidFill>
            <a:prstDash val="solid"/>
          </a:ln>
        </p:spPr>
        <p:txBody>
          <a:bodyPr/>
          <a:lstStyle/>
          <a:p>
            <a:endParaRPr lang="en-US"/>
          </a:p>
        </p:txBody>
      </p:sp>
      <p:sp>
        <p:nvSpPr>
          <p:cNvPr id="4" name="Text 2"/>
          <p:cNvSpPr/>
          <p:nvPr/>
        </p:nvSpPr>
        <p:spPr>
          <a:xfrm>
            <a:off x="548640" y="822960"/>
            <a:ext cx="4572000" cy="1188720"/>
          </a:xfrm>
          <a:prstGeom prst="rect">
            <a:avLst/>
          </a:prstGeom>
          <a:noFill/>
          <a:ln/>
        </p:spPr>
        <p:txBody>
          <a:bodyPr wrap="square" lIns="0" tIns="0" rIns="0" bIns="0" rtlCol="0" anchor="t"/>
          <a:lstStyle/>
          <a:p>
            <a:pPr marL="0" indent="0">
              <a:buNone/>
            </a:pPr>
            <a:r>
              <a:rPr lang="en-US" sz="8000" b="1" dirty="0">
                <a:solidFill>
                  <a:srgbClr val="00A651"/>
                </a:solidFill>
                <a:latin typeface="Calibri" pitchFamily="34" charset="0"/>
                <a:ea typeface="Calibri" pitchFamily="34" charset="-122"/>
                <a:cs typeface="Calibri" pitchFamily="34" charset="-120"/>
              </a:rPr>
              <a:t>ONE</a:t>
            </a:r>
            <a:endParaRPr lang="en-US" sz="8000" dirty="0"/>
          </a:p>
        </p:txBody>
      </p:sp>
      <p:sp>
        <p:nvSpPr>
          <p:cNvPr id="5" name="Text 3"/>
          <p:cNvSpPr/>
          <p:nvPr/>
        </p:nvSpPr>
        <p:spPr>
          <a:xfrm>
            <a:off x="548640" y="1920240"/>
            <a:ext cx="4572000" cy="822960"/>
          </a:xfrm>
          <a:prstGeom prst="rect">
            <a:avLst/>
          </a:prstGeom>
          <a:noFill/>
          <a:ln/>
        </p:spPr>
        <p:txBody>
          <a:bodyPr wrap="square" lIns="0" tIns="0" rIns="0" bIns="0" rtlCol="0" anchor="t"/>
          <a:lstStyle/>
          <a:p>
            <a:pPr marL="0" indent="0">
              <a:buNone/>
            </a:pPr>
            <a:r>
              <a:rPr lang="en-US" sz="4400" b="1" dirty="0">
                <a:solidFill>
                  <a:srgbClr val="FFFFFF"/>
                </a:solidFill>
                <a:latin typeface="Calibri" pitchFamily="34" charset="0"/>
                <a:ea typeface="Calibri" pitchFamily="34" charset="-122"/>
                <a:cs typeface="Calibri" pitchFamily="34" charset="-120"/>
              </a:rPr>
              <a:t>JACK HENRY</a:t>
            </a:r>
            <a:endParaRPr lang="en-US" sz="4400" dirty="0"/>
          </a:p>
        </p:txBody>
      </p:sp>
      <p:sp>
        <p:nvSpPr>
          <p:cNvPr id="6" name="Text 4"/>
          <p:cNvSpPr/>
          <p:nvPr/>
        </p:nvSpPr>
        <p:spPr>
          <a:xfrm>
            <a:off x="548640" y="2834640"/>
            <a:ext cx="4297680" cy="1097280"/>
          </a:xfrm>
          <a:prstGeom prst="rect">
            <a:avLst/>
          </a:prstGeom>
          <a:noFill/>
          <a:ln/>
        </p:spPr>
        <p:txBody>
          <a:bodyPr wrap="square" lIns="0" tIns="0" rIns="0" bIns="0" rtlCol="0" anchor="t"/>
          <a:lstStyle/>
          <a:p>
            <a:pPr marL="0" indent="0">
              <a:buNone/>
            </a:pPr>
            <a:r>
              <a:rPr lang="en-US" sz="1400" dirty="0">
                <a:solidFill>
                  <a:srgbClr val="9ABDD8"/>
                </a:solidFill>
                <a:latin typeface="Calibri" pitchFamily="34" charset="0"/>
                <a:ea typeface="Calibri" pitchFamily="34" charset="-122"/>
                <a:cs typeface="Calibri" pitchFamily="34" charset="-120"/>
              </a:rPr>
              <a:t>A unified enterprise where every business unit, every product, and every member interaction speaks the same data language.</a:t>
            </a:r>
            <a:endParaRPr lang="en-US" sz="1400" dirty="0"/>
          </a:p>
        </p:txBody>
      </p:sp>
      <p:sp>
        <p:nvSpPr>
          <p:cNvPr id="7" name="Shape 5"/>
          <p:cNvSpPr/>
          <p:nvPr/>
        </p:nvSpPr>
        <p:spPr>
          <a:xfrm>
            <a:off x="5303520" y="548640"/>
            <a:ext cx="3474720" cy="685800"/>
          </a:xfrm>
          <a:prstGeom prst="rect">
            <a:avLst/>
          </a:prstGeom>
          <a:solidFill>
            <a:srgbClr val="FFFFFF">
              <a:alpha val="8000"/>
            </a:srgbClr>
          </a:solidFill>
          <a:ln w="3810">
            <a:solidFill>
              <a:srgbClr val="FFFFFF"/>
            </a:solidFill>
            <a:prstDash val="solid"/>
          </a:ln>
        </p:spPr>
        <p:txBody>
          <a:bodyPr/>
          <a:lstStyle/>
          <a:p>
            <a:endParaRPr lang="en-US"/>
          </a:p>
        </p:txBody>
      </p:sp>
      <p:sp>
        <p:nvSpPr>
          <p:cNvPr id="8" name="Text 6"/>
          <p:cNvSpPr/>
          <p:nvPr/>
        </p:nvSpPr>
        <p:spPr>
          <a:xfrm>
            <a:off x="5349240" y="548640"/>
            <a:ext cx="502920" cy="685800"/>
          </a:xfrm>
          <a:prstGeom prst="rect">
            <a:avLst/>
          </a:prstGeom>
          <a:noFill/>
          <a:ln/>
        </p:spPr>
        <p:txBody>
          <a:bodyPr wrap="square" lIns="0" tIns="0" rIns="0" bIns="0" rtlCol="0" anchor="ctr"/>
          <a:lstStyle/>
          <a:p>
            <a:pPr marL="0" indent="0" algn="ctr">
              <a:buNone/>
            </a:pPr>
            <a:r>
              <a:rPr lang="en-US" sz="1800" b="1" dirty="0">
                <a:solidFill>
                  <a:srgbClr val="00A651"/>
                </a:solidFill>
                <a:latin typeface="Calibri" pitchFamily="34" charset="0"/>
                <a:ea typeface="Calibri" pitchFamily="34" charset="-122"/>
                <a:cs typeface="Calibri" pitchFamily="34" charset="-120"/>
              </a:rPr>
              <a:t>01</a:t>
            </a:r>
            <a:endParaRPr lang="en-US" sz="1800" dirty="0"/>
          </a:p>
        </p:txBody>
      </p:sp>
      <p:sp>
        <p:nvSpPr>
          <p:cNvPr id="9" name="Text 7"/>
          <p:cNvSpPr/>
          <p:nvPr/>
        </p:nvSpPr>
        <p:spPr>
          <a:xfrm>
            <a:off x="5943600" y="548640"/>
            <a:ext cx="2743200" cy="6858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Unified Data</a:t>
            </a:r>
            <a:endParaRPr lang="en-US" sz="1400" dirty="0"/>
          </a:p>
        </p:txBody>
      </p:sp>
      <p:sp>
        <p:nvSpPr>
          <p:cNvPr id="10" name="Shape 8"/>
          <p:cNvSpPr/>
          <p:nvPr/>
        </p:nvSpPr>
        <p:spPr>
          <a:xfrm>
            <a:off x="5303520" y="1554480"/>
            <a:ext cx="3474720" cy="685800"/>
          </a:xfrm>
          <a:prstGeom prst="rect">
            <a:avLst/>
          </a:prstGeom>
          <a:solidFill>
            <a:srgbClr val="FFFFFF">
              <a:alpha val="8000"/>
            </a:srgbClr>
          </a:solidFill>
          <a:ln w="3810">
            <a:solidFill>
              <a:srgbClr val="FFFFFF"/>
            </a:solidFill>
            <a:prstDash val="solid"/>
          </a:ln>
        </p:spPr>
        <p:txBody>
          <a:bodyPr/>
          <a:lstStyle/>
          <a:p>
            <a:endParaRPr lang="en-US"/>
          </a:p>
        </p:txBody>
      </p:sp>
      <p:sp>
        <p:nvSpPr>
          <p:cNvPr id="11" name="Text 9"/>
          <p:cNvSpPr/>
          <p:nvPr/>
        </p:nvSpPr>
        <p:spPr>
          <a:xfrm>
            <a:off x="5349240" y="1554480"/>
            <a:ext cx="502920" cy="685800"/>
          </a:xfrm>
          <a:prstGeom prst="rect">
            <a:avLst/>
          </a:prstGeom>
          <a:noFill/>
          <a:ln/>
        </p:spPr>
        <p:txBody>
          <a:bodyPr wrap="square" lIns="0" tIns="0" rIns="0" bIns="0" rtlCol="0" anchor="ctr"/>
          <a:lstStyle/>
          <a:p>
            <a:pPr marL="0" indent="0" algn="ctr">
              <a:buNone/>
            </a:pPr>
            <a:r>
              <a:rPr lang="en-US" sz="1800" b="1" dirty="0">
                <a:solidFill>
                  <a:srgbClr val="00A651"/>
                </a:solidFill>
                <a:latin typeface="Calibri" pitchFamily="34" charset="0"/>
                <a:ea typeface="Calibri" pitchFamily="34" charset="-122"/>
                <a:cs typeface="Calibri" pitchFamily="34" charset="-120"/>
              </a:rPr>
              <a:t>02</a:t>
            </a:r>
            <a:endParaRPr lang="en-US" sz="1800" dirty="0"/>
          </a:p>
        </p:txBody>
      </p:sp>
      <p:sp>
        <p:nvSpPr>
          <p:cNvPr id="12" name="Text 10"/>
          <p:cNvSpPr/>
          <p:nvPr/>
        </p:nvSpPr>
        <p:spPr>
          <a:xfrm>
            <a:off x="5943600" y="1554480"/>
            <a:ext cx="2743200" cy="6858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Shared Insights</a:t>
            </a:r>
            <a:endParaRPr lang="en-US" sz="1400" dirty="0"/>
          </a:p>
        </p:txBody>
      </p:sp>
      <p:sp>
        <p:nvSpPr>
          <p:cNvPr id="13" name="Shape 11"/>
          <p:cNvSpPr/>
          <p:nvPr/>
        </p:nvSpPr>
        <p:spPr>
          <a:xfrm>
            <a:off x="5303520" y="2560320"/>
            <a:ext cx="3474720" cy="685800"/>
          </a:xfrm>
          <a:prstGeom prst="rect">
            <a:avLst/>
          </a:prstGeom>
          <a:solidFill>
            <a:srgbClr val="FFFFFF">
              <a:alpha val="8000"/>
            </a:srgbClr>
          </a:solidFill>
          <a:ln w="3810">
            <a:solidFill>
              <a:srgbClr val="FFFFFF"/>
            </a:solidFill>
            <a:prstDash val="solid"/>
          </a:ln>
        </p:spPr>
        <p:txBody>
          <a:bodyPr/>
          <a:lstStyle/>
          <a:p>
            <a:endParaRPr lang="en-US"/>
          </a:p>
        </p:txBody>
      </p:sp>
      <p:sp>
        <p:nvSpPr>
          <p:cNvPr id="14" name="Text 12"/>
          <p:cNvSpPr/>
          <p:nvPr/>
        </p:nvSpPr>
        <p:spPr>
          <a:xfrm>
            <a:off x="5349240" y="2560320"/>
            <a:ext cx="502920" cy="685800"/>
          </a:xfrm>
          <a:prstGeom prst="rect">
            <a:avLst/>
          </a:prstGeom>
          <a:noFill/>
          <a:ln/>
        </p:spPr>
        <p:txBody>
          <a:bodyPr wrap="square" lIns="0" tIns="0" rIns="0" bIns="0" rtlCol="0" anchor="ctr"/>
          <a:lstStyle/>
          <a:p>
            <a:pPr marL="0" indent="0" algn="ctr">
              <a:buNone/>
            </a:pPr>
            <a:r>
              <a:rPr lang="en-US" sz="1800" b="1" dirty="0">
                <a:solidFill>
                  <a:srgbClr val="00A651"/>
                </a:solidFill>
                <a:latin typeface="Calibri" pitchFamily="34" charset="0"/>
                <a:ea typeface="Calibri" pitchFamily="34" charset="-122"/>
                <a:cs typeface="Calibri" pitchFamily="34" charset="-120"/>
              </a:rPr>
              <a:t>03</a:t>
            </a:r>
            <a:endParaRPr lang="en-US" sz="1800" dirty="0"/>
          </a:p>
        </p:txBody>
      </p:sp>
      <p:sp>
        <p:nvSpPr>
          <p:cNvPr id="15" name="Text 13"/>
          <p:cNvSpPr/>
          <p:nvPr/>
        </p:nvSpPr>
        <p:spPr>
          <a:xfrm>
            <a:off x="5943600" y="2560320"/>
            <a:ext cx="2743200" cy="6858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Seamless Experience</a:t>
            </a:r>
            <a:endParaRPr lang="en-US" sz="1400" dirty="0"/>
          </a:p>
        </p:txBody>
      </p:sp>
      <p:sp>
        <p:nvSpPr>
          <p:cNvPr id="16" name="Shape 14"/>
          <p:cNvSpPr/>
          <p:nvPr/>
        </p:nvSpPr>
        <p:spPr>
          <a:xfrm>
            <a:off x="5303520" y="3566160"/>
            <a:ext cx="3474720" cy="685800"/>
          </a:xfrm>
          <a:prstGeom prst="rect">
            <a:avLst/>
          </a:prstGeom>
          <a:solidFill>
            <a:srgbClr val="FFFFFF">
              <a:alpha val="8000"/>
            </a:srgbClr>
          </a:solidFill>
          <a:ln w="3810">
            <a:solidFill>
              <a:srgbClr val="FFFFFF"/>
            </a:solidFill>
            <a:prstDash val="solid"/>
          </a:ln>
        </p:spPr>
        <p:txBody>
          <a:bodyPr/>
          <a:lstStyle/>
          <a:p>
            <a:endParaRPr lang="en-US"/>
          </a:p>
        </p:txBody>
      </p:sp>
      <p:sp>
        <p:nvSpPr>
          <p:cNvPr id="17" name="Text 15"/>
          <p:cNvSpPr/>
          <p:nvPr/>
        </p:nvSpPr>
        <p:spPr>
          <a:xfrm>
            <a:off x="5349240" y="3566160"/>
            <a:ext cx="502920" cy="685800"/>
          </a:xfrm>
          <a:prstGeom prst="rect">
            <a:avLst/>
          </a:prstGeom>
          <a:noFill/>
          <a:ln/>
        </p:spPr>
        <p:txBody>
          <a:bodyPr wrap="square" lIns="0" tIns="0" rIns="0" bIns="0" rtlCol="0" anchor="ctr"/>
          <a:lstStyle/>
          <a:p>
            <a:pPr marL="0" indent="0" algn="ctr">
              <a:buNone/>
            </a:pPr>
            <a:r>
              <a:rPr lang="en-US" sz="1800" b="1" dirty="0">
                <a:solidFill>
                  <a:srgbClr val="00A651"/>
                </a:solidFill>
                <a:latin typeface="Calibri" pitchFamily="34" charset="0"/>
                <a:ea typeface="Calibri" pitchFamily="34" charset="-122"/>
                <a:cs typeface="Calibri" pitchFamily="34" charset="-120"/>
              </a:rPr>
              <a:t>04</a:t>
            </a:r>
            <a:endParaRPr lang="en-US" sz="1800" dirty="0"/>
          </a:p>
        </p:txBody>
      </p:sp>
      <p:sp>
        <p:nvSpPr>
          <p:cNvPr id="18" name="Text 16"/>
          <p:cNvSpPr/>
          <p:nvPr/>
        </p:nvSpPr>
        <p:spPr>
          <a:xfrm>
            <a:off x="5943600" y="3566160"/>
            <a:ext cx="2743200" cy="685800"/>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Smarter Decisions</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Meet Your Presenters</a:t>
            </a:r>
            <a:endParaRPr lang="en-US" sz="3400" dirty="0"/>
          </a:p>
        </p:txBody>
      </p:sp>
      <p:sp>
        <p:nvSpPr>
          <p:cNvPr id="3" name="Shape 1"/>
          <p:cNvSpPr/>
          <p:nvPr/>
        </p:nvSpPr>
        <p:spPr>
          <a:xfrm>
            <a:off x="457200" y="1051560"/>
            <a:ext cx="3931920" cy="365760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4" name="Shape 2"/>
          <p:cNvSpPr/>
          <p:nvPr/>
        </p:nvSpPr>
        <p:spPr>
          <a:xfrm>
            <a:off x="457200" y="1051560"/>
            <a:ext cx="3931920" cy="73152"/>
          </a:xfrm>
          <a:prstGeom prst="rect">
            <a:avLst/>
          </a:prstGeom>
          <a:solidFill>
            <a:srgbClr val="003057"/>
          </a:solidFill>
          <a:ln w="12700">
            <a:solidFill>
              <a:srgbClr val="333333"/>
            </a:solidFill>
            <a:prstDash val="solid"/>
          </a:ln>
        </p:spPr>
        <p:txBody>
          <a:bodyPr/>
          <a:lstStyle/>
          <a:p>
            <a:endParaRPr lang="en-US"/>
          </a:p>
        </p:txBody>
      </p:sp>
      <p:sp>
        <p:nvSpPr>
          <p:cNvPr id="5" name="Shape 3"/>
          <p:cNvSpPr/>
          <p:nvPr/>
        </p:nvSpPr>
        <p:spPr>
          <a:xfrm>
            <a:off x="1554480" y="1234440"/>
            <a:ext cx="1737360" cy="1737360"/>
          </a:xfrm>
          <a:prstGeom prst="ellipse">
            <a:avLst/>
          </a:prstGeom>
          <a:solidFill>
            <a:srgbClr val="D6EAF8"/>
          </a:solidFill>
          <a:ln w="12700">
            <a:solidFill>
              <a:srgbClr val="BDC8D6"/>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920240" y="1554480"/>
            <a:ext cx="1005840" cy="1005840"/>
          </a:xfrm>
          <a:prstGeom prst="rect">
            <a:avLst/>
          </a:prstGeom>
        </p:spPr>
      </p:pic>
      <p:sp>
        <p:nvSpPr>
          <p:cNvPr id="7" name="Text 4"/>
          <p:cNvSpPr/>
          <p:nvPr/>
        </p:nvSpPr>
        <p:spPr>
          <a:xfrm>
            <a:off x="548640" y="3063240"/>
            <a:ext cx="3749040" cy="411480"/>
          </a:xfrm>
          <a:prstGeom prst="rect">
            <a:avLst/>
          </a:prstGeom>
          <a:noFill/>
          <a:ln/>
        </p:spPr>
        <p:txBody>
          <a:bodyPr wrap="square" lIns="0" tIns="0" rIns="0" bIns="0" rtlCol="0" anchor="ctr"/>
          <a:lstStyle/>
          <a:p>
            <a:pPr marL="0" indent="0" algn="ctr">
              <a:buNone/>
            </a:pPr>
            <a:r>
              <a:rPr lang="en-US" sz="2000" b="1" dirty="0">
                <a:solidFill>
                  <a:srgbClr val="003057"/>
                </a:solidFill>
                <a:latin typeface="Calibri" pitchFamily="34" charset="0"/>
                <a:ea typeface="Calibri" pitchFamily="34" charset="-122"/>
                <a:cs typeface="Calibri" pitchFamily="34" charset="-120"/>
              </a:rPr>
              <a:t>Mike Ames</a:t>
            </a:r>
            <a:endParaRPr lang="en-US" sz="2000" dirty="0"/>
          </a:p>
        </p:txBody>
      </p:sp>
      <p:sp>
        <p:nvSpPr>
          <p:cNvPr id="8" name="Text 5"/>
          <p:cNvSpPr/>
          <p:nvPr/>
        </p:nvSpPr>
        <p:spPr>
          <a:xfrm>
            <a:off x="548640" y="3493008"/>
            <a:ext cx="3749040" cy="274320"/>
          </a:xfrm>
          <a:prstGeom prst="rect">
            <a:avLst/>
          </a:prstGeom>
          <a:noFill/>
          <a:ln/>
        </p:spPr>
        <p:txBody>
          <a:bodyPr wrap="square" lIns="0" tIns="0" rIns="0" bIns="0" rtlCol="0" anchor="ctr"/>
          <a:lstStyle/>
          <a:p>
            <a:pPr marL="0" indent="0" algn="ctr">
              <a:buNone/>
            </a:pPr>
            <a:r>
              <a:rPr lang="en-US" sz="1300" b="1" dirty="0">
                <a:solidFill>
                  <a:srgbClr val="00A651"/>
                </a:solidFill>
                <a:latin typeface="Calibri" pitchFamily="34" charset="0"/>
                <a:ea typeface="Calibri" pitchFamily="34" charset="-122"/>
                <a:cs typeface="Calibri" pitchFamily="34" charset="-120"/>
              </a:rPr>
              <a:t>Director of Data Science</a:t>
            </a:r>
            <a:endParaRPr lang="en-US" sz="1300" dirty="0"/>
          </a:p>
        </p:txBody>
      </p:sp>
      <p:sp>
        <p:nvSpPr>
          <p:cNvPr id="9" name="Text 6"/>
          <p:cNvSpPr/>
          <p:nvPr/>
        </p:nvSpPr>
        <p:spPr>
          <a:xfrm>
            <a:off x="594360" y="3840480"/>
            <a:ext cx="3657600" cy="68580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Leads data science strategy and AI/ML initiatives, driving actionable insights from enterprise data assets at Jack Henry.</a:t>
            </a:r>
            <a:endParaRPr lang="en-US" sz="1100" dirty="0"/>
          </a:p>
        </p:txBody>
      </p:sp>
      <p:sp>
        <p:nvSpPr>
          <p:cNvPr id="10" name="Shape 7"/>
          <p:cNvSpPr/>
          <p:nvPr/>
        </p:nvSpPr>
        <p:spPr>
          <a:xfrm>
            <a:off x="4754880" y="1051560"/>
            <a:ext cx="3931920" cy="365760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1" name="Shape 8"/>
          <p:cNvSpPr/>
          <p:nvPr/>
        </p:nvSpPr>
        <p:spPr>
          <a:xfrm>
            <a:off x="4754880" y="1051560"/>
            <a:ext cx="3931920" cy="73152"/>
          </a:xfrm>
          <a:prstGeom prst="rect">
            <a:avLst/>
          </a:prstGeom>
          <a:solidFill>
            <a:srgbClr val="009B8D"/>
          </a:solidFill>
          <a:ln w="12700">
            <a:solidFill>
              <a:srgbClr val="333333"/>
            </a:solidFill>
            <a:prstDash val="solid"/>
          </a:ln>
        </p:spPr>
        <p:txBody>
          <a:bodyPr/>
          <a:lstStyle/>
          <a:p>
            <a:endParaRPr lang="en-US"/>
          </a:p>
        </p:txBody>
      </p:sp>
      <p:sp>
        <p:nvSpPr>
          <p:cNvPr id="12" name="Shape 9"/>
          <p:cNvSpPr/>
          <p:nvPr/>
        </p:nvSpPr>
        <p:spPr>
          <a:xfrm>
            <a:off x="5852160" y="1234440"/>
            <a:ext cx="1737360" cy="1737360"/>
          </a:xfrm>
          <a:prstGeom prst="ellipse">
            <a:avLst/>
          </a:prstGeom>
          <a:solidFill>
            <a:srgbClr val="D5EEF0"/>
          </a:solidFill>
          <a:ln w="12700">
            <a:solidFill>
              <a:srgbClr val="B0D8D8"/>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6217920" y="1554480"/>
            <a:ext cx="1005840" cy="1005840"/>
          </a:xfrm>
          <a:prstGeom prst="rect">
            <a:avLst/>
          </a:prstGeom>
        </p:spPr>
      </p:pic>
      <p:sp>
        <p:nvSpPr>
          <p:cNvPr id="14" name="Text 10"/>
          <p:cNvSpPr/>
          <p:nvPr/>
        </p:nvSpPr>
        <p:spPr>
          <a:xfrm>
            <a:off x="4846320" y="3063240"/>
            <a:ext cx="3749040" cy="411480"/>
          </a:xfrm>
          <a:prstGeom prst="rect">
            <a:avLst/>
          </a:prstGeom>
          <a:noFill/>
          <a:ln/>
        </p:spPr>
        <p:txBody>
          <a:bodyPr wrap="square" lIns="0" tIns="0" rIns="0" bIns="0" rtlCol="0" anchor="ctr"/>
          <a:lstStyle/>
          <a:p>
            <a:pPr marL="0" indent="0" algn="ctr">
              <a:buNone/>
            </a:pPr>
            <a:r>
              <a:rPr lang="en-US" sz="2000" b="1" dirty="0">
                <a:solidFill>
                  <a:srgbClr val="003057"/>
                </a:solidFill>
                <a:latin typeface="Calibri" pitchFamily="34" charset="0"/>
                <a:ea typeface="Calibri" pitchFamily="34" charset="-122"/>
                <a:cs typeface="Calibri" pitchFamily="34" charset="-120"/>
              </a:rPr>
              <a:t>Elspeth Bloodgood</a:t>
            </a:r>
            <a:endParaRPr lang="en-US" sz="2000" dirty="0"/>
          </a:p>
        </p:txBody>
      </p:sp>
      <p:sp>
        <p:nvSpPr>
          <p:cNvPr id="15" name="Text 11"/>
          <p:cNvSpPr/>
          <p:nvPr/>
        </p:nvSpPr>
        <p:spPr>
          <a:xfrm>
            <a:off x="4846320" y="3493008"/>
            <a:ext cx="3749040" cy="274320"/>
          </a:xfrm>
          <a:prstGeom prst="rect">
            <a:avLst/>
          </a:prstGeom>
          <a:noFill/>
          <a:ln/>
        </p:spPr>
        <p:txBody>
          <a:bodyPr wrap="square" lIns="0" tIns="0" rIns="0" bIns="0" rtlCol="0" anchor="ctr"/>
          <a:lstStyle/>
          <a:p>
            <a:pPr marL="0" indent="0" algn="ctr">
              <a:buNone/>
            </a:pPr>
            <a:r>
              <a:rPr lang="en-US" sz="1300" b="1" dirty="0">
                <a:solidFill>
                  <a:srgbClr val="009B8D"/>
                </a:solidFill>
                <a:latin typeface="Calibri" pitchFamily="34" charset="0"/>
                <a:ea typeface="Calibri" pitchFamily="34" charset="-122"/>
                <a:cs typeface="Calibri" pitchFamily="34" charset="-120"/>
              </a:rPr>
              <a:t>Senior Advisor, Data Governance</a:t>
            </a:r>
            <a:endParaRPr lang="en-US" sz="1300" dirty="0"/>
          </a:p>
        </p:txBody>
      </p:sp>
      <p:sp>
        <p:nvSpPr>
          <p:cNvPr id="16" name="Text 12"/>
          <p:cNvSpPr/>
          <p:nvPr/>
        </p:nvSpPr>
        <p:spPr>
          <a:xfrm>
            <a:off x="4892040" y="3840480"/>
            <a:ext cx="3657600" cy="68580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Shapes data governance frameworks, policy, and compliance strategy to ensure trust, quality, and accountability across JHBI.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Standing on Solid Foundations</a:t>
            </a:r>
            <a:endParaRPr lang="en-US" sz="34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Products like ARCU have long served as the backbone of our data infrastructure. That heritage matters.</a:t>
            </a:r>
            <a:endParaRPr lang="en-US" sz="1300" dirty="0"/>
          </a:p>
        </p:txBody>
      </p:sp>
      <p:sp>
        <p:nvSpPr>
          <p:cNvPr id="4" name="Shape 2"/>
          <p:cNvSpPr/>
          <p:nvPr/>
        </p:nvSpPr>
        <p:spPr>
          <a:xfrm>
            <a:off x="457200" y="2834640"/>
            <a:ext cx="8229600" cy="54864"/>
          </a:xfrm>
          <a:prstGeom prst="rect">
            <a:avLst/>
          </a:prstGeom>
          <a:solidFill>
            <a:srgbClr val="D0DAE4"/>
          </a:solidFill>
          <a:ln w="12700">
            <a:solidFill>
              <a:srgbClr val="333333"/>
            </a:solidFill>
            <a:prstDash val="solid"/>
          </a:ln>
        </p:spPr>
        <p:txBody>
          <a:bodyPr/>
          <a:lstStyle/>
          <a:p>
            <a:endParaRPr lang="en-US"/>
          </a:p>
        </p:txBody>
      </p:sp>
      <p:sp>
        <p:nvSpPr>
          <p:cNvPr id="5" name="Shape 3"/>
          <p:cNvSpPr/>
          <p:nvPr/>
        </p:nvSpPr>
        <p:spPr>
          <a:xfrm>
            <a:off x="685800" y="2724912"/>
            <a:ext cx="228600" cy="228600"/>
          </a:xfrm>
          <a:prstGeom prst="ellipse">
            <a:avLst/>
          </a:prstGeom>
          <a:solidFill>
            <a:srgbClr val="8FA0B4"/>
          </a:solidFill>
          <a:ln w="12700">
            <a:solidFill>
              <a:srgbClr val="333333"/>
            </a:solidFill>
            <a:prstDash val="solid"/>
          </a:ln>
        </p:spPr>
        <p:txBody>
          <a:bodyPr/>
          <a:lstStyle/>
          <a:p>
            <a:endParaRPr lang="en-US"/>
          </a:p>
        </p:txBody>
      </p:sp>
      <p:sp>
        <p:nvSpPr>
          <p:cNvPr id="6" name="Shape 4"/>
          <p:cNvSpPr/>
          <p:nvPr/>
        </p:nvSpPr>
        <p:spPr>
          <a:xfrm>
            <a:off x="365760" y="1325880"/>
            <a:ext cx="1965960" cy="13716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7" name="Shape 5"/>
          <p:cNvSpPr/>
          <p:nvPr/>
        </p:nvSpPr>
        <p:spPr>
          <a:xfrm>
            <a:off x="365760" y="1325880"/>
            <a:ext cx="1965960" cy="54864"/>
          </a:xfrm>
          <a:prstGeom prst="rect">
            <a:avLst/>
          </a:prstGeom>
          <a:solidFill>
            <a:srgbClr val="8FA0B4"/>
          </a:solidFill>
          <a:ln w="12700">
            <a:solidFill>
              <a:srgbClr val="333333"/>
            </a:solidFill>
            <a:prstDash val="solid"/>
          </a:ln>
        </p:spPr>
        <p:txBody>
          <a:bodyPr/>
          <a:lstStyle/>
          <a:p>
            <a:endParaRPr lang="en-US"/>
          </a:p>
        </p:txBody>
      </p:sp>
      <p:sp>
        <p:nvSpPr>
          <p:cNvPr id="8" name="Text 6"/>
          <p:cNvSpPr/>
          <p:nvPr/>
        </p:nvSpPr>
        <p:spPr>
          <a:xfrm>
            <a:off x="457200" y="1417320"/>
            <a:ext cx="1783080" cy="256032"/>
          </a:xfrm>
          <a:prstGeom prst="rect">
            <a:avLst/>
          </a:prstGeom>
          <a:noFill/>
          <a:ln/>
        </p:spPr>
        <p:txBody>
          <a:bodyPr wrap="square" lIns="0" tIns="0" rIns="0" bIns="0" rtlCol="0" anchor="ctr"/>
          <a:lstStyle/>
          <a:p>
            <a:pPr marL="0" indent="0">
              <a:buNone/>
            </a:pPr>
            <a:r>
              <a:rPr lang="en-US" sz="900" b="1" kern="0" spc="100" dirty="0">
                <a:solidFill>
                  <a:srgbClr val="8FA0B4"/>
                </a:solidFill>
                <a:latin typeface="Calibri" pitchFamily="34" charset="0"/>
                <a:ea typeface="Calibri" pitchFamily="34" charset="-122"/>
                <a:cs typeface="Calibri" pitchFamily="34" charset="-120"/>
              </a:rPr>
              <a:t>Foundation Era</a:t>
            </a:r>
            <a:endParaRPr lang="en-US" sz="900" dirty="0"/>
          </a:p>
        </p:txBody>
      </p:sp>
      <p:sp>
        <p:nvSpPr>
          <p:cNvPr id="9" name="Text 7"/>
          <p:cNvSpPr/>
          <p:nvPr/>
        </p:nvSpPr>
        <p:spPr>
          <a:xfrm>
            <a:off x="457200" y="1691640"/>
            <a:ext cx="1783080" cy="320040"/>
          </a:xfrm>
          <a:prstGeom prst="rect">
            <a:avLst/>
          </a:prstGeom>
          <a:noFill/>
          <a:ln/>
        </p:spPr>
        <p:txBody>
          <a:bodyPr wrap="square" lIns="0" tIns="0" rIns="0" bIns="0" rtlCol="0" anchor="t"/>
          <a:lstStyle/>
          <a:p>
            <a:pPr marL="0" indent="0">
              <a:buNone/>
            </a:pPr>
            <a:r>
              <a:rPr lang="en-US" sz="1200" b="1" dirty="0">
                <a:solidFill>
                  <a:srgbClr val="1A202C"/>
                </a:solidFill>
                <a:latin typeface="Calibri" pitchFamily="34" charset="0"/>
                <a:ea typeface="Calibri" pitchFamily="34" charset="-122"/>
                <a:cs typeface="Calibri" pitchFamily="34" charset="-120"/>
              </a:rPr>
              <a:t>ARCU &amp; Core Systems</a:t>
            </a:r>
            <a:endParaRPr lang="en-US" sz="1200" dirty="0"/>
          </a:p>
        </p:txBody>
      </p:sp>
      <p:sp>
        <p:nvSpPr>
          <p:cNvPr id="10" name="Text 8"/>
          <p:cNvSpPr/>
          <p:nvPr/>
        </p:nvSpPr>
        <p:spPr>
          <a:xfrm>
            <a:off x="457200" y="2057400"/>
            <a:ext cx="178308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Reliable, battle-tested data infrastructure serving thousands of institutions</a:t>
            </a:r>
            <a:endParaRPr lang="en-US" sz="1000" dirty="0"/>
          </a:p>
        </p:txBody>
      </p:sp>
      <p:sp>
        <p:nvSpPr>
          <p:cNvPr id="11" name="Shape 9"/>
          <p:cNvSpPr/>
          <p:nvPr/>
        </p:nvSpPr>
        <p:spPr>
          <a:xfrm>
            <a:off x="3154680" y="2724912"/>
            <a:ext cx="228600" cy="228600"/>
          </a:xfrm>
          <a:prstGeom prst="ellipse">
            <a:avLst/>
          </a:prstGeom>
          <a:solidFill>
            <a:srgbClr val="1B4A7A"/>
          </a:solidFill>
          <a:ln w="12700">
            <a:solidFill>
              <a:srgbClr val="333333"/>
            </a:solidFill>
            <a:prstDash val="solid"/>
          </a:ln>
        </p:spPr>
        <p:txBody>
          <a:bodyPr/>
          <a:lstStyle/>
          <a:p>
            <a:endParaRPr lang="en-US"/>
          </a:p>
        </p:txBody>
      </p:sp>
      <p:sp>
        <p:nvSpPr>
          <p:cNvPr id="12" name="Shape 10"/>
          <p:cNvSpPr/>
          <p:nvPr/>
        </p:nvSpPr>
        <p:spPr>
          <a:xfrm>
            <a:off x="2834640" y="1325880"/>
            <a:ext cx="1965960" cy="13716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1"/>
          <p:cNvSpPr/>
          <p:nvPr/>
        </p:nvSpPr>
        <p:spPr>
          <a:xfrm>
            <a:off x="2834640" y="1325880"/>
            <a:ext cx="1965960" cy="54864"/>
          </a:xfrm>
          <a:prstGeom prst="rect">
            <a:avLst/>
          </a:prstGeom>
          <a:solidFill>
            <a:srgbClr val="1B4A7A"/>
          </a:solidFill>
          <a:ln w="12700">
            <a:solidFill>
              <a:srgbClr val="333333"/>
            </a:solidFill>
            <a:prstDash val="solid"/>
          </a:ln>
        </p:spPr>
        <p:txBody>
          <a:bodyPr/>
          <a:lstStyle/>
          <a:p>
            <a:endParaRPr lang="en-US"/>
          </a:p>
        </p:txBody>
      </p:sp>
      <p:sp>
        <p:nvSpPr>
          <p:cNvPr id="14" name="Text 12"/>
          <p:cNvSpPr/>
          <p:nvPr/>
        </p:nvSpPr>
        <p:spPr>
          <a:xfrm>
            <a:off x="2926080" y="1417320"/>
            <a:ext cx="1783080" cy="256032"/>
          </a:xfrm>
          <a:prstGeom prst="rect">
            <a:avLst/>
          </a:prstGeom>
          <a:noFill/>
          <a:ln/>
        </p:spPr>
        <p:txBody>
          <a:bodyPr wrap="square" lIns="0" tIns="0" rIns="0" bIns="0" rtlCol="0" anchor="ctr"/>
          <a:lstStyle/>
          <a:p>
            <a:pPr marL="0" indent="0">
              <a:buNone/>
            </a:pPr>
            <a:r>
              <a:rPr lang="en-US" sz="900" b="1" kern="0" spc="100" dirty="0">
                <a:solidFill>
                  <a:srgbClr val="1B4A7A"/>
                </a:solidFill>
                <a:latin typeface="Calibri" pitchFamily="34" charset="0"/>
                <a:ea typeface="Calibri" pitchFamily="34" charset="-122"/>
                <a:cs typeface="Calibri" pitchFamily="34" charset="-120"/>
              </a:rPr>
              <a:t>Growth Era</a:t>
            </a:r>
            <a:endParaRPr lang="en-US" sz="900" dirty="0"/>
          </a:p>
        </p:txBody>
      </p:sp>
      <p:sp>
        <p:nvSpPr>
          <p:cNvPr id="15" name="Text 13"/>
          <p:cNvSpPr/>
          <p:nvPr/>
        </p:nvSpPr>
        <p:spPr>
          <a:xfrm>
            <a:off x="2926080" y="1691640"/>
            <a:ext cx="1783080" cy="320040"/>
          </a:xfrm>
          <a:prstGeom prst="rect">
            <a:avLst/>
          </a:prstGeom>
          <a:noFill/>
          <a:ln/>
        </p:spPr>
        <p:txBody>
          <a:bodyPr wrap="square" lIns="0" tIns="0" rIns="0" bIns="0" rtlCol="0" anchor="t"/>
          <a:lstStyle/>
          <a:p>
            <a:pPr marL="0" indent="0">
              <a:buNone/>
            </a:pPr>
            <a:r>
              <a:rPr lang="en-US" sz="1200" b="1" dirty="0">
                <a:solidFill>
                  <a:srgbClr val="1A202C"/>
                </a:solidFill>
                <a:latin typeface="Calibri" pitchFamily="34" charset="0"/>
                <a:ea typeface="Calibri" pitchFamily="34" charset="-122"/>
                <a:cs typeface="Calibri" pitchFamily="34" charset="-120"/>
              </a:rPr>
              <a:t>Expanded Products</a:t>
            </a:r>
            <a:endParaRPr lang="en-US" sz="1200" dirty="0"/>
          </a:p>
        </p:txBody>
      </p:sp>
      <p:sp>
        <p:nvSpPr>
          <p:cNvPr id="16" name="Text 14"/>
          <p:cNvSpPr/>
          <p:nvPr/>
        </p:nvSpPr>
        <p:spPr>
          <a:xfrm>
            <a:off x="2926080" y="2057400"/>
            <a:ext cx="178308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Specialized analytics and reporting tools built for business unit needs</a:t>
            </a:r>
            <a:endParaRPr lang="en-US" sz="1000" dirty="0"/>
          </a:p>
        </p:txBody>
      </p:sp>
      <p:sp>
        <p:nvSpPr>
          <p:cNvPr id="17" name="Shape 15"/>
          <p:cNvSpPr/>
          <p:nvPr/>
        </p:nvSpPr>
        <p:spPr>
          <a:xfrm>
            <a:off x="5623560" y="2724912"/>
            <a:ext cx="228600" cy="228600"/>
          </a:xfrm>
          <a:prstGeom prst="ellipse">
            <a:avLst/>
          </a:prstGeom>
          <a:solidFill>
            <a:srgbClr val="009B8D"/>
          </a:solidFill>
          <a:ln w="12700">
            <a:solidFill>
              <a:srgbClr val="333333"/>
            </a:solidFill>
            <a:prstDash val="solid"/>
          </a:ln>
        </p:spPr>
        <p:txBody>
          <a:bodyPr/>
          <a:lstStyle/>
          <a:p>
            <a:endParaRPr lang="en-US"/>
          </a:p>
        </p:txBody>
      </p:sp>
      <p:sp>
        <p:nvSpPr>
          <p:cNvPr id="18" name="Shape 16"/>
          <p:cNvSpPr/>
          <p:nvPr/>
        </p:nvSpPr>
        <p:spPr>
          <a:xfrm>
            <a:off x="5303520" y="1325880"/>
            <a:ext cx="1965960" cy="13716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9" name="Shape 17"/>
          <p:cNvSpPr/>
          <p:nvPr/>
        </p:nvSpPr>
        <p:spPr>
          <a:xfrm>
            <a:off x="5303520" y="1325880"/>
            <a:ext cx="1965960" cy="54864"/>
          </a:xfrm>
          <a:prstGeom prst="rect">
            <a:avLst/>
          </a:prstGeom>
          <a:solidFill>
            <a:srgbClr val="009B8D"/>
          </a:solidFill>
          <a:ln w="12700">
            <a:solidFill>
              <a:srgbClr val="333333"/>
            </a:solidFill>
            <a:prstDash val="solid"/>
          </a:ln>
        </p:spPr>
        <p:txBody>
          <a:bodyPr/>
          <a:lstStyle/>
          <a:p>
            <a:endParaRPr lang="en-US"/>
          </a:p>
        </p:txBody>
      </p:sp>
      <p:sp>
        <p:nvSpPr>
          <p:cNvPr id="20" name="Text 18"/>
          <p:cNvSpPr/>
          <p:nvPr/>
        </p:nvSpPr>
        <p:spPr>
          <a:xfrm>
            <a:off x="5394960" y="1417320"/>
            <a:ext cx="1783080" cy="256032"/>
          </a:xfrm>
          <a:prstGeom prst="rect">
            <a:avLst/>
          </a:prstGeom>
          <a:noFill/>
          <a:ln/>
        </p:spPr>
        <p:txBody>
          <a:bodyPr wrap="square" lIns="0" tIns="0" rIns="0" bIns="0" rtlCol="0" anchor="ctr"/>
          <a:lstStyle/>
          <a:p>
            <a:pPr marL="0" indent="0">
              <a:buNone/>
            </a:pPr>
            <a:r>
              <a:rPr lang="en-US" sz="900" b="1" kern="0" spc="100" dirty="0">
                <a:solidFill>
                  <a:srgbClr val="009B8D"/>
                </a:solidFill>
                <a:latin typeface="Calibri" pitchFamily="34" charset="0"/>
                <a:ea typeface="Calibri" pitchFamily="34" charset="-122"/>
                <a:cs typeface="Calibri" pitchFamily="34" charset="-120"/>
              </a:rPr>
              <a:t>Integration Era</a:t>
            </a:r>
            <a:endParaRPr lang="en-US" sz="900" dirty="0"/>
          </a:p>
        </p:txBody>
      </p:sp>
      <p:sp>
        <p:nvSpPr>
          <p:cNvPr id="21" name="Text 19"/>
          <p:cNvSpPr/>
          <p:nvPr/>
        </p:nvSpPr>
        <p:spPr>
          <a:xfrm>
            <a:off x="5394960" y="1691640"/>
            <a:ext cx="1783080" cy="320040"/>
          </a:xfrm>
          <a:prstGeom prst="rect">
            <a:avLst/>
          </a:prstGeom>
          <a:noFill/>
          <a:ln/>
        </p:spPr>
        <p:txBody>
          <a:bodyPr wrap="square" lIns="0" tIns="0" rIns="0" bIns="0" rtlCol="0" anchor="t"/>
          <a:lstStyle/>
          <a:p>
            <a:pPr marL="0" indent="0">
              <a:buNone/>
            </a:pPr>
            <a:r>
              <a:rPr lang="en-US" sz="1200" b="1" dirty="0">
                <a:solidFill>
                  <a:srgbClr val="1A202C"/>
                </a:solidFill>
                <a:latin typeface="Calibri" pitchFamily="34" charset="0"/>
                <a:ea typeface="Calibri" pitchFamily="34" charset="-122"/>
                <a:cs typeface="Calibri" pitchFamily="34" charset="-120"/>
              </a:rPr>
              <a:t>Connected Data</a:t>
            </a:r>
            <a:endParaRPr lang="en-US" sz="1200" dirty="0"/>
          </a:p>
        </p:txBody>
      </p:sp>
      <p:sp>
        <p:nvSpPr>
          <p:cNvPr id="22" name="Text 20"/>
          <p:cNvSpPr/>
          <p:nvPr/>
        </p:nvSpPr>
        <p:spPr>
          <a:xfrm>
            <a:off x="5394960" y="2057400"/>
            <a:ext cx="178308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Efforts to bridge silos and create shared views across the enterprise</a:t>
            </a:r>
            <a:endParaRPr lang="en-US" sz="1000" dirty="0"/>
          </a:p>
        </p:txBody>
      </p:sp>
      <p:sp>
        <p:nvSpPr>
          <p:cNvPr id="23" name="Shape 21"/>
          <p:cNvSpPr/>
          <p:nvPr/>
        </p:nvSpPr>
        <p:spPr>
          <a:xfrm>
            <a:off x="7635240" y="2724912"/>
            <a:ext cx="228600" cy="228600"/>
          </a:xfrm>
          <a:prstGeom prst="ellipse">
            <a:avLst/>
          </a:prstGeom>
          <a:solidFill>
            <a:srgbClr val="00A651"/>
          </a:solidFill>
          <a:ln w="12700">
            <a:solidFill>
              <a:srgbClr val="333333"/>
            </a:solidFill>
            <a:prstDash val="solid"/>
          </a:ln>
        </p:spPr>
        <p:txBody>
          <a:bodyPr/>
          <a:lstStyle/>
          <a:p>
            <a:endParaRPr lang="en-US"/>
          </a:p>
        </p:txBody>
      </p:sp>
      <p:sp>
        <p:nvSpPr>
          <p:cNvPr id="24" name="Shape 22"/>
          <p:cNvSpPr/>
          <p:nvPr/>
        </p:nvSpPr>
        <p:spPr>
          <a:xfrm>
            <a:off x="7315200" y="1325880"/>
            <a:ext cx="1965960" cy="13716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5" name="Shape 23"/>
          <p:cNvSpPr/>
          <p:nvPr/>
        </p:nvSpPr>
        <p:spPr>
          <a:xfrm>
            <a:off x="7315200" y="1325880"/>
            <a:ext cx="1965960" cy="54864"/>
          </a:xfrm>
          <a:prstGeom prst="rect">
            <a:avLst/>
          </a:prstGeom>
          <a:solidFill>
            <a:srgbClr val="00A651"/>
          </a:solidFill>
          <a:ln w="12700">
            <a:solidFill>
              <a:srgbClr val="333333"/>
            </a:solidFill>
            <a:prstDash val="solid"/>
          </a:ln>
        </p:spPr>
        <p:txBody>
          <a:bodyPr/>
          <a:lstStyle/>
          <a:p>
            <a:endParaRPr lang="en-US"/>
          </a:p>
        </p:txBody>
      </p:sp>
      <p:sp>
        <p:nvSpPr>
          <p:cNvPr id="26" name="Text 24"/>
          <p:cNvSpPr/>
          <p:nvPr/>
        </p:nvSpPr>
        <p:spPr>
          <a:xfrm>
            <a:off x="7406640" y="1417320"/>
            <a:ext cx="1783080" cy="256032"/>
          </a:xfrm>
          <a:prstGeom prst="rect">
            <a:avLst/>
          </a:prstGeom>
          <a:noFill/>
          <a:ln/>
        </p:spPr>
        <p:txBody>
          <a:bodyPr wrap="square" lIns="0" tIns="0" rIns="0" bIns="0" rtlCol="0" anchor="ctr"/>
          <a:lstStyle/>
          <a:p>
            <a:pPr marL="0" indent="0">
              <a:buNone/>
            </a:pPr>
            <a:r>
              <a:rPr lang="en-US" sz="900" b="1" kern="0" spc="100" dirty="0">
                <a:solidFill>
                  <a:srgbClr val="00A651"/>
                </a:solidFill>
                <a:latin typeface="Calibri" pitchFamily="34" charset="0"/>
                <a:ea typeface="Calibri" pitchFamily="34" charset="-122"/>
                <a:cs typeface="Calibri" pitchFamily="34" charset="-120"/>
              </a:rPr>
              <a:t>Next Generation</a:t>
            </a:r>
            <a:endParaRPr lang="en-US" sz="900" dirty="0"/>
          </a:p>
        </p:txBody>
      </p:sp>
      <p:sp>
        <p:nvSpPr>
          <p:cNvPr id="27" name="Text 25"/>
          <p:cNvSpPr/>
          <p:nvPr/>
        </p:nvSpPr>
        <p:spPr>
          <a:xfrm>
            <a:off x="7406640" y="1691640"/>
            <a:ext cx="1783080" cy="320040"/>
          </a:xfrm>
          <a:prstGeom prst="rect">
            <a:avLst/>
          </a:prstGeom>
          <a:noFill/>
          <a:ln/>
        </p:spPr>
        <p:txBody>
          <a:bodyPr wrap="square" lIns="0" tIns="0" rIns="0" bIns="0" rtlCol="0" anchor="t"/>
          <a:lstStyle/>
          <a:p>
            <a:pPr marL="0" indent="0">
              <a:buNone/>
            </a:pPr>
            <a:r>
              <a:rPr lang="en-US" sz="1200" b="1" dirty="0">
                <a:solidFill>
                  <a:srgbClr val="1A202C"/>
                </a:solidFill>
                <a:latin typeface="Calibri" pitchFamily="34" charset="0"/>
                <a:ea typeface="Calibri" pitchFamily="34" charset="-122"/>
                <a:cs typeface="Calibri" pitchFamily="34" charset="-120"/>
              </a:rPr>
              <a:t>JHBI</a:t>
            </a:r>
            <a:endParaRPr lang="en-US" sz="1200" dirty="0"/>
          </a:p>
        </p:txBody>
      </p:sp>
      <p:sp>
        <p:nvSpPr>
          <p:cNvPr id="28" name="Text 26"/>
          <p:cNvSpPr/>
          <p:nvPr/>
        </p:nvSpPr>
        <p:spPr>
          <a:xfrm>
            <a:off x="7406640" y="2057400"/>
            <a:ext cx="1783080" cy="594360"/>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A unified, cloud-native data platform purpose-built for the modern era</a:t>
            </a:r>
            <a:endParaRPr lang="en-US" sz="1000" dirty="0"/>
          </a:p>
        </p:txBody>
      </p:sp>
      <p:sp>
        <p:nvSpPr>
          <p:cNvPr id="29" name="Shape 27"/>
          <p:cNvSpPr/>
          <p:nvPr/>
        </p:nvSpPr>
        <p:spPr>
          <a:xfrm>
            <a:off x="457200" y="2834640"/>
            <a:ext cx="7315200" cy="54864"/>
          </a:xfrm>
          <a:prstGeom prst="rect">
            <a:avLst/>
          </a:prstGeom>
          <a:solidFill>
            <a:srgbClr val="00A651"/>
          </a:solidFill>
          <a:ln w="12700">
            <a:solidFill>
              <a:srgbClr val="333333"/>
            </a:solidFill>
            <a:prstDash val="solid"/>
          </a:ln>
        </p:spPr>
        <p:txBody>
          <a:bodyPr/>
          <a:lstStyle/>
          <a:p>
            <a:endParaRPr lang="en-US"/>
          </a:p>
        </p:txBody>
      </p:sp>
      <p:sp>
        <p:nvSpPr>
          <p:cNvPr id="30" name="Shape 28"/>
          <p:cNvSpPr/>
          <p:nvPr/>
        </p:nvSpPr>
        <p:spPr>
          <a:xfrm>
            <a:off x="457200" y="3108960"/>
            <a:ext cx="8229600" cy="17373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31" name="Text 29"/>
          <p:cNvSpPr/>
          <p:nvPr/>
        </p:nvSpPr>
        <p:spPr>
          <a:xfrm>
            <a:off x="594360" y="3218688"/>
            <a:ext cx="5486400" cy="347472"/>
          </a:xfrm>
          <a:prstGeom prst="rect">
            <a:avLst/>
          </a:prstGeom>
          <a:noFill/>
          <a:ln/>
        </p:spPr>
        <p:txBody>
          <a:bodyPr wrap="square" lIns="0" tIns="0" rIns="0" bIns="0" rtlCol="0" anchor="ctr"/>
          <a:lstStyle/>
          <a:p>
            <a:pPr marL="0" indent="0">
              <a:buNone/>
            </a:pPr>
            <a:r>
              <a:rPr lang="en-US" sz="1600" b="1" dirty="0">
                <a:solidFill>
                  <a:srgbClr val="003057"/>
                </a:solidFill>
                <a:latin typeface="Calibri" pitchFamily="34" charset="0"/>
                <a:ea typeface="Calibri" pitchFamily="34" charset="-122"/>
                <a:cs typeface="Calibri" pitchFamily="34" charset="-120"/>
              </a:rPr>
              <a:t>ARCU's Legacy Lives On in JHBI</a:t>
            </a:r>
            <a:endParaRPr lang="en-US" sz="1600" dirty="0"/>
          </a:p>
        </p:txBody>
      </p:sp>
      <p:sp>
        <p:nvSpPr>
          <p:cNvPr id="32" name="Text 30"/>
          <p:cNvSpPr/>
          <p:nvPr/>
        </p:nvSpPr>
        <p:spPr>
          <a:xfrm>
            <a:off x="594360" y="3611880"/>
            <a:ext cx="7955280" cy="1097280"/>
          </a:xfrm>
          <a:prstGeom prst="rect">
            <a:avLst/>
          </a:prstGeom>
          <a:noFill/>
          <a:ln/>
        </p:spPr>
        <p:txBody>
          <a:bodyPr wrap="square" lIns="0" tIns="0" rIns="0" bIns="0" rtlCol="0" anchor="t"/>
          <a:lstStyle/>
          <a:p>
            <a:pPr marL="0" indent="0">
              <a:buNone/>
            </a:pPr>
            <a:r>
              <a:rPr lang="en-US" sz="1200" dirty="0">
                <a:solidFill>
                  <a:srgbClr val="4A5568"/>
                </a:solidFill>
                <a:latin typeface="Calibri" pitchFamily="34" charset="0"/>
                <a:ea typeface="Calibri" pitchFamily="34" charset="-122"/>
                <a:cs typeface="Calibri" pitchFamily="34" charset="-120"/>
              </a:rPr>
              <a:t>JHBI is not a departure from our foundational products — it is their evolution. The reliability, trust, and data richness of ARCU and its peers are carried forward into a modern, cloud-native architecture that dramatically expands what's possible.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03057"/>
        </a:solidFill>
        <a:effectLst/>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03057"/>
          </a:solidFill>
          <a:ln w="12700">
            <a:solidFill>
              <a:srgbClr val="333333"/>
            </a:solidFill>
            <a:prstDash val="solid"/>
          </a:ln>
        </p:spPr>
        <p:txBody>
          <a:bodyPr/>
          <a:lstStyle/>
          <a:p>
            <a:endParaRPr lang="en-US"/>
          </a:p>
        </p:txBody>
      </p:sp>
      <p:sp>
        <p:nvSpPr>
          <p:cNvPr id="3" name="Shape 1"/>
          <p:cNvSpPr/>
          <p:nvPr/>
        </p:nvSpPr>
        <p:spPr>
          <a:xfrm>
            <a:off x="5029200" y="-914400"/>
            <a:ext cx="5486400" cy="5486400"/>
          </a:xfrm>
          <a:prstGeom prst="ellipse">
            <a:avLst/>
          </a:prstGeom>
          <a:solidFill>
            <a:srgbClr val="00A651">
              <a:alpha val="12000"/>
            </a:srgbClr>
          </a:solidFill>
          <a:ln w="12700">
            <a:solidFill>
              <a:srgbClr val="333333"/>
            </a:solidFill>
            <a:prstDash val="solid"/>
          </a:ln>
        </p:spPr>
        <p:txBody>
          <a:bodyPr/>
          <a:lstStyle/>
          <a:p>
            <a:endParaRPr lang="en-US"/>
          </a:p>
        </p:txBody>
      </p:sp>
      <p:sp>
        <p:nvSpPr>
          <p:cNvPr id="4" name="Shape 2"/>
          <p:cNvSpPr/>
          <p:nvPr/>
        </p:nvSpPr>
        <p:spPr>
          <a:xfrm>
            <a:off x="5943600" y="914400"/>
            <a:ext cx="3657600" cy="3657600"/>
          </a:xfrm>
          <a:prstGeom prst="ellipse">
            <a:avLst/>
          </a:prstGeom>
          <a:solidFill>
            <a:srgbClr val="009B8D">
              <a:alpha val="15000"/>
            </a:srgbClr>
          </a:solidFill>
          <a:ln w="12700">
            <a:solidFill>
              <a:srgbClr val="333333"/>
            </a:solidFill>
            <a:prstDash val="solid"/>
          </a:ln>
        </p:spPr>
        <p:txBody>
          <a:bodyPr/>
          <a:lstStyle/>
          <a:p>
            <a:endParaRPr lang="en-US"/>
          </a:p>
        </p:txBody>
      </p:sp>
      <p:sp>
        <p:nvSpPr>
          <p:cNvPr id="5" name="Text 3"/>
          <p:cNvSpPr/>
          <p:nvPr/>
        </p:nvSpPr>
        <p:spPr>
          <a:xfrm>
            <a:off x="640080" y="731520"/>
            <a:ext cx="5486400" cy="548640"/>
          </a:xfrm>
          <a:prstGeom prst="rect">
            <a:avLst/>
          </a:prstGeom>
          <a:noFill/>
          <a:ln/>
        </p:spPr>
        <p:txBody>
          <a:bodyPr wrap="square" lIns="0" tIns="0" rIns="0" bIns="0" rtlCol="0" anchor="ctr"/>
          <a:lstStyle/>
          <a:p>
            <a:pPr marL="0" indent="0">
              <a:buNone/>
            </a:pPr>
            <a:r>
              <a:rPr lang="en-US" sz="2200" dirty="0">
                <a:solidFill>
                  <a:srgbClr val="00A651"/>
                </a:solidFill>
                <a:latin typeface="Calibri" pitchFamily="34" charset="0"/>
                <a:ea typeface="Calibri" pitchFamily="34" charset="-122"/>
                <a:cs typeface="Calibri" pitchFamily="34" charset="-120"/>
              </a:rPr>
              <a:t>Introducing</a:t>
            </a:r>
            <a:endParaRPr lang="en-US" sz="2200" dirty="0"/>
          </a:p>
        </p:txBody>
      </p:sp>
      <p:sp>
        <p:nvSpPr>
          <p:cNvPr id="6" name="Text 4"/>
          <p:cNvSpPr/>
          <p:nvPr/>
        </p:nvSpPr>
        <p:spPr>
          <a:xfrm>
            <a:off x="640080" y="1234440"/>
            <a:ext cx="5486400" cy="1828800"/>
          </a:xfrm>
          <a:prstGeom prst="rect">
            <a:avLst/>
          </a:prstGeom>
          <a:noFill/>
          <a:ln/>
        </p:spPr>
        <p:txBody>
          <a:bodyPr wrap="square" lIns="0" tIns="0" rIns="0" bIns="0" rtlCol="0" anchor="t"/>
          <a:lstStyle/>
          <a:p>
            <a:pPr marL="0" indent="0">
              <a:buNone/>
            </a:pPr>
            <a:r>
              <a:rPr lang="en-US" sz="9600" b="1" dirty="0">
                <a:solidFill>
                  <a:srgbClr val="FFFFFF"/>
                </a:solidFill>
                <a:latin typeface="Calibri" pitchFamily="34" charset="0"/>
                <a:ea typeface="Calibri" pitchFamily="34" charset="-122"/>
                <a:cs typeface="Calibri" pitchFamily="34" charset="-120"/>
              </a:rPr>
              <a:t>JHBI</a:t>
            </a:r>
            <a:endParaRPr lang="en-US" sz="9600" dirty="0"/>
          </a:p>
        </p:txBody>
      </p:sp>
      <p:sp>
        <p:nvSpPr>
          <p:cNvPr id="7" name="Text 5"/>
          <p:cNvSpPr/>
          <p:nvPr/>
        </p:nvSpPr>
        <p:spPr>
          <a:xfrm>
            <a:off x="640080" y="3017520"/>
            <a:ext cx="5943600" cy="365760"/>
          </a:xfrm>
          <a:prstGeom prst="rect">
            <a:avLst/>
          </a:prstGeom>
          <a:noFill/>
          <a:ln/>
        </p:spPr>
        <p:txBody>
          <a:bodyPr wrap="square" lIns="0" tIns="0" rIns="0" bIns="0" rtlCol="0" anchor="ctr"/>
          <a:lstStyle/>
          <a:p>
            <a:pPr marL="0" indent="0">
              <a:buNone/>
            </a:pPr>
            <a:r>
              <a:rPr lang="en-US" sz="1800" dirty="0">
                <a:solidFill>
                  <a:srgbClr val="9ABDD8"/>
                </a:solidFill>
                <a:latin typeface="Calibri" pitchFamily="34" charset="0"/>
                <a:ea typeface="Calibri" pitchFamily="34" charset="-122"/>
                <a:cs typeface="Calibri" pitchFamily="34" charset="-120"/>
              </a:rPr>
              <a:t>Jack Henry Business Intelligence</a:t>
            </a:r>
            <a:endParaRPr lang="en-US" sz="1800" dirty="0"/>
          </a:p>
        </p:txBody>
      </p:sp>
      <p:sp>
        <p:nvSpPr>
          <p:cNvPr id="8" name="Text 6"/>
          <p:cNvSpPr/>
          <p:nvPr/>
        </p:nvSpPr>
        <p:spPr>
          <a:xfrm>
            <a:off x="640080" y="3520440"/>
            <a:ext cx="5943600" cy="822960"/>
          </a:xfrm>
          <a:prstGeom prst="rect">
            <a:avLst/>
          </a:prstGeom>
          <a:noFill/>
          <a:ln/>
        </p:spPr>
        <p:txBody>
          <a:bodyPr wrap="square" lIns="0" tIns="0" rIns="0" bIns="0" rtlCol="0" anchor="ctr"/>
          <a:lstStyle/>
          <a:p>
            <a:pPr marL="0" indent="0">
              <a:buNone/>
            </a:pPr>
            <a:r>
              <a:rPr lang="en-US" sz="1300" dirty="0">
                <a:solidFill>
                  <a:srgbClr val="7BA8C8"/>
                </a:solidFill>
                <a:latin typeface="Calibri" pitchFamily="34" charset="0"/>
                <a:ea typeface="Calibri" pitchFamily="34" charset="-122"/>
                <a:cs typeface="Calibri" pitchFamily="34" charset="-120"/>
              </a:rPr>
              <a:t>The next-generation Data Platform as a Service — the successor</a:t>
            </a:r>
            <a:endParaRPr lang="en-US" sz="1300" dirty="0"/>
          </a:p>
          <a:p>
            <a:pPr marL="0" indent="0">
              <a:buNone/>
            </a:pPr>
            <a:r>
              <a:rPr lang="en-US" sz="1300" dirty="0">
                <a:solidFill>
                  <a:srgbClr val="7BA8C8"/>
                </a:solidFill>
                <a:latin typeface="Calibri" pitchFamily="34" charset="0"/>
                <a:ea typeface="Calibri" pitchFamily="34" charset="-122"/>
                <a:cs typeface="Calibri" pitchFamily="34" charset="-120"/>
              </a:rPr>
              <a:t>to foundational products, built for the One Jack Henry vision.</a:t>
            </a:r>
            <a:endParaRPr lang="en-US" sz="1300" dirty="0"/>
          </a:p>
        </p:txBody>
      </p:sp>
      <p:sp>
        <p:nvSpPr>
          <p:cNvPr id="9" name="Shape 7"/>
          <p:cNvSpPr/>
          <p:nvPr/>
        </p:nvSpPr>
        <p:spPr>
          <a:xfrm>
            <a:off x="640080" y="4480560"/>
            <a:ext cx="1691640" cy="411480"/>
          </a:xfrm>
          <a:prstGeom prst="rect">
            <a:avLst/>
          </a:prstGeom>
          <a:solidFill>
            <a:srgbClr val="FFFFFF">
              <a:alpha val="10000"/>
            </a:srgbClr>
          </a:solidFill>
          <a:ln w="8890">
            <a:solidFill>
              <a:srgbClr val="00A651"/>
            </a:solidFill>
            <a:prstDash val="solid"/>
          </a:ln>
        </p:spPr>
        <p:txBody>
          <a:bodyPr/>
          <a:lstStyle/>
          <a:p>
            <a:endParaRPr lang="en-US"/>
          </a:p>
        </p:txBody>
      </p:sp>
      <p:sp>
        <p:nvSpPr>
          <p:cNvPr id="10" name="Text 8"/>
          <p:cNvSpPr/>
          <p:nvPr/>
        </p:nvSpPr>
        <p:spPr>
          <a:xfrm>
            <a:off x="640080" y="4480560"/>
            <a:ext cx="16916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Cloud-Native</a:t>
            </a:r>
            <a:endParaRPr lang="en-US" sz="1100" dirty="0"/>
          </a:p>
        </p:txBody>
      </p:sp>
      <p:sp>
        <p:nvSpPr>
          <p:cNvPr id="11" name="Shape 9"/>
          <p:cNvSpPr/>
          <p:nvPr/>
        </p:nvSpPr>
        <p:spPr>
          <a:xfrm>
            <a:off x="2560320" y="4480560"/>
            <a:ext cx="1691640" cy="411480"/>
          </a:xfrm>
          <a:prstGeom prst="rect">
            <a:avLst/>
          </a:prstGeom>
          <a:solidFill>
            <a:srgbClr val="FFFFFF">
              <a:alpha val="10000"/>
            </a:srgbClr>
          </a:solidFill>
          <a:ln w="8890">
            <a:solidFill>
              <a:srgbClr val="00A651"/>
            </a:solidFill>
            <a:prstDash val="solid"/>
          </a:ln>
        </p:spPr>
        <p:txBody>
          <a:bodyPr/>
          <a:lstStyle/>
          <a:p>
            <a:endParaRPr lang="en-US"/>
          </a:p>
        </p:txBody>
      </p:sp>
      <p:sp>
        <p:nvSpPr>
          <p:cNvPr id="12" name="Text 10"/>
          <p:cNvSpPr/>
          <p:nvPr/>
        </p:nvSpPr>
        <p:spPr>
          <a:xfrm>
            <a:off x="2560320" y="4480560"/>
            <a:ext cx="16916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Unified</a:t>
            </a:r>
            <a:endParaRPr lang="en-US" sz="1100" dirty="0"/>
          </a:p>
        </p:txBody>
      </p:sp>
      <p:sp>
        <p:nvSpPr>
          <p:cNvPr id="13" name="Shape 11"/>
          <p:cNvSpPr/>
          <p:nvPr/>
        </p:nvSpPr>
        <p:spPr>
          <a:xfrm>
            <a:off x="4480560" y="4480560"/>
            <a:ext cx="1691640" cy="411480"/>
          </a:xfrm>
          <a:prstGeom prst="rect">
            <a:avLst/>
          </a:prstGeom>
          <a:solidFill>
            <a:srgbClr val="FFFFFF">
              <a:alpha val="10000"/>
            </a:srgbClr>
          </a:solidFill>
          <a:ln w="8890">
            <a:solidFill>
              <a:srgbClr val="00A651"/>
            </a:solidFill>
            <a:prstDash val="solid"/>
          </a:ln>
        </p:spPr>
        <p:txBody>
          <a:bodyPr/>
          <a:lstStyle/>
          <a:p>
            <a:endParaRPr lang="en-US"/>
          </a:p>
        </p:txBody>
      </p:sp>
      <p:sp>
        <p:nvSpPr>
          <p:cNvPr id="14" name="Text 12"/>
          <p:cNvSpPr/>
          <p:nvPr/>
        </p:nvSpPr>
        <p:spPr>
          <a:xfrm>
            <a:off x="4480560" y="4480560"/>
            <a:ext cx="169164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Scalable</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000" b="1" dirty="0">
                <a:solidFill>
                  <a:srgbClr val="003057"/>
                </a:solidFill>
                <a:latin typeface="Calibri" pitchFamily="34" charset="0"/>
                <a:ea typeface="Calibri" pitchFamily="34" charset="-122"/>
                <a:cs typeface="Calibri" pitchFamily="34" charset="-120"/>
              </a:rPr>
              <a:t>Data Platform as a Service (DPaaS)</a:t>
            </a:r>
            <a:endParaRPr lang="en-US" sz="3000" dirty="0"/>
          </a:p>
        </p:txBody>
      </p:sp>
      <p:sp>
        <p:nvSpPr>
          <p:cNvPr id="3" name="Text 1"/>
          <p:cNvSpPr/>
          <p:nvPr/>
        </p:nvSpPr>
        <p:spPr>
          <a:xfrm>
            <a:off x="457200" y="868680"/>
            <a:ext cx="8229600" cy="41148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JHBI delivers data infrastructure, governance, and analytics as a fully managed, scalable service — so your teams focus on insights, not infrastructure.</a:t>
            </a:r>
            <a:endParaRPr lang="en-US" sz="1300" dirty="0"/>
          </a:p>
        </p:txBody>
      </p:sp>
      <p:sp>
        <p:nvSpPr>
          <p:cNvPr id="4" name="Shape 2"/>
          <p:cNvSpPr/>
          <p:nvPr/>
        </p:nvSpPr>
        <p:spPr>
          <a:xfrm>
            <a:off x="365760" y="1417320"/>
            <a:ext cx="2606040" cy="338328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5" name="Shape 3"/>
          <p:cNvSpPr/>
          <p:nvPr/>
        </p:nvSpPr>
        <p:spPr>
          <a:xfrm>
            <a:off x="1261872" y="1600200"/>
            <a:ext cx="822960" cy="822960"/>
          </a:xfrm>
          <a:prstGeom prst="ellipse">
            <a:avLst/>
          </a:prstGeom>
          <a:solidFill>
            <a:srgbClr val="003057"/>
          </a:solidFill>
          <a:ln w="12700">
            <a:solidFill>
              <a:srgbClr val="333333"/>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1371600" y="1709928"/>
            <a:ext cx="594360" cy="594360"/>
          </a:xfrm>
          <a:prstGeom prst="rect">
            <a:avLst/>
          </a:prstGeom>
        </p:spPr>
      </p:pic>
      <p:sp>
        <p:nvSpPr>
          <p:cNvPr id="7" name="Text 4"/>
          <p:cNvSpPr/>
          <p:nvPr/>
        </p:nvSpPr>
        <p:spPr>
          <a:xfrm>
            <a:off x="502920" y="2542032"/>
            <a:ext cx="2331720" cy="548640"/>
          </a:xfrm>
          <a:prstGeom prst="rect">
            <a:avLst/>
          </a:prstGeom>
          <a:noFill/>
          <a:ln/>
        </p:spPr>
        <p:txBody>
          <a:bodyPr wrap="square" lIns="0" tIns="0" rIns="0" bIns="0" rtlCol="0" anchor="t"/>
          <a:lstStyle/>
          <a:p>
            <a:pPr marL="0" indent="0" algn="ctr">
              <a:buNone/>
            </a:pPr>
            <a:r>
              <a:rPr lang="en-US" sz="1400" b="1" dirty="0">
                <a:solidFill>
                  <a:srgbClr val="003057"/>
                </a:solidFill>
                <a:latin typeface="Calibri" pitchFamily="34" charset="0"/>
                <a:ea typeface="Calibri" pitchFamily="34" charset="-122"/>
                <a:cs typeface="Calibri" pitchFamily="34" charset="-120"/>
              </a:rPr>
              <a:t>Managed Infrastructure</a:t>
            </a:r>
            <a:endParaRPr lang="en-US" sz="1400" dirty="0"/>
          </a:p>
        </p:txBody>
      </p:sp>
      <p:sp>
        <p:nvSpPr>
          <p:cNvPr id="8" name="Text 5"/>
          <p:cNvSpPr/>
          <p:nvPr/>
        </p:nvSpPr>
        <p:spPr>
          <a:xfrm>
            <a:off x="502920" y="3154680"/>
            <a:ext cx="2331720" cy="150876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Enterprise-grade cloud infrastructure, maintained and scaled by Jack Henry. No servers to manage, no upgrades to worry about.</a:t>
            </a:r>
            <a:endParaRPr lang="en-US" sz="1100" dirty="0"/>
          </a:p>
        </p:txBody>
      </p:sp>
      <p:sp>
        <p:nvSpPr>
          <p:cNvPr id="9" name="Shape 6"/>
          <p:cNvSpPr/>
          <p:nvPr/>
        </p:nvSpPr>
        <p:spPr>
          <a:xfrm>
            <a:off x="3200400" y="1417320"/>
            <a:ext cx="2606040" cy="338328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0" name="Shape 7"/>
          <p:cNvSpPr/>
          <p:nvPr/>
        </p:nvSpPr>
        <p:spPr>
          <a:xfrm>
            <a:off x="4096512" y="1600200"/>
            <a:ext cx="822960" cy="822960"/>
          </a:xfrm>
          <a:prstGeom prst="ellipse">
            <a:avLst/>
          </a:prstGeom>
          <a:solidFill>
            <a:srgbClr val="009B8D"/>
          </a:solidFill>
          <a:ln w="12700">
            <a:solidFill>
              <a:srgbClr val="33333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4206240" y="1709928"/>
            <a:ext cx="594360" cy="594360"/>
          </a:xfrm>
          <a:prstGeom prst="rect">
            <a:avLst/>
          </a:prstGeom>
        </p:spPr>
      </p:pic>
      <p:sp>
        <p:nvSpPr>
          <p:cNvPr id="12" name="Text 8"/>
          <p:cNvSpPr/>
          <p:nvPr/>
        </p:nvSpPr>
        <p:spPr>
          <a:xfrm>
            <a:off x="3337560" y="2542032"/>
            <a:ext cx="2331720" cy="548640"/>
          </a:xfrm>
          <a:prstGeom prst="rect">
            <a:avLst/>
          </a:prstGeom>
          <a:noFill/>
          <a:ln/>
        </p:spPr>
        <p:txBody>
          <a:bodyPr wrap="square" lIns="0" tIns="0" rIns="0" bIns="0" rtlCol="0" anchor="t"/>
          <a:lstStyle/>
          <a:p>
            <a:pPr marL="0" indent="0" algn="ctr">
              <a:buNone/>
            </a:pPr>
            <a:r>
              <a:rPr lang="en-US" sz="1400" b="1" dirty="0">
                <a:solidFill>
                  <a:srgbClr val="009B8D"/>
                </a:solidFill>
                <a:latin typeface="Calibri" pitchFamily="34" charset="0"/>
                <a:ea typeface="Calibri" pitchFamily="34" charset="-122"/>
                <a:cs typeface="Calibri" pitchFamily="34" charset="-120"/>
              </a:rPr>
              <a:t>Governed Data Layer</a:t>
            </a:r>
            <a:endParaRPr lang="en-US" sz="1400" dirty="0"/>
          </a:p>
        </p:txBody>
      </p:sp>
      <p:sp>
        <p:nvSpPr>
          <p:cNvPr id="13" name="Text 9"/>
          <p:cNvSpPr/>
          <p:nvPr/>
        </p:nvSpPr>
        <p:spPr>
          <a:xfrm>
            <a:off x="3337560" y="3154680"/>
            <a:ext cx="2331720" cy="150876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Built-in data quality, lineage tracking, access controls, and compliance — ensuring data you can trust.</a:t>
            </a:r>
            <a:endParaRPr lang="en-US" sz="1100" dirty="0"/>
          </a:p>
        </p:txBody>
      </p:sp>
      <p:sp>
        <p:nvSpPr>
          <p:cNvPr id="14" name="Shape 10"/>
          <p:cNvSpPr/>
          <p:nvPr/>
        </p:nvSpPr>
        <p:spPr>
          <a:xfrm>
            <a:off x="6035040" y="1417320"/>
            <a:ext cx="2606040" cy="338328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5" name="Shape 11"/>
          <p:cNvSpPr/>
          <p:nvPr/>
        </p:nvSpPr>
        <p:spPr>
          <a:xfrm>
            <a:off x="6931152" y="1600200"/>
            <a:ext cx="822960" cy="822960"/>
          </a:xfrm>
          <a:prstGeom prst="ellipse">
            <a:avLst/>
          </a:prstGeom>
          <a:solidFill>
            <a:srgbClr val="00A651"/>
          </a:solidFill>
          <a:ln w="12700">
            <a:solidFill>
              <a:srgbClr val="333333"/>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7040880" y="1709928"/>
            <a:ext cx="594360" cy="594360"/>
          </a:xfrm>
          <a:prstGeom prst="rect">
            <a:avLst/>
          </a:prstGeom>
        </p:spPr>
      </p:pic>
      <p:sp>
        <p:nvSpPr>
          <p:cNvPr id="17" name="Text 12"/>
          <p:cNvSpPr/>
          <p:nvPr/>
        </p:nvSpPr>
        <p:spPr>
          <a:xfrm>
            <a:off x="6172200" y="2542032"/>
            <a:ext cx="2331720" cy="548640"/>
          </a:xfrm>
          <a:prstGeom prst="rect">
            <a:avLst/>
          </a:prstGeom>
          <a:noFill/>
          <a:ln/>
        </p:spPr>
        <p:txBody>
          <a:bodyPr wrap="square" lIns="0" tIns="0" rIns="0" bIns="0" rtlCol="0" anchor="t"/>
          <a:lstStyle/>
          <a:p>
            <a:pPr marL="0" indent="0" algn="ctr">
              <a:buNone/>
            </a:pPr>
            <a:r>
              <a:rPr lang="en-US" sz="1400" b="1" dirty="0">
                <a:solidFill>
                  <a:srgbClr val="00A651"/>
                </a:solidFill>
                <a:latin typeface="Calibri" pitchFamily="34" charset="0"/>
                <a:ea typeface="Calibri" pitchFamily="34" charset="-122"/>
                <a:cs typeface="Calibri" pitchFamily="34" charset="-120"/>
              </a:rPr>
              <a:t>Analytics-Ready</a:t>
            </a:r>
            <a:endParaRPr lang="en-US" sz="1400" dirty="0"/>
          </a:p>
        </p:txBody>
      </p:sp>
      <p:sp>
        <p:nvSpPr>
          <p:cNvPr id="18" name="Text 13"/>
          <p:cNvSpPr/>
          <p:nvPr/>
        </p:nvSpPr>
        <p:spPr>
          <a:xfrm>
            <a:off x="6172200" y="3154680"/>
            <a:ext cx="2331720" cy="1508760"/>
          </a:xfrm>
          <a:prstGeom prst="rect">
            <a:avLst/>
          </a:prstGeom>
          <a:noFill/>
          <a:ln/>
        </p:spPr>
        <p:txBody>
          <a:bodyPr wrap="square" lIns="0" tIns="0" rIns="0" bIns="0" rtlCol="0" anchor="t"/>
          <a:lstStyle/>
          <a:p>
            <a:pPr marL="0" indent="0" algn="ctr">
              <a:buNone/>
            </a:pPr>
            <a:r>
              <a:rPr lang="en-US" sz="1100" dirty="0">
                <a:solidFill>
                  <a:srgbClr val="4A5568"/>
                </a:solidFill>
                <a:latin typeface="Calibri" pitchFamily="34" charset="0"/>
                <a:ea typeface="Calibri" pitchFamily="34" charset="-122"/>
                <a:cs typeface="Calibri" pitchFamily="34" charset="-120"/>
              </a:rPr>
              <a:t>Pre-built data models, APIs, and connectors that accelerate time-to-insight for your analytics and data science teams.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JHBI Architecture Overview</a:t>
            </a:r>
            <a:endParaRPr lang="en-US" sz="3400" dirty="0"/>
          </a:p>
        </p:txBody>
      </p:sp>
      <p:sp>
        <p:nvSpPr>
          <p:cNvPr id="3" name="Shape 1"/>
          <p:cNvSpPr/>
          <p:nvPr/>
        </p:nvSpPr>
        <p:spPr>
          <a:xfrm>
            <a:off x="457200" y="4251960"/>
            <a:ext cx="8229600" cy="548640"/>
          </a:xfrm>
          <a:prstGeom prst="rect">
            <a:avLst/>
          </a:prstGeom>
          <a:solidFill>
            <a:srgbClr val="8FA0B4"/>
          </a:solidFill>
          <a:ln w="12700">
            <a:solidFill>
              <a:srgbClr val="333333"/>
            </a:solidFill>
            <a:prstDash val="solid"/>
          </a:ln>
        </p:spPr>
        <p:txBody>
          <a:bodyPr/>
          <a:lstStyle/>
          <a:p>
            <a:endParaRPr lang="en-US"/>
          </a:p>
        </p:txBody>
      </p:sp>
      <p:sp>
        <p:nvSpPr>
          <p:cNvPr id="4" name="Text 2"/>
          <p:cNvSpPr/>
          <p:nvPr/>
        </p:nvSpPr>
        <p:spPr>
          <a:xfrm>
            <a:off x="594360" y="4251960"/>
            <a:ext cx="2560320" cy="54864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DATA SOURCES</a:t>
            </a:r>
            <a:endParaRPr lang="en-US" sz="1000" dirty="0"/>
          </a:p>
        </p:txBody>
      </p:sp>
      <p:sp>
        <p:nvSpPr>
          <p:cNvPr id="5" name="Text 3"/>
          <p:cNvSpPr/>
          <p:nvPr/>
        </p:nvSpPr>
        <p:spPr>
          <a:xfrm>
            <a:off x="3200400" y="4251960"/>
            <a:ext cx="54864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Core banking, lending, payments, digital, CRM, third-party</a:t>
            </a:r>
            <a:endParaRPr lang="en-US" sz="1100" dirty="0"/>
          </a:p>
        </p:txBody>
      </p:sp>
      <p:sp>
        <p:nvSpPr>
          <p:cNvPr id="6" name="Shape 4"/>
          <p:cNvSpPr/>
          <p:nvPr/>
        </p:nvSpPr>
        <p:spPr>
          <a:xfrm>
            <a:off x="457200" y="3611880"/>
            <a:ext cx="8229600" cy="548640"/>
          </a:xfrm>
          <a:prstGeom prst="rect">
            <a:avLst/>
          </a:prstGeom>
          <a:solidFill>
            <a:srgbClr val="1B4A7A"/>
          </a:solidFill>
          <a:ln w="12700">
            <a:solidFill>
              <a:srgbClr val="333333"/>
            </a:solidFill>
            <a:prstDash val="solid"/>
          </a:ln>
        </p:spPr>
        <p:txBody>
          <a:bodyPr/>
          <a:lstStyle/>
          <a:p>
            <a:endParaRPr lang="en-US"/>
          </a:p>
        </p:txBody>
      </p:sp>
      <p:sp>
        <p:nvSpPr>
          <p:cNvPr id="7" name="Text 5"/>
          <p:cNvSpPr/>
          <p:nvPr/>
        </p:nvSpPr>
        <p:spPr>
          <a:xfrm>
            <a:off x="594360" y="3611880"/>
            <a:ext cx="2560320" cy="54864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INGESTION &amp; INTEGRATION</a:t>
            </a:r>
            <a:endParaRPr lang="en-US" sz="1000" dirty="0"/>
          </a:p>
        </p:txBody>
      </p:sp>
      <p:sp>
        <p:nvSpPr>
          <p:cNvPr id="8" name="Text 6"/>
          <p:cNvSpPr/>
          <p:nvPr/>
        </p:nvSpPr>
        <p:spPr>
          <a:xfrm>
            <a:off x="3200400" y="3611880"/>
            <a:ext cx="54864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Real-time &amp; batch pipelines, connectors, CDC, API gateway</a:t>
            </a:r>
            <a:endParaRPr lang="en-US" sz="1100" dirty="0"/>
          </a:p>
        </p:txBody>
      </p:sp>
      <p:sp>
        <p:nvSpPr>
          <p:cNvPr id="9" name="Shape 7"/>
          <p:cNvSpPr/>
          <p:nvPr/>
        </p:nvSpPr>
        <p:spPr>
          <a:xfrm>
            <a:off x="457200" y="2971800"/>
            <a:ext cx="8229600" cy="548640"/>
          </a:xfrm>
          <a:prstGeom prst="rect">
            <a:avLst/>
          </a:prstGeom>
          <a:solidFill>
            <a:srgbClr val="003057"/>
          </a:solidFill>
          <a:ln w="12700">
            <a:solidFill>
              <a:srgbClr val="333333"/>
            </a:solidFill>
            <a:prstDash val="solid"/>
          </a:ln>
        </p:spPr>
        <p:txBody>
          <a:bodyPr/>
          <a:lstStyle/>
          <a:p>
            <a:endParaRPr lang="en-US"/>
          </a:p>
        </p:txBody>
      </p:sp>
      <p:sp>
        <p:nvSpPr>
          <p:cNvPr id="10" name="Text 8"/>
          <p:cNvSpPr/>
          <p:nvPr/>
        </p:nvSpPr>
        <p:spPr>
          <a:xfrm>
            <a:off x="594360" y="2971800"/>
            <a:ext cx="2560320" cy="54864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UNIFIED DATA LAYER</a:t>
            </a:r>
            <a:endParaRPr lang="en-US" sz="1000" dirty="0"/>
          </a:p>
        </p:txBody>
      </p:sp>
      <p:sp>
        <p:nvSpPr>
          <p:cNvPr id="11" name="Text 9"/>
          <p:cNvSpPr/>
          <p:nvPr/>
        </p:nvSpPr>
        <p:spPr>
          <a:xfrm>
            <a:off x="3200400" y="2971800"/>
            <a:ext cx="54864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Harmonized member data, canonical models, golden record</a:t>
            </a:r>
            <a:endParaRPr lang="en-US" sz="1100" dirty="0"/>
          </a:p>
        </p:txBody>
      </p:sp>
      <p:sp>
        <p:nvSpPr>
          <p:cNvPr id="12" name="Shape 10"/>
          <p:cNvSpPr/>
          <p:nvPr/>
        </p:nvSpPr>
        <p:spPr>
          <a:xfrm>
            <a:off x="457200" y="2331720"/>
            <a:ext cx="8229600" cy="548640"/>
          </a:xfrm>
          <a:prstGeom prst="rect">
            <a:avLst/>
          </a:prstGeom>
          <a:solidFill>
            <a:srgbClr val="009B8D"/>
          </a:solidFill>
          <a:ln w="12700">
            <a:solidFill>
              <a:srgbClr val="333333"/>
            </a:solidFill>
            <a:prstDash val="solid"/>
          </a:ln>
        </p:spPr>
        <p:txBody>
          <a:bodyPr/>
          <a:lstStyle/>
          <a:p>
            <a:endParaRPr lang="en-US"/>
          </a:p>
        </p:txBody>
      </p:sp>
      <p:sp>
        <p:nvSpPr>
          <p:cNvPr id="13" name="Text 11"/>
          <p:cNvSpPr/>
          <p:nvPr/>
        </p:nvSpPr>
        <p:spPr>
          <a:xfrm>
            <a:off x="594360" y="2331720"/>
            <a:ext cx="2560320" cy="54864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GOVERNANCE &amp; QUALITY</a:t>
            </a:r>
            <a:endParaRPr lang="en-US" sz="1000" dirty="0"/>
          </a:p>
        </p:txBody>
      </p:sp>
      <p:sp>
        <p:nvSpPr>
          <p:cNvPr id="14" name="Text 12"/>
          <p:cNvSpPr/>
          <p:nvPr/>
        </p:nvSpPr>
        <p:spPr>
          <a:xfrm>
            <a:off x="3200400" y="2331720"/>
            <a:ext cx="54864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Lineage, access control, data catalog, quality rules</a:t>
            </a:r>
            <a:endParaRPr lang="en-US" sz="1100" dirty="0"/>
          </a:p>
        </p:txBody>
      </p:sp>
      <p:sp>
        <p:nvSpPr>
          <p:cNvPr id="15" name="Shape 13"/>
          <p:cNvSpPr/>
          <p:nvPr/>
        </p:nvSpPr>
        <p:spPr>
          <a:xfrm>
            <a:off x="457200" y="1691640"/>
            <a:ext cx="8229600" cy="548640"/>
          </a:xfrm>
          <a:prstGeom prst="rect">
            <a:avLst/>
          </a:prstGeom>
          <a:solidFill>
            <a:srgbClr val="00A651"/>
          </a:solidFill>
          <a:ln w="12700">
            <a:solidFill>
              <a:srgbClr val="333333"/>
            </a:solidFill>
            <a:prstDash val="solid"/>
          </a:ln>
        </p:spPr>
        <p:txBody>
          <a:bodyPr/>
          <a:lstStyle/>
          <a:p>
            <a:endParaRPr lang="en-US"/>
          </a:p>
        </p:txBody>
      </p:sp>
      <p:sp>
        <p:nvSpPr>
          <p:cNvPr id="16" name="Text 14"/>
          <p:cNvSpPr/>
          <p:nvPr/>
        </p:nvSpPr>
        <p:spPr>
          <a:xfrm>
            <a:off x="594360" y="1691640"/>
            <a:ext cx="2560320" cy="54864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ANALYTICS &amp; AI/ML</a:t>
            </a:r>
            <a:endParaRPr lang="en-US" sz="1000" dirty="0"/>
          </a:p>
        </p:txBody>
      </p:sp>
      <p:sp>
        <p:nvSpPr>
          <p:cNvPr id="17" name="Text 15"/>
          <p:cNvSpPr/>
          <p:nvPr/>
        </p:nvSpPr>
        <p:spPr>
          <a:xfrm>
            <a:off x="3200400" y="1691640"/>
            <a:ext cx="54864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BI dashboards, predictive models, data science workbenches</a:t>
            </a:r>
            <a:endParaRPr lang="en-US" sz="1100" dirty="0"/>
          </a:p>
        </p:txBody>
      </p:sp>
      <p:sp>
        <p:nvSpPr>
          <p:cNvPr id="18" name="Shape 16"/>
          <p:cNvSpPr/>
          <p:nvPr/>
        </p:nvSpPr>
        <p:spPr>
          <a:xfrm>
            <a:off x="457200" y="1051560"/>
            <a:ext cx="8229600" cy="548640"/>
          </a:xfrm>
          <a:prstGeom prst="rect">
            <a:avLst/>
          </a:prstGeom>
          <a:solidFill>
            <a:srgbClr val="F5A623"/>
          </a:solidFill>
          <a:ln w="12700">
            <a:solidFill>
              <a:srgbClr val="333333"/>
            </a:solidFill>
            <a:prstDash val="solid"/>
          </a:ln>
        </p:spPr>
        <p:txBody>
          <a:bodyPr/>
          <a:lstStyle/>
          <a:p>
            <a:endParaRPr lang="en-US"/>
          </a:p>
        </p:txBody>
      </p:sp>
      <p:sp>
        <p:nvSpPr>
          <p:cNvPr id="19" name="Text 17"/>
          <p:cNvSpPr/>
          <p:nvPr/>
        </p:nvSpPr>
        <p:spPr>
          <a:xfrm>
            <a:off x="594360" y="1051560"/>
            <a:ext cx="2560320" cy="548640"/>
          </a:xfrm>
          <a:prstGeom prst="rect">
            <a:avLst/>
          </a:prstGeom>
          <a:noFill/>
          <a:ln/>
        </p:spPr>
        <p:txBody>
          <a:bodyPr wrap="square" lIns="0" tIns="0" rIns="0" bIns="0" rtlCol="0" anchor="ctr"/>
          <a:lstStyle/>
          <a:p>
            <a:pPr marL="0" indent="0">
              <a:buNone/>
            </a:pPr>
            <a:r>
              <a:rPr lang="en-US" sz="1000" b="1" kern="0" spc="100" dirty="0">
                <a:solidFill>
                  <a:srgbClr val="FFFFFF"/>
                </a:solidFill>
                <a:latin typeface="Calibri" pitchFamily="34" charset="0"/>
                <a:ea typeface="Calibri" pitchFamily="34" charset="-122"/>
                <a:cs typeface="Calibri" pitchFamily="34" charset="-120"/>
              </a:rPr>
              <a:t>CONSUMPTION LAYER</a:t>
            </a:r>
            <a:endParaRPr lang="en-US" sz="1000" dirty="0"/>
          </a:p>
        </p:txBody>
      </p:sp>
      <p:sp>
        <p:nvSpPr>
          <p:cNvPr id="20" name="Text 18"/>
          <p:cNvSpPr/>
          <p:nvPr/>
        </p:nvSpPr>
        <p:spPr>
          <a:xfrm>
            <a:off x="3200400" y="1051560"/>
            <a:ext cx="5486400" cy="548640"/>
          </a:xfrm>
          <a:prstGeom prst="rect">
            <a:avLst/>
          </a:prstGeom>
          <a:noFill/>
          <a:ln/>
        </p:spPr>
        <p:txBody>
          <a:bodyPr wrap="square" lIns="0" tIns="0" rIns="0" bIns="0" rtlCol="0" anchor="ctr"/>
          <a:lstStyle/>
          <a:p>
            <a:pPr marL="0" indent="0">
              <a:buNone/>
            </a:pPr>
            <a:r>
              <a:rPr lang="en-US" sz="1100" dirty="0">
                <a:solidFill>
                  <a:srgbClr val="FFFFFF"/>
                </a:solidFill>
                <a:latin typeface="Calibri" pitchFamily="34" charset="0"/>
                <a:ea typeface="Calibri" pitchFamily="34" charset="-122"/>
                <a:cs typeface="Calibri" pitchFamily="34" charset="-120"/>
              </a:rPr>
              <a:t>Business users, data scientists, client-facing applications</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The 360° Member View</a:t>
            </a:r>
            <a:endParaRPr lang="en-US" sz="34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JHBI creates a single, unified view of every member — combining signals from every business unit in real time.</a:t>
            </a:r>
            <a:endParaRPr lang="en-US" sz="1300" dirty="0"/>
          </a:p>
        </p:txBody>
      </p:sp>
      <p:sp>
        <p:nvSpPr>
          <p:cNvPr id="4" name="Shape 2"/>
          <p:cNvSpPr/>
          <p:nvPr/>
        </p:nvSpPr>
        <p:spPr>
          <a:xfrm>
            <a:off x="3291840" y="1874520"/>
            <a:ext cx="2560320" cy="2560320"/>
          </a:xfrm>
          <a:prstGeom prst="ellipse">
            <a:avLst/>
          </a:prstGeom>
          <a:solidFill>
            <a:srgbClr val="003057"/>
          </a:solidFill>
          <a:ln w="12700">
            <a:solidFill>
              <a:srgbClr val="333333"/>
            </a:solidFill>
            <a:prstDash val="solid"/>
          </a:ln>
          <a:effectLst>
            <a:outerShdw blurRad="127000" dist="38100" dir="8100000" algn="bl" rotWithShape="0">
              <a:srgbClr val="000000">
                <a:alpha val="10000"/>
              </a:srgbClr>
            </a:outerShdw>
          </a:effectLst>
        </p:spPr>
        <p:txBody>
          <a:bodyPr/>
          <a:lstStyle/>
          <a:p>
            <a:endParaRPr lang="en-US"/>
          </a:p>
        </p:txBody>
      </p:sp>
      <p:sp>
        <p:nvSpPr>
          <p:cNvPr id="5" name="Text 3"/>
          <p:cNvSpPr/>
          <p:nvPr/>
        </p:nvSpPr>
        <p:spPr>
          <a:xfrm>
            <a:off x="3291840" y="1874520"/>
            <a:ext cx="2560320" cy="25603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360°</a:t>
            </a:r>
            <a:endParaRPr lang="en-US" sz="1800" dirty="0"/>
          </a:p>
          <a:p>
            <a:pPr marL="0" indent="0" algn="ctr">
              <a:buNone/>
            </a:pPr>
            <a:r>
              <a:rPr lang="en-US" sz="1800" b="1" dirty="0">
                <a:solidFill>
                  <a:srgbClr val="FFFFFF"/>
                </a:solidFill>
                <a:latin typeface="Calibri" pitchFamily="34" charset="0"/>
                <a:ea typeface="Calibri" pitchFamily="34" charset="-122"/>
                <a:cs typeface="Calibri" pitchFamily="34" charset="-120"/>
              </a:rPr>
              <a:t>Member</a:t>
            </a:r>
            <a:endParaRPr lang="en-US" sz="1800" dirty="0"/>
          </a:p>
          <a:p>
            <a:pPr marL="0" indent="0" algn="ctr">
              <a:buNone/>
            </a:pPr>
            <a:r>
              <a:rPr lang="en-US" sz="1800" b="1" dirty="0">
                <a:solidFill>
                  <a:srgbClr val="FFFFFF"/>
                </a:solidFill>
                <a:latin typeface="Calibri" pitchFamily="34" charset="0"/>
                <a:ea typeface="Calibri" pitchFamily="34" charset="-122"/>
                <a:cs typeface="Calibri" pitchFamily="34" charset="-120"/>
              </a:rPr>
              <a:t>View</a:t>
            </a:r>
            <a:endParaRPr lang="en-US" sz="1800" dirty="0"/>
          </a:p>
        </p:txBody>
      </p:sp>
      <p:sp>
        <p:nvSpPr>
          <p:cNvPr id="6" name="Shape 4"/>
          <p:cNvSpPr/>
          <p:nvPr/>
        </p:nvSpPr>
        <p:spPr>
          <a:xfrm>
            <a:off x="365760" y="1965960"/>
            <a:ext cx="1691640" cy="475488"/>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7" name="Text 5"/>
          <p:cNvSpPr/>
          <p:nvPr/>
        </p:nvSpPr>
        <p:spPr>
          <a:xfrm>
            <a:off x="365760" y="1965960"/>
            <a:ext cx="1691640" cy="475488"/>
          </a:xfrm>
          <a:prstGeom prst="rect">
            <a:avLst/>
          </a:prstGeom>
          <a:noFill/>
          <a:ln/>
        </p:spPr>
        <p:txBody>
          <a:bodyPr wrap="square" lIns="0" tIns="0" rIns="0" bIns="0" rtlCol="0" anchor="ctr"/>
          <a:lstStyle/>
          <a:p>
            <a:pPr marL="0" indent="0" algn="ctr">
              <a:buNone/>
            </a:pPr>
            <a:r>
              <a:rPr lang="en-US" sz="1100" b="1" dirty="0">
                <a:solidFill>
                  <a:srgbClr val="003057"/>
                </a:solidFill>
                <a:latin typeface="Calibri" pitchFamily="34" charset="0"/>
                <a:ea typeface="Calibri" pitchFamily="34" charset="-122"/>
                <a:cs typeface="Calibri" pitchFamily="34" charset="-120"/>
              </a:rPr>
              <a:t>Core Banking</a:t>
            </a:r>
            <a:endParaRPr lang="en-US" sz="1100" dirty="0"/>
          </a:p>
        </p:txBody>
      </p:sp>
      <p:sp>
        <p:nvSpPr>
          <p:cNvPr id="8" name="Shape 6"/>
          <p:cNvSpPr/>
          <p:nvPr/>
        </p:nvSpPr>
        <p:spPr>
          <a:xfrm>
            <a:off x="365760" y="3520440"/>
            <a:ext cx="1691640" cy="475488"/>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9" name="Text 7"/>
          <p:cNvSpPr/>
          <p:nvPr/>
        </p:nvSpPr>
        <p:spPr>
          <a:xfrm>
            <a:off x="365760" y="3520440"/>
            <a:ext cx="1691640" cy="475488"/>
          </a:xfrm>
          <a:prstGeom prst="rect">
            <a:avLst/>
          </a:prstGeom>
          <a:noFill/>
          <a:ln/>
        </p:spPr>
        <p:txBody>
          <a:bodyPr wrap="square" lIns="0" tIns="0" rIns="0" bIns="0" rtlCol="0" anchor="ctr"/>
          <a:lstStyle/>
          <a:p>
            <a:pPr marL="0" indent="0" algn="ctr">
              <a:buNone/>
            </a:pPr>
            <a:r>
              <a:rPr lang="en-US" sz="1100" b="1" dirty="0">
                <a:solidFill>
                  <a:srgbClr val="003057"/>
                </a:solidFill>
                <a:latin typeface="Calibri" pitchFamily="34" charset="0"/>
                <a:ea typeface="Calibri" pitchFamily="34" charset="-122"/>
                <a:cs typeface="Calibri" pitchFamily="34" charset="-120"/>
              </a:rPr>
              <a:t>Lending</a:t>
            </a:r>
            <a:endParaRPr lang="en-US" sz="1100" dirty="0"/>
          </a:p>
        </p:txBody>
      </p:sp>
      <p:sp>
        <p:nvSpPr>
          <p:cNvPr id="10" name="Shape 8"/>
          <p:cNvSpPr/>
          <p:nvPr/>
        </p:nvSpPr>
        <p:spPr>
          <a:xfrm>
            <a:off x="3264408" y="1261872"/>
            <a:ext cx="1691640" cy="475488"/>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11" name="Text 9"/>
          <p:cNvSpPr/>
          <p:nvPr/>
        </p:nvSpPr>
        <p:spPr>
          <a:xfrm>
            <a:off x="3264408" y="1261872"/>
            <a:ext cx="1691640" cy="475488"/>
          </a:xfrm>
          <a:prstGeom prst="rect">
            <a:avLst/>
          </a:prstGeom>
          <a:noFill/>
          <a:ln/>
        </p:spPr>
        <p:txBody>
          <a:bodyPr wrap="square" lIns="0" tIns="0" rIns="0" bIns="0" rtlCol="0" anchor="ctr"/>
          <a:lstStyle/>
          <a:p>
            <a:pPr marL="0" indent="0" algn="ctr">
              <a:buNone/>
            </a:pPr>
            <a:r>
              <a:rPr lang="en-US" sz="1100" b="1" dirty="0">
                <a:solidFill>
                  <a:srgbClr val="003057"/>
                </a:solidFill>
                <a:latin typeface="Calibri" pitchFamily="34" charset="0"/>
                <a:ea typeface="Calibri" pitchFamily="34" charset="-122"/>
                <a:cs typeface="Calibri" pitchFamily="34" charset="-120"/>
              </a:rPr>
              <a:t>Digital Banking</a:t>
            </a:r>
            <a:endParaRPr lang="en-US" sz="1100" dirty="0"/>
          </a:p>
        </p:txBody>
      </p:sp>
      <p:sp>
        <p:nvSpPr>
          <p:cNvPr id="12" name="Shape 10"/>
          <p:cNvSpPr/>
          <p:nvPr/>
        </p:nvSpPr>
        <p:spPr>
          <a:xfrm>
            <a:off x="7086600" y="1965960"/>
            <a:ext cx="1691640" cy="475488"/>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13" name="Text 11"/>
          <p:cNvSpPr/>
          <p:nvPr/>
        </p:nvSpPr>
        <p:spPr>
          <a:xfrm>
            <a:off x="7086600" y="1965960"/>
            <a:ext cx="1691640" cy="475488"/>
          </a:xfrm>
          <a:prstGeom prst="rect">
            <a:avLst/>
          </a:prstGeom>
          <a:noFill/>
          <a:ln/>
        </p:spPr>
        <p:txBody>
          <a:bodyPr wrap="square" lIns="0" tIns="0" rIns="0" bIns="0" rtlCol="0" anchor="ctr"/>
          <a:lstStyle/>
          <a:p>
            <a:pPr marL="0" indent="0" algn="ctr">
              <a:buNone/>
            </a:pPr>
            <a:r>
              <a:rPr lang="en-US" sz="1100" b="1" dirty="0">
                <a:solidFill>
                  <a:srgbClr val="003057"/>
                </a:solidFill>
                <a:latin typeface="Calibri" pitchFamily="34" charset="0"/>
                <a:ea typeface="Calibri" pitchFamily="34" charset="-122"/>
                <a:cs typeface="Calibri" pitchFamily="34" charset="-120"/>
              </a:rPr>
              <a:t>Payments</a:t>
            </a:r>
            <a:endParaRPr lang="en-US" sz="1100" dirty="0"/>
          </a:p>
        </p:txBody>
      </p:sp>
      <p:sp>
        <p:nvSpPr>
          <p:cNvPr id="14" name="Shape 12"/>
          <p:cNvSpPr/>
          <p:nvPr/>
        </p:nvSpPr>
        <p:spPr>
          <a:xfrm>
            <a:off x="7086600" y="3520440"/>
            <a:ext cx="1691640" cy="475488"/>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15" name="Text 13"/>
          <p:cNvSpPr/>
          <p:nvPr/>
        </p:nvSpPr>
        <p:spPr>
          <a:xfrm>
            <a:off x="7086600" y="3520440"/>
            <a:ext cx="1691640" cy="475488"/>
          </a:xfrm>
          <a:prstGeom prst="rect">
            <a:avLst/>
          </a:prstGeom>
          <a:noFill/>
          <a:ln/>
        </p:spPr>
        <p:txBody>
          <a:bodyPr wrap="square" lIns="0" tIns="0" rIns="0" bIns="0" rtlCol="0" anchor="ctr"/>
          <a:lstStyle/>
          <a:p>
            <a:pPr marL="0" indent="0" algn="ctr">
              <a:buNone/>
            </a:pPr>
            <a:r>
              <a:rPr lang="en-US" sz="1100" b="1" dirty="0">
                <a:solidFill>
                  <a:srgbClr val="003057"/>
                </a:solidFill>
                <a:latin typeface="Calibri" pitchFamily="34" charset="0"/>
                <a:ea typeface="Calibri" pitchFamily="34" charset="-122"/>
                <a:cs typeface="Calibri" pitchFamily="34" charset="-120"/>
              </a:rPr>
              <a:t>CRM</a:t>
            </a:r>
            <a:endParaRPr lang="en-US" sz="1100" dirty="0"/>
          </a:p>
        </p:txBody>
      </p:sp>
      <p:sp>
        <p:nvSpPr>
          <p:cNvPr id="16" name="Shape 14"/>
          <p:cNvSpPr/>
          <p:nvPr/>
        </p:nvSpPr>
        <p:spPr>
          <a:xfrm>
            <a:off x="3264408" y="4187952"/>
            <a:ext cx="1691640" cy="475488"/>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17" name="Text 15"/>
          <p:cNvSpPr/>
          <p:nvPr/>
        </p:nvSpPr>
        <p:spPr>
          <a:xfrm>
            <a:off x="3264408" y="4187952"/>
            <a:ext cx="1691640" cy="475488"/>
          </a:xfrm>
          <a:prstGeom prst="rect">
            <a:avLst/>
          </a:prstGeom>
          <a:noFill/>
          <a:ln/>
        </p:spPr>
        <p:txBody>
          <a:bodyPr wrap="square" lIns="0" tIns="0" rIns="0" bIns="0" rtlCol="0" anchor="ctr"/>
          <a:lstStyle/>
          <a:p>
            <a:pPr marL="0" indent="0" algn="ctr">
              <a:buNone/>
            </a:pPr>
            <a:r>
              <a:rPr lang="en-US" sz="1100" b="1" dirty="0">
                <a:solidFill>
                  <a:srgbClr val="003057"/>
                </a:solidFill>
                <a:latin typeface="Calibri" pitchFamily="34" charset="0"/>
                <a:ea typeface="Calibri" pitchFamily="34" charset="-122"/>
                <a:cs typeface="Calibri" pitchFamily="34" charset="-120"/>
              </a:rPr>
              <a:t>Analytics</a:t>
            </a:r>
            <a:endParaRPr lang="en-US" sz="1100" dirty="0"/>
          </a:p>
        </p:txBody>
      </p:sp>
      <p:sp>
        <p:nvSpPr>
          <p:cNvPr id="18" name="Shape 16"/>
          <p:cNvSpPr/>
          <p:nvPr/>
        </p:nvSpPr>
        <p:spPr>
          <a:xfrm>
            <a:off x="365760" y="4709160"/>
            <a:ext cx="8412480" cy="347472"/>
          </a:xfrm>
          <a:prstGeom prst="rect">
            <a:avLst/>
          </a:prstGeom>
          <a:solidFill>
            <a:srgbClr val="003057"/>
          </a:solidFill>
          <a:ln w="12700">
            <a:solidFill>
              <a:srgbClr val="333333"/>
            </a:solidFill>
            <a:prstDash val="solid"/>
          </a:ln>
          <a:effectLst>
            <a:outerShdw blurRad="63500" dist="25400" dir="8100000" algn="bl" rotWithShape="0">
              <a:srgbClr val="000000">
                <a:alpha val="8000"/>
              </a:srgbClr>
            </a:outerShdw>
          </a:effectLst>
        </p:spPr>
        <p:txBody>
          <a:bodyPr/>
          <a:lstStyle/>
          <a:p>
            <a:endParaRPr lang="en-US"/>
          </a:p>
        </p:txBody>
      </p:sp>
      <p:sp>
        <p:nvSpPr>
          <p:cNvPr id="19" name="Text 17"/>
          <p:cNvSpPr/>
          <p:nvPr/>
        </p:nvSpPr>
        <p:spPr>
          <a:xfrm>
            <a:off x="502920" y="4709160"/>
            <a:ext cx="8229600" cy="347472"/>
          </a:xfrm>
          <a:prstGeom prst="rect">
            <a:avLst/>
          </a:prstGeom>
          <a:noFill/>
          <a:ln/>
        </p:spPr>
        <p:txBody>
          <a:bodyPr wrap="square" lIns="0" tIns="0" rIns="0" bIns="0" rtlCol="0" anchor="ctr"/>
          <a:lstStyle/>
          <a:p>
            <a:pPr marL="0" indent="0">
              <a:buNone/>
            </a:pPr>
            <a:r>
              <a:rPr lang="en-US" sz="1050" dirty="0">
                <a:solidFill>
                  <a:srgbClr val="FFFFFF"/>
                </a:solidFill>
                <a:latin typeface="Calibri" pitchFamily="34" charset="0"/>
                <a:ea typeface="Calibri" pitchFamily="34" charset="-122"/>
                <a:cs typeface="Calibri" pitchFamily="34" charset="-120"/>
              </a:rPr>
              <a:t>Unlocks: Personalized Engagement  •  Risk Intelligence  •  Product Fit Analysis  •  Lifetime Value Prediction</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000" b="1" dirty="0">
                <a:solidFill>
                  <a:srgbClr val="003057"/>
                </a:solidFill>
                <a:latin typeface="Calibri" pitchFamily="34" charset="0"/>
                <a:ea typeface="Calibri" pitchFamily="34" charset="-122"/>
                <a:cs typeface="Calibri" pitchFamily="34" charset="-120"/>
              </a:rPr>
              <a:t>Harmonized Data Across Business Units</a:t>
            </a:r>
            <a:endParaRPr lang="en-US" sz="3000" dirty="0"/>
          </a:p>
        </p:txBody>
      </p:sp>
      <p:sp>
        <p:nvSpPr>
          <p:cNvPr id="3" name="Text 1"/>
          <p:cNvSpPr/>
          <p:nvPr/>
        </p:nvSpPr>
        <p:spPr>
          <a:xfrm>
            <a:off x="457200" y="841248"/>
            <a:ext cx="8412480" cy="384048"/>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JHBI aligns data definitions, formats, and semantics across every Jack Henry product — moving us closer to the One Jack Henry vision.</a:t>
            </a:r>
            <a:endParaRPr lang="en-US" sz="1300" dirty="0"/>
          </a:p>
        </p:txBody>
      </p:sp>
      <p:sp>
        <p:nvSpPr>
          <p:cNvPr id="4" name="Shape 2"/>
          <p:cNvSpPr/>
          <p:nvPr/>
        </p:nvSpPr>
        <p:spPr>
          <a:xfrm>
            <a:off x="365760" y="1325880"/>
            <a:ext cx="3749040" cy="35661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365760" y="1325880"/>
            <a:ext cx="3749040" cy="411480"/>
          </a:xfrm>
          <a:prstGeom prst="rect">
            <a:avLst/>
          </a:prstGeom>
          <a:solidFill>
            <a:srgbClr val="E8EDF3"/>
          </a:solidFill>
          <a:ln w="12700">
            <a:solidFill>
              <a:srgbClr val="333333"/>
            </a:solidFill>
            <a:prstDash val="solid"/>
          </a:ln>
        </p:spPr>
        <p:txBody>
          <a:bodyPr/>
          <a:lstStyle/>
          <a:p>
            <a:endParaRPr lang="en-US"/>
          </a:p>
        </p:txBody>
      </p:sp>
      <p:sp>
        <p:nvSpPr>
          <p:cNvPr id="6" name="Text 4"/>
          <p:cNvSpPr/>
          <p:nvPr/>
        </p:nvSpPr>
        <p:spPr>
          <a:xfrm>
            <a:off x="457200" y="1325880"/>
            <a:ext cx="3566160" cy="411480"/>
          </a:xfrm>
          <a:prstGeom prst="rect">
            <a:avLst/>
          </a:prstGeom>
          <a:noFill/>
          <a:ln/>
        </p:spPr>
        <p:txBody>
          <a:bodyPr wrap="square" lIns="0" tIns="0" rIns="0" bIns="0" rtlCol="0" anchor="ctr"/>
          <a:lstStyle/>
          <a:p>
            <a:pPr marL="0" indent="0">
              <a:buNone/>
            </a:pPr>
            <a:r>
              <a:rPr lang="en-US" sz="1300" b="1" kern="0" spc="100" dirty="0">
                <a:solidFill>
                  <a:srgbClr val="4A5568"/>
                </a:solidFill>
                <a:latin typeface="Calibri" pitchFamily="34" charset="0"/>
                <a:ea typeface="Calibri" pitchFamily="34" charset="-122"/>
                <a:cs typeface="Calibri" pitchFamily="34" charset="-120"/>
              </a:rPr>
              <a:t>BEFORE JHBI</a:t>
            </a:r>
            <a:endParaRPr lang="en-US" sz="1300" dirty="0"/>
          </a:p>
        </p:txBody>
      </p:sp>
      <p:sp>
        <p:nvSpPr>
          <p:cNvPr id="7" name="Shape 5"/>
          <p:cNvSpPr/>
          <p:nvPr/>
        </p:nvSpPr>
        <p:spPr>
          <a:xfrm>
            <a:off x="502920" y="1901952"/>
            <a:ext cx="201168" cy="201168"/>
          </a:xfrm>
          <a:prstGeom prst="rect">
            <a:avLst/>
          </a:prstGeom>
          <a:solidFill>
            <a:srgbClr val="E74C3C"/>
          </a:solidFill>
          <a:ln w="12700">
            <a:solidFill>
              <a:srgbClr val="333333"/>
            </a:solidFill>
            <a:prstDash val="solid"/>
          </a:ln>
        </p:spPr>
        <p:txBody>
          <a:bodyPr/>
          <a:lstStyle/>
          <a:p>
            <a:endParaRPr lang="en-US"/>
          </a:p>
        </p:txBody>
      </p:sp>
      <p:sp>
        <p:nvSpPr>
          <p:cNvPr id="8" name="Text 6"/>
          <p:cNvSpPr/>
          <p:nvPr/>
        </p:nvSpPr>
        <p:spPr>
          <a:xfrm>
            <a:off x="822960" y="1847088"/>
            <a:ext cx="3108960" cy="310896"/>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'Member' defined differently in 5+ systems</a:t>
            </a:r>
            <a:endParaRPr lang="en-US" sz="1100" dirty="0"/>
          </a:p>
        </p:txBody>
      </p:sp>
      <p:sp>
        <p:nvSpPr>
          <p:cNvPr id="9" name="Shape 7"/>
          <p:cNvSpPr/>
          <p:nvPr/>
        </p:nvSpPr>
        <p:spPr>
          <a:xfrm>
            <a:off x="502920" y="2432304"/>
            <a:ext cx="201168" cy="201168"/>
          </a:xfrm>
          <a:prstGeom prst="rect">
            <a:avLst/>
          </a:prstGeom>
          <a:solidFill>
            <a:srgbClr val="E74C3C"/>
          </a:solidFill>
          <a:ln w="12700">
            <a:solidFill>
              <a:srgbClr val="333333"/>
            </a:solidFill>
            <a:prstDash val="solid"/>
          </a:ln>
        </p:spPr>
        <p:txBody>
          <a:bodyPr/>
          <a:lstStyle/>
          <a:p>
            <a:endParaRPr lang="en-US"/>
          </a:p>
        </p:txBody>
      </p:sp>
      <p:sp>
        <p:nvSpPr>
          <p:cNvPr id="10" name="Text 8"/>
          <p:cNvSpPr/>
          <p:nvPr/>
        </p:nvSpPr>
        <p:spPr>
          <a:xfrm>
            <a:off x="822960" y="2377440"/>
            <a:ext cx="3108960" cy="310896"/>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Manual data reconciliation between units</a:t>
            </a:r>
            <a:endParaRPr lang="en-US" sz="1100" dirty="0"/>
          </a:p>
        </p:txBody>
      </p:sp>
      <p:sp>
        <p:nvSpPr>
          <p:cNvPr id="11" name="Shape 9"/>
          <p:cNvSpPr/>
          <p:nvPr/>
        </p:nvSpPr>
        <p:spPr>
          <a:xfrm>
            <a:off x="502920" y="2962656"/>
            <a:ext cx="201168" cy="201168"/>
          </a:xfrm>
          <a:prstGeom prst="rect">
            <a:avLst/>
          </a:prstGeom>
          <a:solidFill>
            <a:srgbClr val="E74C3C"/>
          </a:solidFill>
          <a:ln w="12700">
            <a:solidFill>
              <a:srgbClr val="333333"/>
            </a:solidFill>
            <a:prstDash val="solid"/>
          </a:ln>
        </p:spPr>
        <p:txBody>
          <a:bodyPr/>
          <a:lstStyle/>
          <a:p>
            <a:endParaRPr lang="en-US"/>
          </a:p>
        </p:txBody>
      </p:sp>
      <p:sp>
        <p:nvSpPr>
          <p:cNvPr id="12" name="Text 10"/>
          <p:cNvSpPr/>
          <p:nvPr/>
        </p:nvSpPr>
        <p:spPr>
          <a:xfrm>
            <a:off x="822960" y="2907792"/>
            <a:ext cx="3108960" cy="310896"/>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Conflicting KPIs across business lines</a:t>
            </a:r>
            <a:endParaRPr lang="en-US" sz="1100" dirty="0"/>
          </a:p>
        </p:txBody>
      </p:sp>
      <p:sp>
        <p:nvSpPr>
          <p:cNvPr id="13" name="Shape 11"/>
          <p:cNvSpPr/>
          <p:nvPr/>
        </p:nvSpPr>
        <p:spPr>
          <a:xfrm>
            <a:off x="502920" y="3493008"/>
            <a:ext cx="201168" cy="201168"/>
          </a:xfrm>
          <a:prstGeom prst="rect">
            <a:avLst/>
          </a:prstGeom>
          <a:solidFill>
            <a:srgbClr val="E74C3C"/>
          </a:solidFill>
          <a:ln w="12700">
            <a:solidFill>
              <a:srgbClr val="333333"/>
            </a:solidFill>
            <a:prstDash val="solid"/>
          </a:ln>
        </p:spPr>
        <p:txBody>
          <a:bodyPr/>
          <a:lstStyle/>
          <a:p>
            <a:endParaRPr lang="en-US"/>
          </a:p>
        </p:txBody>
      </p:sp>
      <p:sp>
        <p:nvSpPr>
          <p:cNvPr id="14" name="Text 12"/>
          <p:cNvSpPr/>
          <p:nvPr/>
        </p:nvSpPr>
        <p:spPr>
          <a:xfrm>
            <a:off x="822960" y="3438144"/>
            <a:ext cx="3108960" cy="310896"/>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Weeks to produce cross-unit reports</a:t>
            </a:r>
            <a:endParaRPr lang="en-US" sz="1100" dirty="0"/>
          </a:p>
        </p:txBody>
      </p:sp>
      <p:sp>
        <p:nvSpPr>
          <p:cNvPr id="15" name="Shape 13"/>
          <p:cNvSpPr/>
          <p:nvPr/>
        </p:nvSpPr>
        <p:spPr>
          <a:xfrm>
            <a:off x="502920" y="4023360"/>
            <a:ext cx="201168" cy="201168"/>
          </a:xfrm>
          <a:prstGeom prst="rect">
            <a:avLst/>
          </a:prstGeom>
          <a:solidFill>
            <a:srgbClr val="E74C3C"/>
          </a:solidFill>
          <a:ln w="12700">
            <a:solidFill>
              <a:srgbClr val="333333"/>
            </a:solidFill>
            <a:prstDash val="solid"/>
          </a:ln>
        </p:spPr>
        <p:txBody>
          <a:bodyPr/>
          <a:lstStyle/>
          <a:p>
            <a:endParaRPr lang="en-US"/>
          </a:p>
        </p:txBody>
      </p:sp>
      <p:sp>
        <p:nvSpPr>
          <p:cNvPr id="16" name="Text 14"/>
          <p:cNvSpPr/>
          <p:nvPr/>
        </p:nvSpPr>
        <p:spPr>
          <a:xfrm>
            <a:off x="822960" y="3968496"/>
            <a:ext cx="3108960" cy="310896"/>
          </a:xfrm>
          <a:prstGeom prst="rect">
            <a:avLst/>
          </a:prstGeom>
          <a:noFill/>
          <a:ln/>
        </p:spPr>
        <p:txBody>
          <a:bodyPr wrap="square" lIns="0" tIns="0" rIns="0" bIns="0" rtlCol="0" anchor="ctr"/>
          <a:lstStyle/>
          <a:p>
            <a:pPr marL="0" indent="0">
              <a:buNone/>
            </a:pPr>
            <a:r>
              <a:rPr lang="en-US" sz="1100" dirty="0">
                <a:solidFill>
                  <a:srgbClr val="4A5568"/>
                </a:solidFill>
                <a:latin typeface="Calibri" pitchFamily="34" charset="0"/>
                <a:ea typeface="Calibri" pitchFamily="34" charset="-122"/>
                <a:cs typeface="Calibri" pitchFamily="34" charset="-120"/>
              </a:rPr>
              <a:t>Data quality issues discovered too late</a:t>
            </a:r>
            <a:endParaRPr lang="en-US" sz="1100" dirty="0"/>
          </a:p>
        </p:txBody>
      </p:sp>
      <p:sp>
        <p:nvSpPr>
          <p:cNvPr id="17" name="Shape 15"/>
          <p:cNvSpPr/>
          <p:nvPr/>
        </p:nvSpPr>
        <p:spPr>
          <a:xfrm>
            <a:off x="4206240" y="2926080"/>
            <a:ext cx="731520" cy="54864"/>
          </a:xfrm>
          <a:prstGeom prst="rect">
            <a:avLst/>
          </a:prstGeom>
          <a:solidFill>
            <a:srgbClr val="00A651"/>
          </a:solidFill>
          <a:ln w="12700">
            <a:solidFill>
              <a:srgbClr val="333333"/>
            </a:solidFill>
            <a:prstDash val="solid"/>
          </a:ln>
        </p:spPr>
        <p:txBody>
          <a:bodyPr/>
          <a:lstStyle/>
          <a:p>
            <a:endParaRPr lang="en-US"/>
          </a:p>
        </p:txBody>
      </p:sp>
      <p:sp>
        <p:nvSpPr>
          <p:cNvPr id="18" name="Shape 16"/>
          <p:cNvSpPr/>
          <p:nvPr/>
        </p:nvSpPr>
        <p:spPr>
          <a:xfrm>
            <a:off x="4773168" y="2788920"/>
            <a:ext cx="164592" cy="329184"/>
          </a:xfrm>
          <a:prstGeom prst="rect">
            <a:avLst/>
          </a:prstGeom>
          <a:solidFill>
            <a:srgbClr val="00A651"/>
          </a:solidFill>
          <a:ln w="12700">
            <a:solidFill>
              <a:srgbClr val="333333"/>
            </a:solidFill>
            <a:prstDash val="solid"/>
          </a:ln>
        </p:spPr>
        <p:txBody>
          <a:bodyPr/>
          <a:lstStyle/>
          <a:p>
            <a:endParaRPr lang="en-US"/>
          </a:p>
        </p:txBody>
      </p:sp>
      <p:sp>
        <p:nvSpPr>
          <p:cNvPr id="19" name="Text 17"/>
          <p:cNvSpPr/>
          <p:nvPr/>
        </p:nvSpPr>
        <p:spPr>
          <a:xfrm>
            <a:off x="4114800" y="3200400"/>
            <a:ext cx="914400" cy="274320"/>
          </a:xfrm>
          <a:prstGeom prst="rect">
            <a:avLst/>
          </a:prstGeom>
          <a:noFill/>
          <a:ln/>
        </p:spPr>
        <p:txBody>
          <a:bodyPr wrap="square" lIns="0" tIns="0" rIns="0" bIns="0" rtlCol="0" anchor="ctr"/>
          <a:lstStyle/>
          <a:p>
            <a:pPr marL="0" indent="0" algn="ctr">
              <a:buNone/>
            </a:pPr>
            <a:r>
              <a:rPr lang="en-US" sz="1000" b="1" dirty="0">
                <a:solidFill>
                  <a:srgbClr val="00A651"/>
                </a:solidFill>
                <a:latin typeface="Calibri" pitchFamily="34" charset="0"/>
                <a:ea typeface="Calibri" pitchFamily="34" charset="-122"/>
                <a:cs typeface="Calibri" pitchFamily="34" charset="-120"/>
              </a:rPr>
              <a:t>JHBI</a:t>
            </a:r>
            <a:endParaRPr lang="en-US" sz="1000" dirty="0"/>
          </a:p>
        </p:txBody>
      </p:sp>
      <p:sp>
        <p:nvSpPr>
          <p:cNvPr id="20" name="Shape 18"/>
          <p:cNvSpPr/>
          <p:nvPr/>
        </p:nvSpPr>
        <p:spPr>
          <a:xfrm>
            <a:off x="5029200" y="1325880"/>
            <a:ext cx="3749040" cy="3566160"/>
          </a:xfrm>
          <a:prstGeom prst="rect">
            <a:avLst/>
          </a:prstGeom>
          <a:solidFill>
            <a:srgbClr val="FFFFFF"/>
          </a:solidFill>
          <a:ln w="12700">
            <a:solidFill>
              <a:srgbClr val="00A651"/>
            </a:solidFill>
            <a:prstDash val="solid"/>
          </a:ln>
          <a:effectLst>
            <a:outerShdw blurRad="63500" dist="25400" dir="8100000" algn="bl" rotWithShape="0">
              <a:srgbClr val="000000">
                <a:alpha val="8000"/>
              </a:srgbClr>
            </a:outerShdw>
          </a:effectLst>
        </p:spPr>
        <p:txBody>
          <a:bodyPr/>
          <a:lstStyle/>
          <a:p>
            <a:endParaRPr lang="en-US"/>
          </a:p>
        </p:txBody>
      </p:sp>
      <p:sp>
        <p:nvSpPr>
          <p:cNvPr id="21" name="Shape 19"/>
          <p:cNvSpPr/>
          <p:nvPr/>
        </p:nvSpPr>
        <p:spPr>
          <a:xfrm>
            <a:off x="5029200" y="1325880"/>
            <a:ext cx="3749040" cy="411480"/>
          </a:xfrm>
          <a:prstGeom prst="rect">
            <a:avLst/>
          </a:prstGeom>
          <a:solidFill>
            <a:srgbClr val="003057"/>
          </a:solidFill>
          <a:ln w="12700">
            <a:solidFill>
              <a:srgbClr val="333333"/>
            </a:solidFill>
            <a:prstDash val="solid"/>
          </a:ln>
        </p:spPr>
        <p:txBody>
          <a:bodyPr/>
          <a:lstStyle/>
          <a:p>
            <a:endParaRPr lang="en-US"/>
          </a:p>
        </p:txBody>
      </p:sp>
      <p:sp>
        <p:nvSpPr>
          <p:cNvPr id="22" name="Text 20"/>
          <p:cNvSpPr/>
          <p:nvPr/>
        </p:nvSpPr>
        <p:spPr>
          <a:xfrm>
            <a:off x="5120640" y="1325880"/>
            <a:ext cx="3566160" cy="411480"/>
          </a:xfrm>
          <a:prstGeom prst="rect">
            <a:avLst/>
          </a:prstGeom>
          <a:noFill/>
          <a:ln/>
        </p:spPr>
        <p:txBody>
          <a:bodyPr wrap="square" lIns="0" tIns="0" rIns="0" bIns="0" rtlCol="0" anchor="ctr"/>
          <a:lstStyle/>
          <a:p>
            <a:pPr marL="0" indent="0">
              <a:buNone/>
            </a:pPr>
            <a:r>
              <a:rPr lang="en-US" sz="1300" b="1" kern="0" spc="100" dirty="0">
                <a:solidFill>
                  <a:srgbClr val="FFFFFF"/>
                </a:solidFill>
                <a:latin typeface="Calibri" pitchFamily="34" charset="0"/>
                <a:ea typeface="Calibri" pitchFamily="34" charset="-122"/>
                <a:cs typeface="Calibri" pitchFamily="34" charset="-120"/>
              </a:rPr>
              <a:t>WITH JHBI</a:t>
            </a:r>
            <a:endParaRPr lang="en-US" sz="1300" dirty="0"/>
          </a:p>
        </p:txBody>
      </p:sp>
      <p:pic>
        <p:nvPicPr>
          <p:cNvPr id="23" name="Image 0" descr="preencoded.png"/>
          <p:cNvPicPr>
            <a:picLocks noChangeAspect="1"/>
          </p:cNvPicPr>
          <p:nvPr/>
        </p:nvPicPr>
        <p:blipFill>
          <a:blip r:embed="rId3"/>
          <a:stretch>
            <a:fillRect/>
          </a:stretch>
        </p:blipFill>
        <p:spPr>
          <a:xfrm>
            <a:off x="5166360" y="1865376"/>
            <a:ext cx="246888" cy="246888"/>
          </a:xfrm>
          <a:prstGeom prst="rect">
            <a:avLst/>
          </a:prstGeom>
        </p:spPr>
      </p:pic>
      <p:sp>
        <p:nvSpPr>
          <p:cNvPr id="24" name="Text 21"/>
          <p:cNvSpPr/>
          <p:nvPr/>
        </p:nvSpPr>
        <p:spPr>
          <a:xfrm>
            <a:off x="5532120" y="1847088"/>
            <a:ext cx="3108960" cy="310896"/>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Single canonical member model across all units</a:t>
            </a:r>
            <a:endParaRPr lang="en-US" sz="1100" dirty="0"/>
          </a:p>
        </p:txBody>
      </p:sp>
      <p:pic>
        <p:nvPicPr>
          <p:cNvPr id="25" name="Image 1" descr="preencoded.png"/>
          <p:cNvPicPr>
            <a:picLocks noChangeAspect="1"/>
          </p:cNvPicPr>
          <p:nvPr/>
        </p:nvPicPr>
        <p:blipFill>
          <a:blip r:embed="rId3"/>
          <a:stretch>
            <a:fillRect/>
          </a:stretch>
        </p:blipFill>
        <p:spPr>
          <a:xfrm>
            <a:off x="5166360" y="2395728"/>
            <a:ext cx="246888" cy="246888"/>
          </a:xfrm>
          <a:prstGeom prst="rect">
            <a:avLst/>
          </a:prstGeom>
        </p:spPr>
      </p:pic>
      <p:sp>
        <p:nvSpPr>
          <p:cNvPr id="26" name="Text 22"/>
          <p:cNvSpPr/>
          <p:nvPr/>
        </p:nvSpPr>
        <p:spPr>
          <a:xfrm>
            <a:off x="5532120" y="2377440"/>
            <a:ext cx="3108960" cy="310896"/>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Automated data reconciliation in real time</a:t>
            </a:r>
            <a:endParaRPr lang="en-US" sz="1100" dirty="0"/>
          </a:p>
        </p:txBody>
      </p:sp>
      <p:pic>
        <p:nvPicPr>
          <p:cNvPr id="27" name="Image 2" descr="preencoded.png"/>
          <p:cNvPicPr>
            <a:picLocks noChangeAspect="1"/>
          </p:cNvPicPr>
          <p:nvPr/>
        </p:nvPicPr>
        <p:blipFill>
          <a:blip r:embed="rId3"/>
          <a:stretch>
            <a:fillRect/>
          </a:stretch>
        </p:blipFill>
        <p:spPr>
          <a:xfrm>
            <a:off x="5166360" y="2926080"/>
            <a:ext cx="246888" cy="246888"/>
          </a:xfrm>
          <a:prstGeom prst="rect">
            <a:avLst/>
          </a:prstGeom>
        </p:spPr>
      </p:pic>
      <p:sp>
        <p:nvSpPr>
          <p:cNvPr id="28" name="Text 23"/>
          <p:cNvSpPr/>
          <p:nvPr/>
        </p:nvSpPr>
        <p:spPr>
          <a:xfrm>
            <a:off x="5532120" y="2907792"/>
            <a:ext cx="3108960" cy="310896"/>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Shared KPI definitions and data dictionary</a:t>
            </a:r>
            <a:endParaRPr lang="en-US" sz="1100" dirty="0"/>
          </a:p>
        </p:txBody>
      </p:sp>
      <p:pic>
        <p:nvPicPr>
          <p:cNvPr id="29" name="Image 3" descr="preencoded.png"/>
          <p:cNvPicPr>
            <a:picLocks noChangeAspect="1"/>
          </p:cNvPicPr>
          <p:nvPr/>
        </p:nvPicPr>
        <p:blipFill>
          <a:blip r:embed="rId3"/>
          <a:stretch>
            <a:fillRect/>
          </a:stretch>
        </p:blipFill>
        <p:spPr>
          <a:xfrm>
            <a:off x="5166360" y="3456432"/>
            <a:ext cx="246888" cy="246888"/>
          </a:xfrm>
          <a:prstGeom prst="rect">
            <a:avLst/>
          </a:prstGeom>
        </p:spPr>
      </p:pic>
      <p:sp>
        <p:nvSpPr>
          <p:cNvPr id="30" name="Text 24"/>
          <p:cNvSpPr/>
          <p:nvPr/>
        </p:nvSpPr>
        <p:spPr>
          <a:xfrm>
            <a:off x="5532120" y="3438144"/>
            <a:ext cx="3108960" cy="310896"/>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Cross-unit insights available in hours</a:t>
            </a:r>
            <a:endParaRPr lang="en-US" sz="1100" dirty="0"/>
          </a:p>
        </p:txBody>
      </p:sp>
      <p:pic>
        <p:nvPicPr>
          <p:cNvPr id="31" name="Image 4" descr="preencoded.png"/>
          <p:cNvPicPr>
            <a:picLocks noChangeAspect="1"/>
          </p:cNvPicPr>
          <p:nvPr/>
        </p:nvPicPr>
        <p:blipFill>
          <a:blip r:embed="rId3"/>
          <a:stretch>
            <a:fillRect/>
          </a:stretch>
        </p:blipFill>
        <p:spPr>
          <a:xfrm>
            <a:off x="5166360" y="3986784"/>
            <a:ext cx="246888" cy="246888"/>
          </a:xfrm>
          <a:prstGeom prst="rect">
            <a:avLst/>
          </a:prstGeom>
        </p:spPr>
      </p:pic>
      <p:sp>
        <p:nvSpPr>
          <p:cNvPr id="32" name="Text 25"/>
          <p:cNvSpPr/>
          <p:nvPr/>
        </p:nvSpPr>
        <p:spPr>
          <a:xfrm>
            <a:off x="5532120" y="3968496"/>
            <a:ext cx="3108960" cy="310896"/>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Proactive data quality monitoring built in</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Analytics Built for Financial Services</a:t>
            </a:r>
            <a:endParaRPr lang="en-US" sz="3400" dirty="0"/>
          </a:p>
        </p:txBody>
      </p:sp>
      <p:sp>
        <p:nvSpPr>
          <p:cNvPr id="3" name="Shape 1"/>
          <p:cNvSpPr/>
          <p:nvPr/>
        </p:nvSpPr>
        <p:spPr>
          <a:xfrm>
            <a:off x="365760" y="1005840"/>
            <a:ext cx="4114800" cy="3840480"/>
          </a:xfrm>
          <a:prstGeom prst="rect">
            <a:avLst/>
          </a:prstGeom>
          <a:solidFill>
            <a:srgbClr val="003057"/>
          </a:solidFill>
          <a:ln w="12700">
            <a:solidFill>
              <a:srgbClr val="333333"/>
            </a:solidFill>
            <a:prstDash val="solid"/>
          </a:ln>
          <a:effectLst>
            <a:outerShdw blurRad="127000" dist="38100" dir="8100000" algn="bl" rotWithShape="0">
              <a:srgbClr val="000000">
                <a:alpha val="10000"/>
              </a:srgbClr>
            </a:outerShdw>
          </a:effectLst>
        </p:spPr>
        <p:txBody>
          <a:bodyPr/>
          <a:lstStyle/>
          <a:p>
            <a:endParaRPr lang="en-US"/>
          </a:p>
        </p:txBody>
      </p:sp>
      <p:sp>
        <p:nvSpPr>
          <p:cNvPr id="4" name="Text 2"/>
          <p:cNvSpPr/>
          <p:nvPr/>
        </p:nvSpPr>
        <p:spPr>
          <a:xfrm>
            <a:off x="502920" y="1143000"/>
            <a:ext cx="3840480" cy="182880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Smarter</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Insights.</a:t>
            </a:r>
            <a:endParaRPr lang="en-US" sz="3400" dirty="0"/>
          </a:p>
          <a:p>
            <a:pPr marL="0" indent="0">
              <a:buNone/>
            </a:pPr>
            <a:r>
              <a:rPr lang="en-US" sz="3400" b="1" dirty="0">
                <a:solidFill>
                  <a:srgbClr val="FFFFFF"/>
                </a:solidFill>
                <a:latin typeface="Calibri" pitchFamily="34" charset="0"/>
                <a:ea typeface="Calibri" pitchFamily="34" charset="-122"/>
                <a:cs typeface="Calibri" pitchFamily="34" charset="-120"/>
              </a:rPr>
              <a:t>Faster.</a:t>
            </a:r>
            <a:endParaRPr lang="en-US" sz="3400" dirty="0"/>
          </a:p>
        </p:txBody>
      </p:sp>
      <p:sp>
        <p:nvSpPr>
          <p:cNvPr id="5" name="Text 3"/>
          <p:cNvSpPr/>
          <p:nvPr/>
        </p:nvSpPr>
        <p:spPr>
          <a:xfrm>
            <a:off x="548640" y="3108960"/>
            <a:ext cx="1828800" cy="594360"/>
          </a:xfrm>
          <a:prstGeom prst="rect">
            <a:avLst/>
          </a:prstGeom>
          <a:noFill/>
          <a:ln/>
        </p:spPr>
        <p:txBody>
          <a:bodyPr wrap="square" lIns="0" tIns="0" rIns="0" bIns="0" rtlCol="0" anchor="ctr"/>
          <a:lstStyle/>
          <a:p>
            <a:pPr marL="0" indent="0" algn="ctr">
              <a:buNone/>
            </a:pPr>
            <a:r>
              <a:rPr lang="en-US" sz="2600" b="1" dirty="0">
                <a:solidFill>
                  <a:srgbClr val="00A651"/>
                </a:solidFill>
                <a:latin typeface="Calibri" pitchFamily="34" charset="0"/>
                <a:ea typeface="Calibri" pitchFamily="34" charset="-122"/>
                <a:cs typeface="Calibri" pitchFamily="34" charset="-120"/>
              </a:rPr>
              <a:t>10×</a:t>
            </a:r>
            <a:endParaRPr lang="en-US" sz="2600" dirty="0"/>
          </a:p>
        </p:txBody>
      </p:sp>
      <p:sp>
        <p:nvSpPr>
          <p:cNvPr id="6" name="Text 4"/>
          <p:cNvSpPr/>
          <p:nvPr/>
        </p:nvSpPr>
        <p:spPr>
          <a:xfrm>
            <a:off x="502920" y="3703320"/>
            <a:ext cx="1920240" cy="365760"/>
          </a:xfrm>
          <a:prstGeom prst="rect">
            <a:avLst/>
          </a:prstGeom>
          <a:noFill/>
          <a:ln/>
        </p:spPr>
        <p:txBody>
          <a:bodyPr wrap="square" lIns="0" tIns="0" rIns="0" bIns="0" rtlCol="0" anchor="t"/>
          <a:lstStyle/>
          <a:p>
            <a:pPr marL="0" indent="0" algn="ctr">
              <a:buNone/>
            </a:pPr>
            <a:r>
              <a:rPr lang="en-US" sz="1000" dirty="0">
                <a:solidFill>
                  <a:srgbClr val="8FA0B4"/>
                </a:solidFill>
                <a:latin typeface="Calibri" pitchFamily="34" charset="0"/>
                <a:ea typeface="Calibri" pitchFamily="34" charset="-122"/>
                <a:cs typeface="Calibri" pitchFamily="34" charset="-120"/>
              </a:rPr>
              <a:t>faster time-to-insight</a:t>
            </a:r>
            <a:endParaRPr lang="en-US" sz="1000" dirty="0"/>
          </a:p>
        </p:txBody>
      </p:sp>
      <p:sp>
        <p:nvSpPr>
          <p:cNvPr id="7" name="Text 5"/>
          <p:cNvSpPr/>
          <p:nvPr/>
        </p:nvSpPr>
        <p:spPr>
          <a:xfrm>
            <a:off x="2468880" y="3108960"/>
            <a:ext cx="1828800" cy="594360"/>
          </a:xfrm>
          <a:prstGeom prst="rect">
            <a:avLst/>
          </a:prstGeom>
          <a:noFill/>
          <a:ln/>
        </p:spPr>
        <p:txBody>
          <a:bodyPr wrap="square" lIns="0" tIns="0" rIns="0" bIns="0" rtlCol="0" anchor="ctr"/>
          <a:lstStyle/>
          <a:p>
            <a:pPr marL="0" indent="0" algn="ctr">
              <a:buNone/>
            </a:pPr>
            <a:r>
              <a:rPr lang="en-US" sz="2600" b="1" dirty="0">
                <a:solidFill>
                  <a:srgbClr val="00A651"/>
                </a:solidFill>
                <a:latin typeface="Calibri" pitchFamily="34" charset="0"/>
                <a:ea typeface="Calibri" pitchFamily="34" charset="-122"/>
                <a:cs typeface="Calibri" pitchFamily="34" charset="-120"/>
              </a:rPr>
              <a:t>Real-time</a:t>
            </a:r>
            <a:endParaRPr lang="en-US" sz="2600" dirty="0"/>
          </a:p>
        </p:txBody>
      </p:sp>
      <p:sp>
        <p:nvSpPr>
          <p:cNvPr id="8" name="Text 6"/>
          <p:cNvSpPr/>
          <p:nvPr/>
        </p:nvSpPr>
        <p:spPr>
          <a:xfrm>
            <a:off x="2423160" y="3703320"/>
            <a:ext cx="1920240" cy="365760"/>
          </a:xfrm>
          <a:prstGeom prst="rect">
            <a:avLst/>
          </a:prstGeom>
          <a:noFill/>
          <a:ln/>
        </p:spPr>
        <p:txBody>
          <a:bodyPr wrap="square" lIns="0" tIns="0" rIns="0" bIns="0" rtlCol="0" anchor="t"/>
          <a:lstStyle/>
          <a:p>
            <a:pPr marL="0" indent="0" algn="ctr">
              <a:buNone/>
            </a:pPr>
            <a:r>
              <a:rPr lang="en-US" sz="1000" dirty="0">
                <a:solidFill>
                  <a:srgbClr val="8FA0B4"/>
                </a:solidFill>
                <a:latin typeface="Calibri" pitchFamily="34" charset="0"/>
                <a:ea typeface="Calibri" pitchFamily="34" charset="-122"/>
                <a:cs typeface="Calibri" pitchFamily="34" charset="-120"/>
              </a:rPr>
              <a:t>member intelligence</a:t>
            </a:r>
            <a:endParaRPr lang="en-US" sz="1000" dirty="0"/>
          </a:p>
        </p:txBody>
      </p:sp>
      <p:sp>
        <p:nvSpPr>
          <p:cNvPr id="9" name="Shape 7"/>
          <p:cNvSpPr/>
          <p:nvPr/>
        </p:nvSpPr>
        <p:spPr>
          <a:xfrm>
            <a:off x="4754880" y="1005840"/>
            <a:ext cx="20116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8"/>
          <p:cNvSpPr/>
          <p:nvPr/>
        </p:nvSpPr>
        <p:spPr>
          <a:xfrm>
            <a:off x="5440680" y="1143000"/>
            <a:ext cx="640080" cy="640080"/>
          </a:xfrm>
          <a:prstGeom prst="ellipse">
            <a:avLst/>
          </a:prstGeom>
          <a:solidFill>
            <a:srgbClr val="00A651"/>
          </a:solidFill>
          <a:ln w="12700">
            <a:solidFill>
              <a:srgbClr val="333333"/>
            </a:solidFill>
            <a:prstDash val="solid"/>
          </a:ln>
        </p:spPr>
        <p:txBody>
          <a:bodyPr/>
          <a:lstStyle/>
          <a:p>
            <a:endParaRPr lang="en-US"/>
          </a:p>
        </p:txBody>
      </p:sp>
      <p:pic>
        <p:nvPicPr>
          <p:cNvPr id="11" name="Image 0" descr="preencoded.png"/>
          <p:cNvPicPr>
            <a:picLocks noChangeAspect="1"/>
          </p:cNvPicPr>
          <p:nvPr/>
        </p:nvPicPr>
        <p:blipFill>
          <a:blip r:embed="rId3"/>
          <a:stretch>
            <a:fillRect/>
          </a:stretch>
        </p:blipFill>
        <p:spPr>
          <a:xfrm>
            <a:off x="5550408" y="1234440"/>
            <a:ext cx="411480" cy="411480"/>
          </a:xfrm>
          <a:prstGeom prst="rect">
            <a:avLst/>
          </a:prstGeom>
        </p:spPr>
      </p:pic>
      <p:sp>
        <p:nvSpPr>
          <p:cNvPr id="12" name="Text 9"/>
          <p:cNvSpPr/>
          <p:nvPr/>
        </p:nvSpPr>
        <p:spPr>
          <a:xfrm>
            <a:off x="4846320" y="1828800"/>
            <a:ext cx="1828800" cy="365760"/>
          </a:xfrm>
          <a:prstGeom prst="rect">
            <a:avLst/>
          </a:prstGeom>
          <a:noFill/>
          <a:ln/>
        </p:spPr>
        <p:txBody>
          <a:bodyPr wrap="square" lIns="0" tIns="0" rIns="0" bIns="0" rtlCol="0" anchor="t"/>
          <a:lstStyle/>
          <a:p>
            <a:pPr marL="0" indent="0" algn="ctr">
              <a:buNone/>
            </a:pPr>
            <a:r>
              <a:rPr lang="en-US" sz="1200" b="1" dirty="0">
                <a:solidFill>
                  <a:srgbClr val="1A202C"/>
                </a:solidFill>
                <a:latin typeface="Calibri" pitchFamily="34" charset="0"/>
                <a:ea typeface="Calibri" pitchFamily="34" charset="-122"/>
                <a:cs typeface="Calibri" pitchFamily="34" charset="-120"/>
              </a:rPr>
              <a:t>Pre-Built Dashboards</a:t>
            </a:r>
            <a:endParaRPr lang="en-US" sz="1200" dirty="0"/>
          </a:p>
        </p:txBody>
      </p:sp>
      <p:sp>
        <p:nvSpPr>
          <p:cNvPr id="13" name="Text 10"/>
          <p:cNvSpPr/>
          <p:nvPr/>
        </p:nvSpPr>
        <p:spPr>
          <a:xfrm>
            <a:off x="4846320" y="2194560"/>
            <a:ext cx="1828800" cy="411480"/>
          </a:xfrm>
          <a:prstGeom prst="rect">
            <a:avLst/>
          </a:prstGeom>
          <a:noFill/>
          <a:ln/>
        </p:spPr>
        <p:txBody>
          <a:bodyPr wrap="square" lIns="0" tIns="0" rIns="0" bIns="0" rtlCol="0" anchor="t"/>
          <a:lstStyle/>
          <a:p>
            <a:pPr marL="0" indent="0" algn="ctr">
              <a:buNone/>
            </a:pPr>
            <a:r>
              <a:rPr lang="en-US" sz="950" dirty="0">
                <a:solidFill>
                  <a:srgbClr val="4A5568"/>
                </a:solidFill>
                <a:latin typeface="Calibri" pitchFamily="34" charset="0"/>
                <a:ea typeface="Calibri" pitchFamily="34" charset="-122"/>
                <a:cs typeface="Calibri" pitchFamily="34" charset="-120"/>
              </a:rPr>
              <a:t>Ready-to-use BI dashboards for growth, risk, and member health</a:t>
            </a:r>
            <a:endParaRPr lang="en-US" sz="950" dirty="0"/>
          </a:p>
        </p:txBody>
      </p:sp>
      <p:sp>
        <p:nvSpPr>
          <p:cNvPr id="14" name="Shape 11"/>
          <p:cNvSpPr/>
          <p:nvPr/>
        </p:nvSpPr>
        <p:spPr>
          <a:xfrm>
            <a:off x="6903720" y="1005840"/>
            <a:ext cx="20116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5" name="Shape 12"/>
          <p:cNvSpPr/>
          <p:nvPr/>
        </p:nvSpPr>
        <p:spPr>
          <a:xfrm>
            <a:off x="7589520" y="1143000"/>
            <a:ext cx="640080" cy="640080"/>
          </a:xfrm>
          <a:prstGeom prst="ellipse">
            <a:avLst/>
          </a:prstGeom>
          <a:solidFill>
            <a:srgbClr val="009B8D"/>
          </a:solidFill>
          <a:ln w="12700">
            <a:solidFill>
              <a:srgbClr val="333333"/>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7699248" y="1234440"/>
            <a:ext cx="411480" cy="411480"/>
          </a:xfrm>
          <a:prstGeom prst="rect">
            <a:avLst/>
          </a:prstGeom>
        </p:spPr>
      </p:pic>
      <p:sp>
        <p:nvSpPr>
          <p:cNvPr id="17" name="Text 13"/>
          <p:cNvSpPr/>
          <p:nvPr/>
        </p:nvSpPr>
        <p:spPr>
          <a:xfrm>
            <a:off x="6995160" y="1828800"/>
            <a:ext cx="1828800" cy="365760"/>
          </a:xfrm>
          <a:prstGeom prst="rect">
            <a:avLst/>
          </a:prstGeom>
          <a:noFill/>
          <a:ln/>
        </p:spPr>
        <p:txBody>
          <a:bodyPr wrap="square" lIns="0" tIns="0" rIns="0" bIns="0" rtlCol="0" anchor="t"/>
          <a:lstStyle/>
          <a:p>
            <a:pPr marL="0" indent="0" algn="ctr">
              <a:buNone/>
            </a:pPr>
            <a:r>
              <a:rPr lang="en-US" sz="1200" b="1" dirty="0">
                <a:solidFill>
                  <a:srgbClr val="1A202C"/>
                </a:solidFill>
                <a:latin typeface="Calibri" pitchFamily="34" charset="0"/>
                <a:ea typeface="Calibri" pitchFamily="34" charset="-122"/>
                <a:cs typeface="Calibri" pitchFamily="34" charset="-120"/>
              </a:rPr>
              <a:t>Self-Service Analytics</a:t>
            </a:r>
            <a:endParaRPr lang="en-US" sz="1200" dirty="0"/>
          </a:p>
        </p:txBody>
      </p:sp>
      <p:sp>
        <p:nvSpPr>
          <p:cNvPr id="18" name="Text 14"/>
          <p:cNvSpPr/>
          <p:nvPr/>
        </p:nvSpPr>
        <p:spPr>
          <a:xfrm>
            <a:off x="6995160" y="2194560"/>
            <a:ext cx="1828800" cy="411480"/>
          </a:xfrm>
          <a:prstGeom prst="rect">
            <a:avLst/>
          </a:prstGeom>
          <a:noFill/>
          <a:ln/>
        </p:spPr>
        <p:txBody>
          <a:bodyPr wrap="square" lIns="0" tIns="0" rIns="0" bIns="0" rtlCol="0" anchor="t"/>
          <a:lstStyle/>
          <a:p>
            <a:pPr marL="0" indent="0" algn="ctr">
              <a:buNone/>
            </a:pPr>
            <a:r>
              <a:rPr lang="en-US" sz="950" dirty="0">
                <a:solidFill>
                  <a:srgbClr val="4A5568"/>
                </a:solidFill>
                <a:latin typeface="Calibri" pitchFamily="34" charset="0"/>
                <a:ea typeface="Calibri" pitchFamily="34" charset="-122"/>
                <a:cs typeface="Calibri" pitchFamily="34" charset="-120"/>
              </a:rPr>
              <a:t>Empowers business users with governed, no-code data exploration</a:t>
            </a:r>
            <a:endParaRPr lang="en-US" sz="950" dirty="0"/>
          </a:p>
        </p:txBody>
      </p:sp>
      <p:sp>
        <p:nvSpPr>
          <p:cNvPr id="19" name="Shape 15"/>
          <p:cNvSpPr/>
          <p:nvPr/>
        </p:nvSpPr>
        <p:spPr>
          <a:xfrm>
            <a:off x="4754880" y="2834640"/>
            <a:ext cx="20116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6"/>
          <p:cNvSpPr/>
          <p:nvPr/>
        </p:nvSpPr>
        <p:spPr>
          <a:xfrm>
            <a:off x="5440680" y="2971800"/>
            <a:ext cx="640080" cy="640080"/>
          </a:xfrm>
          <a:prstGeom prst="ellipse">
            <a:avLst/>
          </a:prstGeom>
          <a:solidFill>
            <a:srgbClr val="003057"/>
          </a:solidFill>
          <a:ln w="12700">
            <a:solidFill>
              <a:srgbClr val="333333"/>
            </a:solidFill>
            <a:prstDash val="solid"/>
          </a:ln>
        </p:spPr>
        <p:txBody>
          <a:bodyPr/>
          <a:lstStyle/>
          <a:p>
            <a:endParaRPr lang="en-US"/>
          </a:p>
        </p:txBody>
      </p:sp>
      <p:pic>
        <p:nvPicPr>
          <p:cNvPr id="21" name="Image 2" descr="preencoded.png"/>
          <p:cNvPicPr>
            <a:picLocks noChangeAspect="1"/>
          </p:cNvPicPr>
          <p:nvPr/>
        </p:nvPicPr>
        <p:blipFill>
          <a:blip r:embed="rId5"/>
          <a:stretch>
            <a:fillRect/>
          </a:stretch>
        </p:blipFill>
        <p:spPr>
          <a:xfrm>
            <a:off x="5550408" y="3063240"/>
            <a:ext cx="411480" cy="411480"/>
          </a:xfrm>
          <a:prstGeom prst="rect">
            <a:avLst/>
          </a:prstGeom>
        </p:spPr>
      </p:pic>
      <p:sp>
        <p:nvSpPr>
          <p:cNvPr id="22" name="Text 17"/>
          <p:cNvSpPr/>
          <p:nvPr/>
        </p:nvSpPr>
        <p:spPr>
          <a:xfrm>
            <a:off x="4846320" y="3657600"/>
            <a:ext cx="1828800" cy="365760"/>
          </a:xfrm>
          <a:prstGeom prst="rect">
            <a:avLst/>
          </a:prstGeom>
          <a:noFill/>
          <a:ln/>
        </p:spPr>
        <p:txBody>
          <a:bodyPr wrap="square" lIns="0" tIns="0" rIns="0" bIns="0" rtlCol="0" anchor="t"/>
          <a:lstStyle/>
          <a:p>
            <a:pPr marL="0" indent="0" algn="ctr">
              <a:buNone/>
            </a:pPr>
            <a:r>
              <a:rPr lang="en-US" sz="1200" b="1" dirty="0">
                <a:solidFill>
                  <a:srgbClr val="1A202C"/>
                </a:solidFill>
                <a:latin typeface="Calibri" pitchFamily="34" charset="0"/>
                <a:ea typeface="Calibri" pitchFamily="34" charset="-122"/>
                <a:cs typeface="Calibri" pitchFamily="34" charset="-120"/>
              </a:rPr>
              <a:t>Predictive Scoring</a:t>
            </a:r>
            <a:endParaRPr lang="en-US" sz="1200" dirty="0"/>
          </a:p>
        </p:txBody>
      </p:sp>
      <p:sp>
        <p:nvSpPr>
          <p:cNvPr id="23" name="Text 18"/>
          <p:cNvSpPr/>
          <p:nvPr/>
        </p:nvSpPr>
        <p:spPr>
          <a:xfrm>
            <a:off x="4846320" y="4023360"/>
            <a:ext cx="1828800" cy="411480"/>
          </a:xfrm>
          <a:prstGeom prst="rect">
            <a:avLst/>
          </a:prstGeom>
          <a:noFill/>
          <a:ln/>
        </p:spPr>
        <p:txBody>
          <a:bodyPr wrap="square" lIns="0" tIns="0" rIns="0" bIns="0" rtlCol="0" anchor="t"/>
          <a:lstStyle/>
          <a:p>
            <a:pPr marL="0" indent="0" algn="ctr">
              <a:buNone/>
            </a:pPr>
            <a:r>
              <a:rPr lang="en-US" sz="950" dirty="0">
                <a:solidFill>
                  <a:srgbClr val="4A5568"/>
                </a:solidFill>
                <a:latin typeface="Calibri" pitchFamily="34" charset="0"/>
                <a:ea typeface="Calibri" pitchFamily="34" charset="-122"/>
                <a:cs typeface="Calibri" pitchFamily="34" charset="-120"/>
              </a:rPr>
              <a:t>ML models for churn, product fit, and lifetime value out of the box</a:t>
            </a:r>
            <a:endParaRPr lang="en-US" sz="950" dirty="0"/>
          </a:p>
        </p:txBody>
      </p:sp>
      <p:sp>
        <p:nvSpPr>
          <p:cNvPr id="24" name="Shape 19"/>
          <p:cNvSpPr/>
          <p:nvPr/>
        </p:nvSpPr>
        <p:spPr>
          <a:xfrm>
            <a:off x="6903720" y="2834640"/>
            <a:ext cx="20116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5" name="Shape 20"/>
          <p:cNvSpPr/>
          <p:nvPr/>
        </p:nvSpPr>
        <p:spPr>
          <a:xfrm>
            <a:off x="7589520" y="2971800"/>
            <a:ext cx="640080" cy="640080"/>
          </a:xfrm>
          <a:prstGeom prst="ellipse">
            <a:avLst/>
          </a:prstGeom>
          <a:solidFill>
            <a:srgbClr val="F5A623"/>
          </a:solidFill>
          <a:ln w="12700">
            <a:solidFill>
              <a:srgbClr val="333333"/>
            </a:solidFill>
            <a:prstDash val="solid"/>
          </a:ln>
        </p:spPr>
        <p:txBody>
          <a:bodyPr/>
          <a:lstStyle/>
          <a:p>
            <a:endParaRPr lang="en-US"/>
          </a:p>
        </p:txBody>
      </p:sp>
      <p:pic>
        <p:nvPicPr>
          <p:cNvPr id="26" name="Image 3" descr="preencoded.png"/>
          <p:cNvPicPr>
            <a:picLocks noChangeAspect="1"/>
          </p:cNvPicPr>
          <p:nvPr/>
        </p:nvPicPr>
        <p:blipFill>
          <a:blip r:embed="rId6"/>
          <a:stretch>
            <a:fillRect/>
          </a:stretch>
        </p:blipFill>
        <p:spPr>
          <a:xfrm>
            <a:off x="7699248" y="3063240"/>
            <a:ext cx="411480" cy="411480"/>
          </a:xfrm>
          <a:prstGeom prst="rect">
            <a:avLst/>
          </a:prstGeom>
        </p:spPr>
      </p:pic>
      <p:sp>
        <p:nvSpPr>
          <p:cNvPr id="27" name="Text 21"/>
          <p:cNvSpPr/>
          <p:nvPr/>
        </p:nvSpPr>
        <p:spPr>
          <a:xfrm>
            <a:off x="6995160" y="3657600"/>
            <a:ext cx="1828800" cy="365760"/>
          </a:xfrm>
          <a:prstGeom prst="rect">
            <a:avLst/>
          </a:prstGeom>
          <a:noFill/>
          <a:ln/>
        </p:spPr>
        <p:txBody>
          <a:bodyPr wrap="square" lIns="0" tIns="0" rIns="0" bIns="0" rtlCol="0" anchor="t"/>
          <a:lstStyle/>
          <a:p>
            <a:pPr marL="0" indent="0" algn="ctr">
              <a:buNone/>
            </a:pPr>
            <a:r>
              <a:rPr lang="en-US" sz="1200" b="1" dirty="0">
                <a:solidFill>
                  <a:srgbClr val="1A202C"/>
                </a:solidFill>
                <a:latin typeface="Calibri" pitchFamily="34" charset="0"/>
                <a:ea typeface="Calibri" pitchFamily="34" charset="-122"/>
                <a:cs typeface="Calibri" pitchFamily="34" charset="-120"/>
              </a:rPr>
              <a:t>Embedded Reporting</a:t>
            </a:r>
            <a:endParaRPr lang="en-US" sz="1200" dirty="0"/>
          </a:p>
        </p:txBody>
      </p:sp>
      <p:sp>
        <p:nvSpPr>
          <p:cNvPr id="28" name="Text 22"/>
          <p:cNvSpPr/>
          <p:nvPr/>
        </p:nvSpPr>
        <p:spPr>
          <a:xfrm>
            <a:off x="6995160" y="4023360"/>
            <a:ext cx="1828800" cy="411480"/>
          </a:xfrm>
          <a:prstGeom prst="rect">
            <a:avLst/>
          </a:prstGeom>
          <a:noFill/>
          <a:ln/>
        </p:spPr>
        <p:txBody>
          <a:bodyPr wrap="square" lIns="0" tIns="0" rIns="0" bIns="0" rtlCol="0" anchor="t"/>
          <a:lstStyle/>
          <a:p>
            <a:pPr marL="0" indent="0" algn="ctr">
              <a:buNone/>
            </a:pPr>
            <a:r>
              <a:rPr lang="en-US" sz="950" dirty="0">
                <a:solidFill>
                  <a:srgbClr val="4A5568"/>
                </a:solidFill>
                <a:latin typeface="Calibri" pitchFamily="34" charset="0"/>
                <a:ea typeface="Calibri" pitchFamily="34" charset="-122"/>
                <a:cs typeface="Calibri" pitchFamily="34" charset="-120"/>
              </a:rPr>
              <a:t>Analytics woven directly into your core workflows and products</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Data Science at Enterprise Scale</a:t>
            </a:r>
            <a:endParaRPr lang="en-US" sz="34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JHBI gives data scientists the harmonized, governed data they need to build models that actually work in production.</a:t>
            </a:r>
            <a:endParaRPr lang="en-US" sz="1300" dirty="0"/>
          </a:p>
        </p:txBody>
      </p:sp>
      <p:sp>
        <p:nvSpPr>
          <p:cNvPr id="4" name="Shape 2"/>
          <p:cNvSpPr/>
          <p:nvPr/>
        </p:nvSpPr>
        <p:spPr>
          <a:xfrm>
            <a:off x="365760" y="1325880"/>
            <a:ext cx="4114800" cy="16002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548640" y="1783080"/>
            <a:ext cx="685800" cy="685800"/>
          </a:xfrm>
          <a:prstGeom prst="ellipse">
            <a:avLst/>
          </a:prstGeom>
          <a:solidFill>
            <a:srgbClr val="003057"/>
          </a:solidFill>
          <a:ln w="12700">
            <a:solidFill>
              <a:srgbClr val="333333"/>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667512" y="1892808"/>
            <a:ext cx="438912" cy="438912"/>
          </a:xfrm>
          <a:prstGeom prst="rect">
            <a:avLst/>
          </a:prstGeom>
        </p:spPr>
      </p:pic>
      <p:sp>
        <p:nvSpPr>
          <p:cNvPr id="7" name="Text 4"/>
          <p:cNvSpPr/>
          <p:nvPr/>
        </p:nvSpPr>
        <p:spPr>
          <a:xfrm>
            <a:off x="1371600" y="1600200"/>
            <a:ext cx="2926080" cy="384048"/>
          </a:xfrm>
          <a:prstGeom prst="rect">
            <a:avLst/>
          </a:prstGeom>
          <a:noFill/>
          <a:ln/>
        </p:spPr>
        <p:txBody>
          <a:bodyPr wrap="square" lIns="0" tIns="0" rIns="0" bIns="0" rtlCol="0" anchor="ctr"/>
          <a:lstStyle/>
          <a:p>
            <a:pPr marL="0" indent="0">
              <a:buNone/>
            </a:pPr>
            <a:r>
              <a:rPr lang="en-US" sz="1500" b="1" dirty="0">
                <a:solidFill>
                  <a:srgbClr val="003057"/>
                </a:solidFill>
                <a:latin typeface="Calibri" pitchFamily="34" charset="0"/>
                <a:ea typeface="Calibri" pitchFamily="34" charset="-122"/>
                <a:cs typeface="Calibri" pitchFamily="34" charset="-120"/>
              </a:rPr>
              <a:t>Feature Store</a:t>
            </a:r>
            <a:endParaRPr lang="en-US" sz="1500" dirty="0"/>
          </a:p>
        </p:txBody>
      </p:sp>
      <p:sp>
        <p:nvSpPr>
          <p:cNvPr id="8" name="Text 5"/>
          <p:cNvSpPr/>
          <p:nvPr/>
        </p:nvSpPr>
        <p:spPr>
          <a:xfrm>
            <a:off x="1371600" y="2039112"/>
            <a:ext cx="2926080" cy="77724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Pre-computed, curated features ready for model training — no more duplicate feature engineering across teams</a:t>
            </a:r>
            <a:endParaRPr lang="en-US" sz="1100" dirty="0"/>
          </a:p>
        </p:txBody>
      </p:sp>
      <p:sp>
        <p:nvSpPr>
          <p:cNvPr id="9" name="Shape 6"/>
          <p:cNvSpPr/>
          <p:nvPr/>
        </p:nvSpPr>
        <p:spPr>
          <a:xfrm>
            <a:off x="4754880" y="1325880"/>
            <a:ext cx="4114800" cy="16002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7"/>
          <p:cNvSpPr/>
          <p:nvPr/>
        </p:nvSpPr>
        <p:spPr>
          <a:xfrm>
            <a:off x="4937760" y="1783080"/>
            <a:ext cx="685800" cy="685800"/>
          </a:xfrm>
          <a:prstGeom prst="ellipse">
            <a:avLst/>
          </a:prstGeom>
          <a:solidFill>
            <a:srgbClr val="009B8D"/>
          </a:solidFill>
          <a:ln w="12700">
            <a:solidFill>
              <a:srgbClr val="33333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5056632" y="1892808"/>
            <a:ext cx="438912" cy="438912"/>
          </a:xfrm>
          <a:prstGeom prst="rect">
            <a:avLst/>
          </a:prstGeom>
        </p:spPr>
      </p:pic>
      <p:sp>
        <p:nvSpPr>
          <p:cNvPr id="12" name="Text 8"/>
          <p:cNvSpPr/>
          <p:nvPr/>
        </p:nvSpPr>
        <p:spPr>
          <a:xfrm>
            <a:off x="5760720" y="1600200"/>
            <a:ext cx="2926080" cy="384048"/>
          </a:xfrm>
          <a:prstGeom prst="rect">
            <a:avLst/>
          </a:prstGeom>
          <a:noFill/>
          <a:ln/>
        </p:spPr>
        <p:txBody>
          <a:bodyPr wrap="square" lIns="0" tIns="0" rIns="0" bIns="0" rtlCol="0" anchor="ctr"/>
          <a:lstStyle/>
          <a:p>
            <a:pPr marL="0" indent="0">
              <a:buNone/>
            </a:pPr>
            <a:r>
              <a:rPr lang="en-US" sz="1500" b="1" dirty="0">
                <a:solidFill>
                  <a:srgbClr val="009B8D"/>
                </a:solidFill>
                <a:latin typeface="Calibri" pitchFamily="34" charset="0"/>
                <a:ea typeface="Calibri" pitchFamily="34" charset="-122"/>
                <a:cs typeface="Calibri" pitchFamily="34" charset="-120"/>
              </a:rPr>
              <a:t>Model Governance</a:t>
            </a:r>
            <a:endParaRPr lang="en-US" sz="1500" dirty="0"/>
          </a:p>
        </p:txBody>
      </p:sp>
      <p:sp>
        <p:nvSpPr>
          <p:cNvPr id="13" name="Text 9"/>
          <p:cNvSpPr/>
          <p:nvPr/>
        </p:nvSpPr>
        <p:spPr>
          <a:xfrm>
            <a:off x="5760720" y="2039112"/>
            <a:ext cx="2926080" cy="77724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Track model versions, lineage, and performance with built-in MLOps tooling and audit trails</a:t>
            </a:r>
            <a:endParaRPr lang="en-US" sz="1100" dirty="0"/>
          </a:p>
        </p:txBody>
      </p:sp>
      <p:sp>
        <p:nvSpPr>
          <p:cNvPr id="14" name="Shape 10"/>
          <p:cNvSpPr/>
          <p:nvPr/>
        </p:nvSpPr>
        <p:spPr>
          <a:xfrm>
            <a:off x="365760" y="3154680"/>
            <a:ext cx="4114800" cy="16002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5" name="Shape 11"/>
          <p:cNvSpPr/>
          <p:nvPr/>
        </p:nvSpPr>
        <p:spPr>
          <a:xfrm>
            <a:off x="548640" y="3611880"/>
            <a:ext cx="685800" cy="685800"/>
          </a:xfrm>
          <a:prstGeom prst="ellipse">
            <a:avLst/>
          </a:prstGeom>
          <a:solidFill>
            <a:srgbClr val="00A651"/>
          </a:solidFill>
          <a:ln w="12700">
            <a:solidFill>
              <a:srgbClr val="333333"/>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67512" y="3721608"/>
            <a:ext cx="438912" cy="438912"/>
          </a:xfrm>
          <a:prstGeom prst="rect">
            <a:avLst/>
          </a:prstGeom>
        </p:spPr>
      </p:pic>
      <p:sp>
        <p:nvSpPr>
          <p:cNvPr id="17" name="Text 12"/>
          <p:cNvSpPr/>
          <p:nvPr/>
        </p:nvSpPr>
        <p:spPr>
          <a:xfrm>
            <a:off x="1371600" y="3429000"/>
            <a:ext cx="2926080" cy="384048"/>
          </a:xfrm>
          <a:prstGeom prst="rect">
            <a:avLst/>
          </a:prstGeom>
          <a:noFill/>
          <a:ln/>
        </p:spPr>
        <p:txBody>
          <a:bodyPr wrap="square" lIns="0" tIns="0" rIns="0" bIns="0" rtlCol="0" anchor="ctr"/>
          <a:lstStyle/>
          <a:p>
            <a:pPr marL="0" indent="0">
              <a:buNone/>
            </a:pPr>
            <a:r>
              <a:rPr lang="en-US" sz="1500" b="1" dirty="0">
                <a:solidFill>
                  <a:srgbClr val="00A651"/>
                </a:solidFill>
                <a:latin typeface="Calibri" pitchFamily="34" charset="0"/>
                <a:ea typeface="Calibri" pitchFamily="34" charset="-122"/>
                <a:cs typeface="Calibri" pitchFamily="34" charset="-120"/>
              </a:rPr>
              <a:t>Scalable Compute</a:t>
            </a:r>
            <a:endParaRPr lang="en-US" sz="1500" dirty="0"/>
          </a:p>
        </p:txBody>
      </p:sp>
      <p:sp>
        <p:nvSpPr>
          <p:cNvPr id="18" name="Text 13"/>
          <p:cNvSpPr/>
          <p:nvPr/>
        </p:nvSpPr>
        <p:spPr>
          <a:xfrm>
            <a:off x="1371600" y="3867912"/>
            <a:ext cx="2926080" cy="77724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Run notebooks and training jobs on cloud-scale infrastructure without managing clusters</a:t>
            </a:r>
            <a:endParaRPr lang="en-US" sz="1100" dirty="0"/>
          </a:p>
        </p:txBody>
      </p:sp>
      <p:sp>
        <p:nvSpPr>
          <p:cNvPr id="19" name="Shape 14"/>
          <p:cNvSpPr/>
          <p:nvPr/>
        </p:nvSpPr>
        <p:spPr>
          <a:xfrm>
            <a:off x="4754880" y="3154680"/>
            <a:ext cx="4114800" cy="160020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5"/>
          <p:cNvSpPr/>
          <p:nvPr/>
        </p:nvSpPr>
        <p:spPr>
          <a:xfrm>
            <a:off x="4937760" y="3611880"/>
            <a:ext cx="685800" cy="685800"/>
          </a:xfrm>
          <a:prstGeom prst="ellipse">
            <a:avLst/>
          </a:prstGeom>
          <a:solidFill>
            <a:srgbClr val="F5A623"/>
          </a:solidFill>
          <a:ln w="12700">
            <a:solidFill>
              <a:srgbClr val="333333"/>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5056632" y="3721608"/>
            <a:ext cx="438912" cy="438912"/>
          </a:xfrm>
          <a:prstGeom prst="rect">
            <a:avLst/>
          </a:prstGeom>
        </p:spPr>
      </p:pic>
      <p:sp>
        <p:nvSpPr>
          <p:cNvPr id="22" name="Text 16"/>
          <p:cNvSpPr/>
          <p:nvPr/>
        </p:nvSpPr>
        <p:spPr>
          <a:xfrm>
            <a:off x="5760720" y="3429000"/>
            <a:ext cx="2926080" cy="384048"/>
          </a:xfrm>
          <a:prstGeom prst="rect">
            <a:avLst/>
          </a:prstGeom>
          <a:noFill/>
          <a:ln/>
        </p:spPr>
        <p:txBody>
          <a:bodyPr wrap="square" lIns="0" tIns="0" rIns="0" bIns="0" rtlCol="0" anchor="ctr"/>
          <a:lstStyle/>
          <a:p>
            <a:pPr marL="0" indent="0">
              <a:buNone/>
            </a:pPr>
            <a:r>
              <a:rPr lang="en-US" sz="1500" b="1" dirty="0">
                <a:solidFill>
                  <a:srgbClr val="F5A623"/>
                </a:solidFill>
                <a:latin typeface="Calibri" pitchFamily="34" charset="0"/>
                <a:ea typeface="Calibri" pitchFamily="34" charset="-122"/>
                <a:cs typeface="Calibri" pitchFamily="34" charset="-120"/>
              </a:rPr>
              <a:t>API-First Output</a:t>
            </a:r>
            <a:endParaRPr lang="en-US" sz="1500" dirty="0"/>
          </a:p>
        </p:txBody>
      </p:sp>
      <p:sp>
        <p:nvSpPr>
          <p:cNvPr id="23" name="Text 17"/>
          <p:cNvSpPr/>
          <p:nvPr/>
        </p:nvSpPr>
        <p:spPr>
          <a:xfrm>
            <a:off x="5760720" y="3867912"/>
            <a:ext cx="2926080" cy="777240"/>
          </a:xfrm>
          <a:prstGeom prst="rect">
            <a:avLst/>
          </a:prstGeom>
          <a:noFill/>
          <a:ln/>
        </p:spPr>
        <p:txBody>
          <a:bodyPr wrap="square" lIns="0" tIns="0" rIns="0" bIns="0" rtlCol="0" anchor="t"/>
          <a:lstStyle/>
          <a:p>
            <a:pPr marL="0" indent="0">
              <a:buNone/>
            </a:pPr>
            <a:r>
              <a:rPr lang="en-US" sz="1100" dirty="0">
                <a:solidFill>
                  <a:srgbClr val="4A5568"/>
                </a:solidFill>
                <a:latin typeface="Calibri" pitchFamily="34" charset="0"/>
                <a:ea typeface="Calibri" pitchFamily="34" charset="-122"/>
                <a:cs typeface="Calibri" pitchFamily="34" charset="-120"/>
              </a:rPr>
              <a:t>Deploy model predictions directly into member-facing products and downstream workflows via APIs</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Data Governance: Trust as a Foundation</a:t>
            </a:r>
            <a:endParaRPr lang="en-US" sz="3400" dirty="0"/>
          </a:p>
        </p:txBody>
      </p:sp>
      <p:sp>
        <p:nvSpPr>
          <p:cNvPr id="3" name="Text 1"/>
          <p:cNvSpPr/>
          <p:nvPr/>
        </p:nvSpPr>
        <p:spPr>
          <a:xfrm>
            <a:off x="457200" y="850392"/>
            <a:ext cx="8229600" cy="292608"/>
          </a:xfrm>
          <a:prstGeom prst="rect">
            <a:avLst/>
          </a:prstGeom>
          <a:noFill/>
          <a:ln/>
        </p:spPr>
        <p:txBody>
          <a:bodyPr wrap="square" lIns="0" tIns="0" rIns="0" bIns="0" rtlCol="0" anchor="t"/>
          <a:lstStyle/>
          <a:p>
            <a:pPr marL="0" indent="0">
              <a:buNone/>
            </a:pPr>
            <a:r>
              <a:rPr lang="en-US" sz="1200" i="1" dirty="0">
                <a:solidFill>
                  <a:srgbClr val="009B8D"/>
                </a:solidFill>
                <a:latin typeface="Calibri" pitchFamily="34" charset="0"/>
                <a:ea typeface="Calibri" pitchFamily="34" charset="-122"/>
                <a:cs typeface="Calibri" pitchFamily="34" charset="-120"/>
              </a:rPr>
              <a:t>Presented by Elspeth Bloodgood, Senior Advisor — Data Governance</a:t>
            </a:r>
            <a:endParaRPr lang="en-US" sz="1200" dirty="0"/>
          </a:p>
        </p:txBody>
      </p:sp>
      <p:sp>
        <p:nvSpPr>
          <p:cNvPr id="4" name="Shape 2"/>
          <p:cNvSpPr/>
          <p:nvPr/>
        </p:nvSpPr>
        <p:spPr>
          <a:xfrm>
            <a:off x="365760" y="1280160"/>
            <a:ext cx="1600200" cy="35661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365760" y="1280160"/>
            <a:ext cx="1600200" cy="64008"/>
          </a:xfrm>
          <a:prstGeom prst="rect">
            <a:avLst/>
          </a:prstGeom>
          <a:solidFill>
            <a:srgbClr val="00A651"/>
          </a:solidFill>
          <a:ln w="12700">
            <a:solidFill>
              <a:srgbClr val="333333"/>
            </a:solidFill>
            <a:prstDash val="solid"/>
          </a:ln>
        </p:spPr>
        <p:txBody>
          <a:bodyPr/>
          <a:lstStyle/>
          <a:p>
            <a:endParaRPr lang="en-US"/>
          </a:p>
        </p:txBody>
      </p:sp>
      <p:sp>
        <p:nvSpPr>
          <p:cNvPr id="6" name="Shape 4"/>
          <p:cNvSpPr/>
          <p:nvPr/>
        </p:nvSpPr>
        <p:spPr>
          <a:xfrm>
            <a:off x="841248" y="1463040"/>
            <a:ext cx="658368" cy="658368"/>
          </a:xfrm>
          <a:prstGeom prst="ellipse">
            <a:avLst/>
          </a:prstGeom>
          <a:solidFill>
            <a:srgbClr val="00A651"/>
          </a:solidFill>
          <a:ln w="12700">
            <a:solidFill>
              <a:srgbClr val="333333"/>
            </a:solidFill>
            <a:prstDash val="solid"/>
          </a:ln>
        </p:spPr>
        <p:txBody>
          <a:bodyPr/>
          <a:lstStyle/>
          <a:p>
            <a:endParaRPr lang="en-US"/>
          </a:p>
        </p:txBody>
      </p:sp>
      <p:pic>
        <p:nvPicPr>
          <p:cNvPr id="7" name="Image 0" descr="preencoded.png"/>
          <p:cNvPicPr>
            <a:picLocks noChangeAspect="1"/>
          </p:cNvPicPr>
          <p:nvPr/>
        </p:nvPicPr>
        <p:blipFill>
          <a:blip r:embed="rId3"/>
          <a:stretch>
            <a:fillRect/>
          </a:stretch>
        </p:blipFill>
        <p:spPr>
          <a:xfrm>
            <a:off x="950976" y="1572768"/>
            <a:ext cx="438912" cy="438912"/>
          </a:xfrm>
          <a:prstGeom prst="rect">
            <a:avLst/>
          </a:prstGeom>
        </p:spPr>
      </p:pic>
      <p:sp>
        <p:nvSpPr>
          <p:cNvPr id="8" name="Text 5"/>
          <p:cNvSpPr/>
          <p:nvPr/>
        </p:nvSpPr>
        <p:spPr>
          <a:xfrm>
            <a:off x="438912" y="2212848"/>
            <a:ext cx="1463040" cy="502920"/>
          </a:xfrm>
          <a:prstGeom prst="rect">
            <a:avLst/>
          </a:prstGeom>
          <a:noFill/>
          <a:ln/>
        </p:spPr>
        <p:txBody>
          <a:bodyPr wrap="square" lIns="0" tIns="0" rIns="0" bIns="0" rtlCol="0" anchor="t"/>
          <a:lstStyle/>
          <a:p>
            <a:pPr marL="0" indent="0" algn="ctr">
              <a:buNone/>
            </a:pPr>
            <a:r>
              <a:rPr lang="en-US" sz="1200" b="1" dirty="0">
                <a:solidFill>
                  <a:srgbClr val="00A651"/>
                </a:solidFill>
                <a:latin typeface="Calibri" pitchFamily="34" charset="0"/>
                <a:ea typeface="Calibri" pitchFamily="34" charset="-122"/>
                <a:cs typeface="Calibri" pitchFamily="34" charset="-120"/>
              </a:rPr>
              <a:t>Data Quality</a:t>
            </a:r>
            <a:endParaRPr lang="en-US" sz="1200" dirty="0"/>
          </a:p>
        </p:txBody>
      </p:sp>
      <p:sp>
        <p:nvSpPr>
          <p:cNvPr id="9" name="Text 6"/>
          <p:cNvSpPr/>
          <p:nvPr/>
        </p:nvSpPr>
        <p:spPr>
          <a:xfrm>
            <a:off x="457200" y="2761488"/>
            <a:ext cx="1417320" cy="196596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Automated profiling, anomaly detection, and quality scorecards ensure data you can trust every time</a:t>
            </a:r>
            <a:endParaRPr lang="en-US" sz="1000" dirty="0"/>
          </a:p>
        </p:txBody>
      </p:sp>
      <p:sp>
        <p:nvSpPr>
          <p:cNvPr id="10" name="Shape 7"/>
          <p:cNvSpPr/>
          <p:nvPr/>
        </p:nvSpPr>
        <p:spPr>
          <a:xfrm>
            <a:off x="2084832" y="1280160"/>
            <a:ext cx="1600200" cy="35661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1" name="Shape 8"/>
          <p:cNvSpPr/>
          <p:nvPr/>
        </p:nvSpPr>
        <p:spPr>
          <a:xfrm>
            <a:off x="2084832" y="1280160"/>
            <a:ext cx="1600200" cy="64008"/>
          </a:xfrm>
          <a:prstGeom prst="rect">
            <a:avLst/>
          </a:prstGeom>
          <a:solidFill>
            <a:srgbClr val="003057"/>
          </a:solidFill>
          <a:ln w="12700">
            <a:solidFill>
              <a:srgbClr val="333333"/>
            </a:solidFill>
            <a:prstDash val="solid"/>
          </a:ln>
        </p:spPr>
        <p:txBody>
          <a:bodyPr/>
          <a:lstStyle/>
          <a:p>
            <a:endParaRPr lang="en-US"/>
          </a:p>
        </p:txBody>
      </p:sp>
      <p:sp>
        <p:nvSpPr>
          <p:cNvPr id="12" name="Shape 9"/>
          <p:cNvSpPr/>
          <p:nvPr/>
        </p:nvSpPr>
        <p:spPr>
          <a:xfrm>
            <a:off x="2560320" y="1463040"/>
            <a:ext cx="658368" cy="658368"/>
          </a:xfrm>
          <a:prstGeom prst="ellipse">
            <a:avLst/>
          </a:prstGeom>
          <a:solidFill>
            <a:srgbClr val="003057"/>
          </a:solidFill>
          <a:ln w="12700">
            <a:solidFill>
              <a:srgbClr val="333333"/>
            </a:solidFill>
            <a:prstDash val="solid"/>
          </a:ln>
        </p:spPr>
        <p:txBody>
          <a:bodyPr/>
          <a:lstStyle/>
          <a:p>
            <a:endParaRPr lang="en-US"/>
          </a:p>
        </p:txBody>
      </p:sp>
      <p:pic>
        <p:nvPicPr>
          <p:cNvPr id="13" name="Image 1" descr="preencoded.png"/>
          <p:cNvPicPr>
            <a:picLocks noChangeAspect="1"/>
          </p:cNvPicPr>
          <p:nvPr/>
        </p:nvPicPr>
        <p:blipFill>
          <a:blip r:embed="rId4"/>
          <a:stretch>
            <a:fillRect/>
          </a:stretch>
        </p:blipFill>
        <p:spPr>
          <a:xfrm>
            <a:off x="2670048" y="1572768"/>
            <a:ext cx="438912" cy="438912"/>
          </a:xfrm>
          <a:prstGeom prst="rect">
            <a:avLst/>
          </a:prstGeom>
        </p:spPr>
      </p:pic>
      <p:sp>
        <p:nvSpPr>
          <p:cNvPr id="14" name="Text 10"/>
          <p:cNvSpPr/>
          <p:nvPr/>
        </p:nvSpPr>
        <p:spPr>
          <a:xfrm>
            <a:off x="2157984" y="2212848"/>
            <a:ext cx="1463040" cy="502920"/>
          </a:xfrm>
          <a:prstGeom prst="rect">
            <a:avLst/>
          </a:prstGeom>
          <a:noFill/>
          <a:ln/>
        </p:spPr>
        <p:txBody>
          <a:bodyPr wrap="square" lIns="0" tIns="0" rIns="0" bIns="0" rtlCol="0" anchor="t"/>
          <a:lstStyle/>
          <a:p>
            <a:pPr marL="0" indent="0" algn="ctr">
              <a:buNone/>
            </a:pPr>
            <a:r>
              <a:rPr lang="en-US" sz="1200" b="1" dirty="0">
                <a:solidFill>
                  <a:srgbClr val="003057"/>
                </a:solidFill>
                <a:latin typeface="Calibri" pitchFamily="34" charset="0"/>
                <a:ea typeface="Calibri" pitchFamily="34" charset="-122"/>
                <a:cs typeface="Calibri" pitchFamily="34" charset="-120"/>
              </a:rPr>
              <a:t>Data Lineage</a:t>
            </a:r>
            <a:endParaRPr lang="en-US" sz="1200" dirty="0"/>
          </a:p>
        </p:txBody>
      </p:sp>
      <p:sp>
        <p:nvSpPr>
          <p:cNvPr id="15" name="Text 11"/>
          <p:cNvSpPr/>
          <p:nvPr/>
        </p:nvSpPr>
        <p:spPr>
          <a:xfrm>
            <a:off x="2176272" y="2761488"/>
            <a:ext cx="1417320" cy="196596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Full traceability from source to insight — know exactly where every data point came from</a:t>
            </a:r>
            <a:endParaRPr lang="en-US" sz="1000" dirty="0"/>
          </a:p>
        </p:txBody>
      </p:sp>
      <p:sp>
        <p:nvSpPr>
          <p:cNvPr id="16" name="Shape 12"/>
          <p:cNvSpPr/>
          <p:nvPr/>
        </p:nvSpPr>
        <p:spPr>
          <a:xfrm>
            <a:off x="3803904" y="1280160"/>
            <a:ext cx="1600200" cy="35661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7" name="Shape 13"/>
          <p:cNvSpPr/>
          <p:nvPr/>
        </p:nvSpPr>
        <p:spPr>
          <a:xfrm>
            <a:off x="3803904" y="1280160"/>
            <a:ext cx="1600200" cy="64008"/>
          </a:xfrm>
          <a:prstGeom prst="rect">
            <a:avLst/>
          </a:prstGeom>
          <a:solidFill>
            <a:srgbClr val="009B8D"/>
          </a:solidFill>
          <a:ln w="12700">
            <a:solidFill>
              <a:srgbClr val="333333"/>
            </a:solidFill>
            <a:prstDash val="solid"/>
          </a:ln>
        </p:spPr>
        <p:txBody>
          <a:bodyPr/>
          <a:lstStyle/>
          <a:p>
            <a:endParaRPr lang="en-US"/>
          </a:p>
        </p:txBody>
      </p:sp>
      <p:sp>
        <p:nvSpPr>
          <p:cNvPr id="18" name="Shape 14"/>
          <p:cNvSpPr/>
          <p:nvPr/>
        </p:nvSpPr>
        <p:spPr>
          <a:xfrm>
            <a:off x="4279392" y="1463040"/>
            <a:ext cx="658368" cy="658368"/>
          </a:xfrm>
          <a:prstGeom prst="ellipse">
            <a:avLst/>
          </a:prstGeom>
          <a:solidFill>
            <a:srgbClr val="009B8D"/>
          </a:solidFill>
          <a:ln w="12700">
            <a:solidFill>
              <a:srgbClr val="333333"/>
            </a:solidFill>
            <a:prstDash val="solid"/>
          </a:ln>
        </p:spPr>
        <p:txBody>
          <a:bodyPr/>
          <a:lstStyle/>
          <a:p>
            <a:endParaRPr lang="en-US"/>
          </a:p>
        </p:txBody>
      </p:sp>
      <p:pic>
        <p:nvPicPr>
          <p:cNvPr id="19" name="Image 2" descr="preencoded.png"/>
          <p:cNvPicPr>
            <a:picLocks noChangeAspect="1"/>
          </p:cNvPicPr>
          <p:nvPr/>
        </p:nvPicPr>
        <p:blipFill>
          <a:blip r:embed="rId5"/>
          <a:stretch>
            <a:fillRect/>
          </a:stretch>
        </p:blipFill>
        <p:spPr>
          <a:xfrm>
            <a:off x="4389120" y="1572768"/>
            <a:ext cx="438912" cy="438912"/>
          </a:xfrm>
          <a:prstGeom prst="rect">
            <a:avLst/>
          </a:prstGeom>
        </p:spPr>
      </p:pic>
      <p:sp>
        <p:nvSpPr>
          <p:cNvPr id="20" name="Text 15"/>
          <p:cNvSpPr/>
          <p:nvPr/>
        </p:nvSpPr>
        <p:spPr>
          <a:xfrm>
            <a:off x="3877056" y="2212848"/>
            <a:ext cx="1463040" cy="502920"/>
          </a:xfrm>
          <a:prstGeom prst="rect">
            <a:avLst/>
          </a:prstGeom>
          <a:noFill/>
          <a:ln/>
        </p:spPr>
        <p:txBody>
          <a:bodyPr wrap="square" lIns="0" tIns="0" rIns="0" bIns="0" rtlCol="0" anchor="t"/>
          <a:lstStyle/>
          <a:p>
            <a:pPr marL="0" indent="0" algn="ctr">
              <a:buNone/>
            </a:pPr>
            <a:r>
              <a:rPr lang="en-US" sz="1200" b="1" dirty="0">
                <a:solidFill>
                  <a:srgbClr val="009B8D"/>
                </a:solidFill>
                <a:latin typeface="Calibri" pitchFamily="34" charset="0"/>
                <a:ea typeface="Calibri" pitchFamily="34" charset="-122"/>
                <a:cs typeface="Calibri" pitchFamily="34" charset="-120"/>
              </a:rPr>
              <a:t>Access Control</a:t>
            </a:r>
            <a:endParaRPr lang="en-US" sz="1200" dirty="0"/>
          </a:p>
        </p:txBody>
      </p:sp>
      <p:sp>
        <p:nvSpPr>
          <p:cNvPr id="21" name="Text 16"/>
          <p:cNvSpPr/>
          <p:nvPr/>
        </p:nvSpPr>
        <p:spPr>
          <a:xfrm>
            <a:off x="3895344" y="2761488"/>
            <a:ext cx="1417320" cy="196596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Role-based and attribute-based controls ensure the right people see the right data</a:t>
            </a:r>
            <a:endParaRPr lang="en-US" sz="1000" dirty="0"/>
          </a:p>
        </p:txBody>
      </p:sp>
      <p:sp>
        <p:nvSpPr>
          <p:cNvPr id="22" name="Shape 17"/>
          <p:cNvSpPr/>
          <p:nvPr/>
        </p:nvSpPr>
        <p:spPr>
          <a:xfrm>
            <a:off x="5522976" y="1280160"/>
            <a:ext cx="1600200" cy="35661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3" name="Shape 18"/>
          <p:cNvSpPr/>
          <p:nvPr/>
        </p:nvSpPr>
        <p:spPr>
          <a:xfrm>
            <a:off x="5522976" y="1280160"/>
            <a:ext cx="1600200" cy="64008"/>
          </a:xfrm>
          <a:prstGeom prst="rect">
            <a:avLst/>
          </a:prstGeom>
          <a:solidFill>
            <a:srgbClr val="1B4A7A"/>
          </a:solidFill>
          <a:ln w="12700">
            <a:solidFill>
              <a:srgbClr val="333333"/>
            </a:solidFill>
            <a:prstDash val="solid"/>
          </a:ln>
        </p:spPr>
        <p:txBody>
          <a:bodyPr/>
          <a:lstStyle/>
          <a:p>
            <a:endParaRPr lang="en-US"/>
          </a:p>
        </p:txBody>
      </p:sp>
      <p:sp>
        <p:nvSpPr>
          <p:cNvPr id="24" name="Shape 19"/>
          <p:cNvSpPr/>
          <p:nvPr/>
        </p:nvSpPr>
        <p:spPr>
          <a:xfrm>
            <a:off x="5998464" y="1463040"/>
            <a:ext cx="658368" cy="658368"/>
          </a:xfrm>
          <a:prstGeom prst="ellipse">
            <a:avLst/>
          </a:prstGeom>
          <a:solidFill>
            <a:srgbClr val="1B4A7A"/>
          </a:solidFill>
          <a:ln w="12700">
            <a:solidFill>
              <a:srgbClr val="333333"/>
            </a:solidFill>
            <a:prstDash val="solid"/>
          </a:ln>
        </p:spPr>
        <p:txBody>
          <a:bodyPr/>
          <a:lstStyle/>
          <a:p>
            <a:endParaRPr lang="en-US"/>
          </a:p>
        </p:txBody>
      </p:sp>
      <p:pic>
        <p:nvPicPr>
          <p:cNvPr id="25" name="Image 3" descr="preencoded.png"/>
          <p:cNvPicPr>
            <a:picLocks noChangeAspect="1"/>
          </p:cNvPicPr>
          <p:nvPr/>
        </p:nvPicPr>
        <p:blipFill>
          <a:blip r:embed="rId6"/>
          <a:stretch>
            <a:fillRect/>
          </a:stretch>
        </p:blipFill>
        <p:spPr>
          <a:xfrm>
            <a:off x="6108192" y="1572768"/>
            <a:ext cx="438912" cy="438912"/>
          </a:xfrm>
          <a:prstGeom prst="rect">
            <a:avLst/>
          </a:prstGeom>
        </p:spPr>
      </p:pic>
      <p:sp>
        <p:nvSpPr>
          <p:cNvPr id="26" name="Text 20"/>
          <p:cNvSpPr/>
          <p:nvPr/>
        </p:nvSpPr>
        <p:spPr>
          <a:xfrm>
            <a:off x="5596128" y="2212848"/>
            <a:ext cx="1463040" cy="502920"/>
          </a:xfrm>
          <a:prstGeom prst="rect">
            <a:avLst/>
          </a:prstGeom>
          <a:noFill/>
          <a:ln/>
        </p:spPr>
        <p:txBody>
          <a:bodyPr wrap="square" lIns="0" tIns="0" rIns="0" bIns="0" rtlCol="0" anchor="t"/>
          <a:lstStyle/>
          <a:p>
            <a:pPr marL="0" indent="0" algn="ctr">
              <a:buNone/>
            </a:pPr>
            <a:r>
              <a:rPr lang="en-US" sz="1200" b="1" dirty="0">
                <a:solidFill>
                  <a:srgbClr val="1B4A7A"/>
                </a:solidFill>
                <a:latin typeface="Calibri" pitchFamily="34" charset="0"/>
                <a:ea typeface="Calibri" pitchFamily="34" charset="-122"/>
                <a:cs typeface="Calibri" pitchFamily="34" charset="-120"/>
              </a:rPr>
              <a:t>Data Catalog</a:t>
            </a:r>
            <a:endParaRPr lang="en-US" sz="1200" dirty="0"/>
          </a:p>
        </p:txBody>
      </p:sp>
      <p:sp>
        <p:nvSpPr>
          <p:cNvPr id="27" name="Text 21"/>
          <p:cNvSpPr/>
          <p:nvPr/>
        </p:nvSpPr>
        <p:spPr>
          <a:xfrm>
            <a:off x="5614416" y="2761488"/>
            <a:ext cx="1417320" cy="196596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A searchable, business-friendly catalog of all data assets with definitions and ownership</a:t>
            </a:r>
            <a:endParaRPr lang="en-US" sz="1000" dirty="0"/>
          </a:p>
        </p:txBody>
      </p:sp>
      <p:sp>
        <p:nvSpPr>
          <p:cNvPr id="28" name="Shape 22"/>
          <p:cNvSpPr/>
          <p:nvPr/>
        </p:nvSpPr>
        <p:spPr>
          <a:xfrm>
            <a:off x="7242048" y="1280160"/>
            <a:ext cx="1600200" cy="356616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9" name="Shape 23"/>
          <p:cNvSpPr/>
          <p:nvPr/>
        </p:nvSpPr>
        <p:spPr>
          <a:xfrm>
            <a:off x="7242048" y="1280160"/>
            <a:ext cx="1600200" cy="64008"/>
          </a:xfrm>
          <a:prstGeom prst="rect">
            <a:avLst/>
          </a:prstGeom>
          <a:solidFill>
            <a:srgbClr val="F5A623"/>
          </a:solidFill>
          <a:ln w="12700">
            <a:solidFill>
              <a:srgbClr val="333333"/>
            </a:solidFill>
            <a:prstDash val="solid"/>
          </a:ln>
        </p:spPr>
        <p:txBody>
          <a:bodyPr/>
          <a:lstStyle/>
          <a:p>
            <a:endParaRPr lang="en-US"/>
          </a:p>
        </p:txBody>
      </p:sp>
      <p:sp>
        <p:nvSpPr>
          <p:cNvPr id="30" name="Shape 24"/>
          <p:cNvSpPr/>
          <p:nvPr/>
        </p:nvSpPr>
        <p:spPr>
          <a:xfrm>
            <a:off x="7717536" y="1463040"/>
            <a:ext cx="658368" cy="658368"/>
          </a:xfrm>
          <a:prstGeom prst="ellipse">
            <a:avLst/>
          </a:prstGeom>
          <a:solidFill>
            <a:srgbClr val="F5A623"/>
          </a:solidFill>
          <a:ln w="12700">
            <a:solidFill>
              <a:srgbClr val="333333"/>
            </a:solidFill>
            <a:prstDash val="solid"/>
          </a:ln>
        </p:spPr>
        <p:txBody>
          <a:bodyPr/>
          <a:lstStyle/>
          <a:p>
            <a:endParaRPr lang="en-US"/>
          </a:p>
        </p:txBody>
      </p:sp>
      <p:pic>
        <p:nvPicPr>
          <p:cNvPr id="31" name="Image 4" descr="preencoded.png"/>
          <p:cNvPicPr>
            <a:picLocks noChangeAspect="1"/>
          </p:cNvPicPr>
          <p:nvPr/>
        </p:nvPicPr>
        <p:blipFill>
          <a:blip r:embed="rId7"/>
          <a:stretch>
            <a:fillRect/>
          </a:stretch>
        </p:blipFill>
        <p:spPr>
          <a:xfrm>
            <a:off x="7827264" y="1572768"/>
            <a:ext cx="438912" cy="438912"/>
          </a:xfrm>
          <a:prstGeom prst="rect">
            <a:avLst/>
          </a:prstGeom>
        </p:spPr>
      </p:pic>
      <p:sp>
        <p:nvSpPr>
          <p:cNvPr id="32" name="Text 25"/>
          <p:cNvSpPr/>
          <p:nvPr/>
        </p:nvSpPr>
        <p:spPr>
          <a:xfrm>
            <a:off x="7315200" y="2212848"/>
            <a:ext cx="1463040" cy="502920"/>
          </a:xfrm>
          <a:prstGeom prst="rect">
            <a:avLst/>
          </a:prstGeom>
          <a:noFill/>
          <a:ln/>
        </p:spPr>
        <p:txBody>
          <a:bodyPr wrap="square" lIns="0" tIns="0" rIns="0" bIns="0" rtlCol="0" anchor="t"/>
          <a:lstStyle/>
          <a:p>
            <a:pPr marL="0" indent="0" algn="ctr">
              <a:buNone/>
            </a:pPr>
            <a:r>
              <a:rPr lang="en-US" sz="1200" b="1" dirty="0">
                <a:solidFill>
                  <a:srgbClr val="F5A623"/>
                </a:solidFill>
                <a:latin typeface="Calibri" pitchFamily="34" charset="0"/>
                <a:ea typeface="Calibri" pitchFamily="34" charset="-122"/>
                <a:cs typeface="Calibri" pitchFamily="34" charset="-120"/>
              </a:rPr>
              <a:t>Compliance Ready</a:t>
            </a:r>
            <a:endParaRPr lang="en-US" sz="1200" dirty="0"/>
          </a:p>
        </p:txBody>
      </p:sp>
      <p:sp>
        <p:nvSpPr>
          <p:cNvPr id="33" name="Text 26"/>
          <p:cNvSpPr/>
          <p:nvPr/>
        </p:nvSpPr>
        <p:spPr>
          <a:xfrm>
            <a:off x="7333488" y="2761488"/>
            <a:ext cx="1417320" cy="1965960"/>
          </a:xfrm>
          <a:prstGeom prst="rect">
            <a:avLst/>
          </a:prstGeom>
          <a:noFill/>
          <a:ln/>
        </p:spPr>
        <p:txBody>
          <a:bodyPr wrap="square" lIns="0" tIns="0" rIns="0" bIns="0" rtlCol="0" anchor="t"/>
          <a:lstStyle/>
          <a:p>
            <a:pPr marL="0" indent="0" algn="ctr">
              <a:buNone/>
            </a:pPr>
            <a:r>
              <a:rPr lang="en-US" sz="1000" dirty="0">
                <a:solidFill>
                  <a:srgbClr val="4A5568"/>
                </a:solidFill>
                <a:latin typeface="Calibri" pitchFamily="34" charset="0"/>
                <a:ea typeface="Calibri" pitchFamily="34" charset="-122"/>
                <a:cs typeface="Calibri" pitchFamily="34" charset="-120"/>
              </a:rPr>
              <a:t>Built-in frameworks for GLBA, CCPA, and financial services regulatory requirements</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03057"/>
        </a:solidFill>
        <a:effectLst/>
      </p:bgPr>
    </p:bg>
    <p:spTree>
      <p:nvGrpSpPr>
        <p:cNvPr id="1" name=""/>
        <p:cNvGrpSpPr/>
        <p:nvPr/>
      </p:nvGrpSpPr>
      <p:grpSpPr>
        <a:xfrm>
          <a:off x="0" y="0"/>
          <a:ext cx="0" cy="0"/>
          <a:chOff x="0" y="0"/>
          <a:chExt cx="0" cy="0"/>
        </a:xfrm>
      </p:grpSpPr>
      <p:sp>
        <p:nvSpPr>
          <p:cNvPr id="2" name="Shape 0"/>
          <p:cNvSpPr/>
          <p:nvPr/>
        </p:nvSpPr>
        <p:spPr>
          <a:xfrm>
            <a:off x="5943600" y="0"/>
            <a:ext cx="3200400" cy="5143500"/>
          </a:xfrm>
          <a:prstGeom prst="rect">
            <a:avLst/>
          </a:prstGeom>
          <a:solidFill>
            <a:srgbClr val="1B4A7A"/>
          </a:solidFill>
          <a:ln w="12700">
            <a:solidFill>
              <a:srgbClr val="333333"/>
            </a:solidFill>
            <a:prstDash val="solid"/>
          </a:ln>
        </p:spPr>
        <p:txBody>
          <a:bodyPr/>
          <a:lstStyle/>
          <a:p>
            <a:endParaRPr lang="en-US"/>
          </a:p>
        </p:txBody>
      </p:sp>
      <p:sp>
        <p:nvSpPr>
          <p:cNvPr id="3" name="Text 1"/>
          <p:cNvSpPr/>
          <p:nvPr/>
        </p:nvSpPr>
        <p:spPr>
          <a:xfrm>
            <a:off x="548640" y="640080"/>
            <a:ext cx="5029200" cy="1645920"/>
          </a:xfrm>
          <a:prstGeom prst="rect">
            <a:avLst/>
          </a:prstGeom>
          <a:noFill/>
          <a:ln/>
        </p:spPr>
        <p:txBody>
          <a:bodyPr wrap="square" lIns="0" tIns="0" rIns="0" bIns="0" rtlCol="0" anchor="t"/>
          <a:lstStyle/>
          <a:p>
            <a:pPr marL="0" indent="0">
              <a:buNone/>
            </a:pPr>
            <a:r>
              <a:rPr lang="en-US" sz="3200" b="1" i="1" dirty="0">
                <a:solidFill>
                  <a:srgbClr val="FFFFFF"/>
                </a:solidFill>
                <a:latin typeface="Calibri" pitchFamily="34" charset="0"/>
                <a:ea typeface="Calibri" pitchFamily="34" charset="-122"/>
                <a:cs typeface="Calibri" pitchFamily="34" charset="-120"/>
              </a:rPr>
              <a:t>"Without governance,</a:t>
            </a:r>
            <a:endParaRPr lang="en-US" sz="3200" dirty="0"/>
          </a:p>
          <a:p>
            <a:pPr marL="0" indent="0">
              <a:buNone/>
            </a:pPr>
            <a:r>
              <a:rPr lang="en-US" sz="3200" b="1" i="1" dirty="0">
                <a:solidFill>
                  <a:srgbClr val="FFFFFF"/>
                </a:solidFill>
                <a:latin typeface="Calibri" pitchFamily="34" charset="0"/>
                <a:ea typeface="Calibri" pitchFamily="34" charset="-122"/>
                <a:cs typeface="Calibri" pitchFamily="34" charset="-120"/>
              </a:rPr>
              <a:t>data is just noise."</a:t>
            </a:r>
            <a:endParaRPr lang="en-US" sz="3200" dirty="0"/>
          </a:p>
        </p:txBody>
      </p:sp>
      <p:sp>
        <p:nvSpPr>
          <p:cNvPr id="4" name="Text 2"/>
          <p:cNvSpPr/>
          <p:nvPr/>
        </p:nvSpPr>
        <p:spPr>
          <a:xfrm>
            <a:off x="548640" y="2331720"/>
            <a:ext cx="5029200" cy="365760"/>
          </a:xfrm>
          <a:prstGeom prst="rect">
            <a:avLst/>
          </a:prstGeom>
          <a:noFill/>
          <a:ln/>
        </p:spPr>
        <p:txBody>
          <a:bodyPr wrap="square" lIns="0" tIns="0" rIns="0" bIns="0" rtlCol="0" anchor="t"/>
          <a:lstStyle/>
          <a:p>
            <a:pPr marL="0" indent="0">
              <a:buNone/>
            </a:pPr>
            <a:r>
              <a:rPr lang="en-US" sz="1400" dirty="0">
                <a:solidFill>
                  <a:srgbClr val="009B8D"/>
                </a:solidFill>
                <a:latin typeface="Calibri" pitchFamily="34" charset="0"/>
                <a:ea typeface="Calibri" pitchFamily="34" charset="-122"/>
                <a:cs typeface="Calibri" pitchFamily="34" charset="-120"/>
              </a:rPr>
              <a:t>— Elspeth Bloodgood</a:t>
            </a:r>
            <a:endParaRPr lang="en-US" sz="1400" dirty="0"/>
          </a:p>
        </p:txBody>
      </p:sp>
      <p:sp>
        <p:nvSpPr>
          <p:cNvPr id="5" name="Text 3"/>
          <p:cNvSpPr/>
          <p:nvPr/>
        </p:nvSpPr>
        <p:spPr>
          <a:xfrm>
            <a:off x="548640" y="2834640"/>
            <a:ext cx="5029200" cy="1737360"/>
          </a:xfrm>
          <a:prstGeom prst="rect">
            <a:avLst/>
          </a:prstGeom>
          <a:noFill/>
          <a:ln/>
        </p:spPr>
        <p:txBody>
          <a:bodyPr wrap="square" lIns="0" tIns="0" rIns="0" bIns="0" rtlCol="0" anchor="t"/>
          <a:lstStyle/>
          <a:p>
            <a:pPr marL="0" indent="0">
              <a:buNone/>
            </a:pPr>
            <a:r>
              <a:rPr lang="en-US" sz="1200" dirty="0">
                <a:solidFill>
                  <a:srgbClr val="9ABDD8"/>
                </a:solidFill>
                <a:latin typeface="Calibri" pitchFamily="34" charset="0"/>
                <a:ea typeface="Calibri" pitchFamily="34" charset="-122"/>
                <a:cs typeface="Calibri" pitchFamily="34" charset="-120"/>
              </a:rPr>
              <a:t>In JHBI, governance is not an add-on — it is woven into every layer of the platform. Data stewards, automated quality checks, policy enforcement, and audit trails work together to ensure that the insights you derive are accurate, trusted, and defensible.</a:t>
            </a:r>
            <a:endParaRPr lang="en-US" sz="1200" dirty="0"/>
          </a:p>
        </p:txBody>
      </p:sp>
      <p:sp>
        <p:nvSpPr>
          <p:cNvPr id="6" name="Text 4"/>
          <p:cNvSpPr/>
          <p:nvPr/>
        </p:nvSpPr>
        <p:spPr>
          <a:xfrm>
            <a:off x="6126480" y="502920"/>
            <a:ext cx="2743200" cy="365760"/>
          </a:xfrm>
          <a:prstGeom prst="rect">
            <a:avLst/>
          </a:prstGeom>
          <a:noFill/>
          <a:ln/>
        </p:spPr>
        <p:txBody>
          <a:bodyPr wrap="square" lIns="0" tIns="0" rIns="0" bIns="0" rtlCol="0" anchor="ctr"/>
          <a:lstStyle/>
          <a:p>
            <a:pPr marL="0" indent="0">
              <a:buNone/>
            </a:pPr>
            <a:r>
              <a:rPr lang="en-US" sz="1300" b="1" dirty="0">
                <a:solidFill>
                  <a:srgbClr val="009B8D"/>
                </a:solidFill>
                <a:latin typeface="Calibri" pitchFamily="34" charset="0"/>
                <a:ea typeface="Calibri" pitchFamily="34" charset="-122"/>
                <a:cs typeface="Calibri" pitchFamily="34" charset="-120"/>
              </a:rPr>
              <a:t>Governance Outcomes</a:t>
            </a:r>
            <a:endParaRPr lang="en-US" sz="1300" dirty="0"/>
          </a:p>
        </p:txBody>
      </p:sp>
      <p:sp>
        <p:nvSpPr>
          <p:cNvPr id="7" name="Shape 5"/>
          <p:cNvSpPr/>
          <p:nvPr/>
        </p:nvSpPr>
        <p:spPr>
          <a:xfrm>
            <a:off x="6126480" y="1005840"/>
            <a:ext cx="2743200" cy="658368"/>
          </a:xfrm>
          <a:prstGeom prst="rect">
            <a:avLst/>
          </a:prstGeom>
          <a:solidFill>
            <a:srgbClr val="FFFFFF">
              <a:alpha val="10000"/>
            </a:srgbClr>
          </a:solidFill>
          <a:ln w="6350">
            <a:solidFill>
              <a:srgbClr val="009B8D"/>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6236208" y="1115568"/>
            <a:ext cx="256032" cy="256032"/>
          </a:xfrm>
          <a:prstGeom prst="rect">
            <a:avLst/>
          </a:prstGeom>
        </p:spPr>
      </p:pic>
      <p:sp>
        <p:nvSpPr>
          <p:cNvPr id="9" name="Text 6"/>
          <p:cNvSpPr/>
          <p:nvPr/>
        </p:nvSpPr>
        <p:spPr>
          <a:xfrm>
            <a:off x="6601968" y="1069848"/>
            <a:ext cx="2176272"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Regulatory confidence</a:t>
            </a:r>
            <a:endParaRPr lang="en-US" sz="1200" dirty="0"/>
          </a:p>
        </p:txBody>
      </p:sp>
      <p:sp>
        <p:nvSpPr>
          <p:cNvPr id="10" name="Shape 7"/>
          <p:cNvSpPr/>
          <p:nvPr/>
        </p:nvSpPr>
        <p:spPr>
          <a:xfrm>
            <a:off x="6126480" y="1901952"/>
            <a:ext cx="2743200" cy="658368"/>
          </a:xfrm>
          <a:prstGeom prst="rect">
            <a:avLst/>
          </a:prstGeom>
          <a:solidFill>
            <a:srgbClr val="FFFFFF">
              <a:alpha val="10000"/>
            </a:srgbClr>
          </a:solidFill>
          <a:ln w="6350">
            <a:solidFill>
              <a:srgbClr val="009B8D"/>
            </a:solidFill>
            <a:prstDash val="solid"/>
          </a:ln>
        </p:spPr>
        <p:txBody>
          <a:bodyPr/>
          <a:lstStyle/>
          <a:p>
            <a:endParaRPr lang="en-US"/>
          </a:p>
        </p:txBody>
      </p:sp>
      <p:pic>
        <p:nvPicPr>
          <p:cNvPr id="11" name="Image 1" descr="preencoded.png"/>
          <p:cNvPicPr>
            <a:picLocks noChangeAspect="1"/>
          </p:cNvPicPr>
          <p:nvPr/>
        </p:nvPicPr>
        <p:blipFill>
          <a:blip r:embed="rId3"/>
          <a:stretch>
            <a:fillRect/>
          </a:stretch>
        </p:blipFill>
        <p:spPr>
          <a:xfrm>
            <a:off x="6236208" y="2011680"/>
            <a:ext cx="256032" cy="256032"/>
          </a:xfrm>
          <a:prstGeom prst="rect">
            <a:avLst/>
          </a:prstGeom>
        </p:spPr>
      </p:pic>
      <p:sp>
        <p:nvSpPr>
          <p:cNvPr id="12" name="Text 8"/>
          <p:cNvSpPr/>
          <p:nvPr/>
        </p:nvSpPr>
        <p:spPr>
          <a:xfrm>
            <a:off x="6601968" y="1965960"/>
            <a:ext cx="2176272"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Trustworthy reporting</a:t>
            </a:r>
            <a:endParaRPr lang="en-US" sz="1200" dirty="0"/>
          </a:p>
        </p:txBody>
      </p:sp>
      <p:sp>
        <p:nvSpPr>
          <p:cNvPr id="13" name="Shape 9"/>
          <p:cNvSpPr/>
          <p:nvPr/>
        </p:nvSpPr>
        <p:spPr>
          <a:xfrm>
            <a:off x="6126480" y="2798064"/>
            <a:ext cx="2743200" cy="658368"/>
          </a:xfrm>
          <a:prstGeom prst="rect">
            <a:avLst/>
          </a:prstGeom>
          <a:solidFill>
            <a:srgbClr val="FFFFFF">
              <a:alpha val="10000"/>
            </a:srgbClr>
          </a:solidFill>
          <a:ln w="6350">
            <a:solidFill>
              <a:srgbClr val="009B8D"/>
            </a:solidFill>
            <a:prstDash val="solid"/>
          </a:ln>
        </p:spPr>
        <p:txBody>
          <a:bodyPr/>
          <a:lstStyle/>
          <a:p>
            <a:endParaRPr lang="en-US"/>
          </a:p>
        </p:txBody>
      </p:sp>
      <p:pic>
        <p:nvPicPr>
          <p:cNvPr id="14" name="Image 2" descr="preencoded.png"/>
          <p:cNvPicPr>
            <a:picLocks noChangeAspect="1"/>
          </p:cNvPicPr>
          <p:nvPr/>
        </p:nvPicPr>
        <p:blipFill>
          <a:blip r:embed="rId3"/>
          <a:stretch>
            <a:fillRect/>
          </a:stretch>
        </p:blipFill>
        <p:spPr>
          <a:xfrm>
            <a:off x="6236208" y="2907792"/>
            <a:ext cx="256032" cy="256032"/>
          </a:xfrm>
          <a:prstGeom prst="rect">
            <a:avLst/>
          </a:prstGeom>
        </p:spPr>
      </p:pic>
      <p:sp>
        <p:nvSpPr>
          <p:cNvPr id="15" name="Text 10"/>
          <p:cNvSpPr/>
          <p:nvPr/>
        </p:nvSpPr>
        <p:spPr>
          <a:xfrm>
            <a:off x="6601968" y="2862072"/>
            <a:ext cx="2176272"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Auditable data trails</a:t>
            </a:r>
            <a:endParaRPr lang="en-US" sz="1200" dirty="0"/>
          </a:p>
        </p:txBody>
      </p:sp>
      <p:sp>
        <p:nvSpPr>
          <p:cNvPr id="16" name="Shape 11"/>
          <p:cNvSpPr/>
          <p:nvPr/>
        </p:nvSpPr>
        <p:spPr>
          <a:xfrm>
            <a:off x="6126480" y="3694176"/>
            <a:ext cx="2743200" cy="658368"/>
          </a:xfrm>
          <a:prstGeom prst="rect">
            <a:avLst/>
          </a:prstGeom>
          <a:solidFill>
            <a:srgbClr val="FFFFFF">
              <a:alpha val="10000"/>
            </a:srgbClr>
          </a:solidFill>
          <a:ln w="6350">
            <a:solidFill>
              <a:srgbClr val="009B8D"/>
            </a:solidFill>
            <a:prstDash val="solid"/>
          </a:ln>
        </p:spPr>
        <p:txBody>
          <a:bodyPr/>
          <a:lstStyle/>
          <a:p>
            <a:endParaRPr lang="en-US"/>
          </a:p>
        </p:txBody>
      </p:sp>
      <p:pic>
        <p:nvPicPr>
          <p:cNvPr id="17" name="Image 3" descr="preencoded.png"/>
          <p:cNvPicPr>
            <a:picLocks noChangeAspect="1"/>
          </p:cNvPicPr>
          <p:nvPr/>
        </p:nvPicPr>
        <p:blipFill>
          <a:blip r:embed="rId3"/>
          <a:stretch>
            <a:fillRect/>
          </a:stretch>
        </p:blipFill>
        <p:spPr>
          <a:xfrm>
            <a:off x="6236208" y="3803904"/>
            <a:ext cx="256032" cy="256032"/>
          </a:xfrm>
          <a:prstGeom prst="rect">
            <a:avLst/>
          </a:prstGeom>
        </p:spPr>
      </p:pic>
      <p:sp>
        <p:nvSpPr>
          <p:cNvPr id="18" name="Text 12"/>
          <p:cNvSpPr/>
          <p:nvPr/>
        </p:nvSpPr>
        <p:spPr>
          <a:xfrm>
            <a:off x="6601968" y="3758184"/>
            <a:ext cx="2176272" cy="365760"/>
          </a:xfrm>
          <a:prstGeom prst="rect">
            <a:avLst/>
          </a:prstGeom>
          <a:noFill/>
          <a:ln/>
        </p:spPr>
        <p:txBody>
          <a:bodyPr wrap="square" lIns="0" tIns="0" rIns="0" bIns="0" rtlCol="0" anchor="ctr"/>
          <a:lstStyle/>
          <a:p>
            <a:pPr marL="0" indent="0">
              <a:buNone/>
            </a:pPr>
            <a:r>
              <a:rPr lang="en-US" sz="1200" dirty="0">
                <a:solidFill>
                  <a:srgbClr val="FFFFFF"/>
                </a:solidFill>
                <a:latin typeface="Calibri" pitchFamily="34" charset="0"/>
                <a:ea typeface="Calibri" pitchFamily="34" charset="-122"/>
                <a:cs typeface="Calibri" pitchFamily="34" charset="-120"/>
              </a:rPr>
              <a:t>Reduced data debt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000" b="1" dirty="0">
                <a:solidFill>
                  <a:srgbClr val="003057"/>
                </a:solidFill>
                <a:latin typeface="Calibri" pitchFamily="34" charset="0"/>
                <a:ea typeface="Calibri" pitchFamily="34" charset="-122"/>
                <a:cs typeface="Calibri" pitchFamily="34" charset="-120"/>
              </a:rPr>
              <a:t>Shaping the Future of Member Engagement</a:t>
            </a:r>
            <a:endParaRPr lang="en-US" sz="30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With harmonized data and a modern platform, entirely new possibilities emerge for how you serve your members.</a:t>
            </a:r>
            <a:endParaRPr lang="en-US" sz="1300" dirty="0"/>
          </a:p>
        </p:txBody>
      </p:sp>
      <p:sp>
        <p:nvSpPr>
          <p:cNvPr id="4" name="Shape 2"/>
          <p:cNvSpPr/>
          <p:nvPr/>
        </p:nvSpPr>
        <p:spPr>
          <a:xfrm>
            <a:off x="365760" y="1280160"/>
            <a:ext cx="26974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530352" y="1737360"/>
            <a:ext cx="658368" cy="658368"/>
          </a:xfrm>
          <a:prstGeom prst="ellipse">
            <a:avLst/>
          </a:prstGeom>
          <a:solidFill>
            <a:srgbClr val="00A651"/>
          </a:solidFill>
          <a:ln w="12700">
            <a:solidFill>
              <a:srgbClr val="333333"/>
            </a:solidFill>
            <a:prstDash val="solid"/>
          </a:ln>
        </p:spPr>
        <p:txBody>
          <a:bodyPr/>
          <a:lstStyle/>
          <a:p>
            <a:endParaRPr lang="en-US"/>
          </a:p>
        </p:txBody>
      </p:sp>
      <p:pic>
        <p:nvPicPr>
          <p:cNvPr id="6" name="Image 0" descr="preencoded.png"/>
          <p:cNvPicPr>
            <a:picLocks noChangeAspect="1"/>
          </p:cNvPicPr>
          <p:nvPr/>
        </p:nvPicPr>
        <p:blipFill>
          <a:blip r:embed="rId3"/>
          <a:stretch>
            <a:fillRect/>
          </a:stretch>
        </p:blipFill>
        <p:spPr>
          <a:xfrm>
            <a:off x="640080" y="1847088"/>
            <a:ext cx="438912" cy="438912"/>
          </a:xfrm>
          <a:prstGeom prst="rect">
            <a:avLst/>
          </a:prstGeom>
        </p:spPr>
      </p:pic>
      <p:sp>
        <p:nvSpPr>
          <p:cNvPr id="7" name="Text 4"/>
          <p:cNvSpPr/>
          <p:nvPr/>
        </p:nvSpPr>
        <p:spPr>
          <a:xfrm>
            <a:off x="1325880" y="1508760"/>
            <a:ext cx="1645920" cy="411480"/>
          </a:xfrm>
          <a:prstGeom prst="rect">
            <a:avLst/>
          </a:prstGeom>
          <a:noFill/>
          <a:ln/>
        </p:spPr>
        <p:txBody>
          <a:bodyPr wrap="square" lIns="0" tIns="0" rIns="0" bIns="0" rtlCol="0" anchor="ctr"/>
          <a:lstStyle/>
          <a:p>
            <a:pPr marL="0" indent="0">
              <a:buNone/>
            </a:pPr>
            <a:r>
              <a:rPr lang="en-US" sz="1300" b="1" dirty="0">
                <a:solidFill>
                  <a:srgbClr val="00A651"/>
                </a:solidFill>
                <a:latin typeface="Calibri" pitchFamily="34" charset="0"/>
                <a:ea typeface="Calibri" pitchFamily="34" charset="-122"/>
                <a:cs typeface="Calibri" pitchFamily="34" charset="-120"/>
              </a:rPr>
              <a:t>Hyper-Personalization</a:t>
            </a:r>
            <a:endParaRPr lang="en-US" sz="1300" dirty="0"/>
          </a:p>
        </p:txBody>
      </p:sp>
      <p:sp>
        <p:nvSpPr>
          <p:cNvPr id="8" name="Text 5"/>
          <p:cNvSpPr/>
          <p:nvPr/>
        </p:nvSpPr>
        <p:spPr>
          <a:xfrm>
            <a:off x="1325880" y="1938528"/>
            <a:ext cx="1645920" cy="804672"/>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Recommend the right product at the right moment — driven by a complete member picture</a:t>
            </a:r>
            <a:endParaRPr lang="en-US" sz="1000" dirty="0"/>
          </a:p>
        </p:txBody>
      </p:sp>
      <p:sp>
        <p:nvSpPr>
          <p:cNvPr id="9" name="Shape 6"/>
          <p:cNvSpPr/>
          <p:nvPr/>
        </p:nvSpPr>
        <p:spPr>
          <a:xfrm>
            <a:off x="3246120" y="1280160"/>
            <a:ext cx="26974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0" name="Shape 7"/>
          <p:cNvSpPr/>
          <p:nvPr/>
        </p:nvSpPr>
        <p:spPr>
          <a:xfrm>
            <a:off x="3410712" y="1737360"/>
            <a:ext cx="658368" cy="658368"/>
          </a:xfrm>
          <a:prstGeom prst="ellipse">
            <a:avLst/>
          </a:prstGeom>
          <a:solidFill>
            <a:srgbClr val="009B8D"/>
          </a:solidFill>
          <a:ln w="12700">
            <a:solidFill>
              <a:srgbClr val="333333"/>
            </a:solidFill>
            <a:prstDash val="solid"/>
          </a:ln>
        </p:spPr>
        <p:txBody>
          <a:bodyPr/>
          <a:lstStyle/>
          <a:p>
            <a:endParaRPr lang="en-US"/>
          </a:p>
        </p:txBody>
      </p:sp>
      <p:pic>
        <p:nvPicPr>
          <p:cNvPr id="11" name="Image 1" descr="preencoded.png"/>
          <p:cNvPicPr>
            <a:picLocks noChangeAspect="1"/>
          </p:cNvPicPr>
          <p:nvPr/>
        </p:nvPicPr>
        <p:blipFill>
          <a:blip r:embed="rId4"/>
          <a:stretch>
            <a:fillRect/>
          </a:stretch>
        </p:blipFill>
        <p:spPr>
          <a:xfrm>
            <a:off x="3520440" y="1847088"/>
            <a:ext cx="438912" cy="438912"/>
          </a:xfrm>
          <a:prstGeom prst="rect">
            <a:avLst/>
          </a:prstGeom>
        </p:spPr>
      </p:pic>
      <p:sp>
        <p:nvSpPr>
          <p:cNvPr id="12" name="Text 8"/>
          <p:cNvSpPr/>
          <p:nvPr/>
        </p:nvSpPr>
        <p:spPr>
          <a:xfrm>
            <a:off x="4206240" y="1508760"/>
            <a:ext cx="1645920" cy="411480"/>
          </a:xfrm>
          <a:prstGeom prst="rect">
            <a:avLst/>
          </a:prstGeom>
          <a:noFill/>
          <a:ln/>
        </p:spPr>
        <p:txBody>
          <a:bodyPr wrap="square" lIns="0" tIns="0" rIns="0" bIns="0" rtlCol="0" anchor="ctr"/>
          <a:lstStyle/>
          <a:p>
            <a:pPr marL="0" indent="0">
              <a:buNone/>
            </a:pPr>
            <a:r>
              <a:rPr lang="en-US" sz="1300" b="1" dirty="0">
                <a:solidFill>
                  <a:srgbClr val="009B8D"/>
                </a:solidFill>
                <a:latin typeface="Calibri" pitchFamily="34" charset="0"/>
                <a:ea typeface="Calibri" pitchFamily="34" charset="-122"/>
                <a:cs typeface="Calibri" pitchFamily="34" charset="-120"/>
              </a:rPr>
              <a:t>Proactive Risk Detection</a:t>
            </a:r>
            <a:endParaRPr lang="en-US" sz="1300" dirty="0"/>
          </a:p>
        </p:txBody>
      </p:sp>
      <p:sp>
        <p:nvSpPr>
          <p:cNvPr id="13" name="Text 9"/>
          <p:cNvSpPr/>
          <p:nvPr/>
        </p:nvSpPr>
        <p:spPr>
          <a:xfrm>
            <a:off x="4206240" y="1938528"/>
            <a:ext cx="1645920" cy="804672"/>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Spot fraud, credit risk, and operational anomalies before they become problems</a:t>
            </a:r>
            <a:endParaRPr lang="en-US" sz="1000" dirty="0"/>
          </a:p>
        </p:txBody>
      </p:sp>
      <p:sp>
        <p:nvSpPr>
          <p:cNvPr id="14" name="Shape 10"/>
          <p:cNvSpPr/>
          <p:nvPr/>
        </p:nvSpPr>
        <p:spPr>
          <a:xfrm>
            <a:off x="6126480" y="1280160"/>
            <a:ext cx="26974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5" name="Shape 11"/>
          <p:cNvSpPr/>
          <p:nvPr/>
        </p:nvSpPr>
        <p:spPr>
          <a:xfrm>
            <a:off x="6291072" y="1737360"/>
            <a:ext cx="658368" cy="658368"/>
          </a:xfrm>
          <a:prstGeom prst="ellipse">
            <a:avLst/>
          </a:prstGeom>
          <a:solidFill>
            <a:srgbClr val="F5A623"/>
          </a:solidFill>
          <a:ln w="12700">
            <a:solidFill>
              <a:srgbClr val="333333"/>
            </a:solidFill>
            <a:prstDash val="solid"/>
          </a:ln>
        </p:spPr>
        <p:txBody>
          <a:bodyPr/>
          <a:lstStyle/>
          <a:p>
            <a:endParaRPr lang="en-US"/>
          </a:p>
        </p:txBody>
      </p:sp>
      <p:pic>
        <p:nvPicPr>
          <p:cNvPr id="16" name="Image 2" descr="preencoded.png"/>
          <p:cNvPicPr>
            <a:picLocks noChangeAspect="1"/>
          </p:cNvPicPr>
          <p:nvPr/>
        </p:nvPicPr>
        <p:blipFill>
          <a:blip r:embed="rId5"/>
          <a:stretch>
            <a:fillRect/>
          </a:stretch>
        </p:blipFill>
        <p:spPr>
          <a:xfrm>
            <a:off x="6400800" y="1847088"/>
            <a:ext cx="438912" cy="438912"/>
          </a:xfrm>
          <a:prstGeom prst="rect">
            <a:avLst/>
          </a:prstGeom>
        </p:spPr>
      </p:pic>
      <p:sp>
        <p:nvSpPr>
          <p:cNvPr id="17" name="Text 12"/>
          <p:cNvSpPr/>
          <p:nvPr/>
        </p:nvSpPr>
        <p:spPr>
          <a:xfrm>
            <a:off x="7086600" y="1508760"/>
            <a:ext cx="1645920" cy="411480"/>
          </a:xfrm>
          <a:prstGeom prst="rect">
            <a:avLst/>
          </a:prstGeom>
          <a:noFill/>
          <a:ln/>
        </p:spPr>
        <p:txBody>
          <a:bodyPr wrap="square" lIns="0" tIns="0" rIns="0" bIns="0"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AI-Powered Advisor</a:t>
            </a:r>
            <a:endParaRPr lang="en-US" sz="1300" dirty="0"/>
          </a:p>
        </p:txBody>
      </p:sp>
      <p:sp>
        <p:nvSpPr>
          <p:cNvPr id="18" name="Text 13"/>
          <p:cNvSpPr/>
          <p:nvPr/>
        </p:nvSpPr>
        <p:spPr>
          <a:xfrm>
            <a:off x="7086600" y="1938528"/>
            <a:ext cx="1645920" cy="804672"/>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Deliver intelligent, contextual financial guidance through digital channels</a:t>
            </a:r>
            <a:endParaRPr lang="en-US" sz="1000" dirty="0"/>
          </a:p>
        </p:txBody>
      </p:sp>
      <p:sp>
        <p:nvSpPr>
          <p:cNvPr id="19" name="Shape 14"/>
          <p:cNvSpPr/>
          <p:nvPr/>
        </p:nvSpPr>
        <p:spPr>
          <a:xfrm>
            <a:off x="365760" y="3108960"/>
            <a:ext cx="26974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0" name="Shape 15"/>
          <p:cNvSpPr/>
          <p:nvPr/>
        </p:nvSpPr>
        <p:spPr>
          <a:xfrm>
            <a:off x="530352" y="3566160"/>
            <a:ext cx="658368" cy="658368"/>
          </a:xfrm>
          <a:prstGeom prst="ellipse">
            <a:avLst/>
          </a:prstGeom>
          <a:solidFill>
            <a:srgbClr val="003057"/>
          </a:solidFill>
          <a:ln w="12700">
            <a:solidFill>
              <a:srgbClr val="333333"/>
            </a:solidFill>
            <a:prstDash val="solid"/>
          </a:ln>
        </p:spPr>
        <p:txBody>
          <a:bodyPr/>
          <a:lstStyle/>
          <a:p>
            <a:endParaRPr lang="en-US"/>
          </a:p>
        </p:txBody>
      </p:sp>
      <p:pic>
        <p:nvPicPr>
          <p:cNvPr id="21" name="Image 3" descr="preencoded.png"/>
          <p:cNvPicPr>
            <a:picLocks noChangeAspect="1"/>
          </p:cNvPicPr>
          <p:nvPr/>
        </p:nvPicPr>
        <p:blipFill>
          <a:blip r:embed="rId6"/>
          <a:stretch>
            <a:fillRect/>
          </a:stretch>
        </p:blipFill>
        <p:spPr>
          <a:xfrm>
            <a:off x="640080" y="3675888"/>
            <a:ext cx="438912" cy="438912"/>
          </a:xfrm>
          <a:prstGeom prst="rect">
            <a:avLst/>
          </a:prstGeom>
        </p:spPr>
      </p:pic>
      <p:sp>
        <p:nvSpPr>
          <p:cNvPr id="22" name="Text 16"/>
          <p:cNvSpPr/>
          <p:nvPr/>
        </p:nvSpPr>
        <p:spPr>
          <a:xfrm>
            <a:off x="1325880" y="3337560"/>
            <a:ext cx="1645920" cy="411480"/>
          </a:xfrm>
          <a:prstGeom prst="rect">
            <a:avLst/>
          </a:prstGeom>
          <a:noFill/>
          <a:ln/>
        </p:spPr>
        <p:txBody>
          <a:bodyPr wrap="square" lIns="0" tIns="0" rIns="0" bIns="0" rtlCol="0" anchor="ctr"/>
          <a:lstStyle/>
          <a:p>
            <a:pPr marL="0" indent="0">
              <a:buNone/>
            </a:pPr>
            <a:r>
              <a:rPr lang="en-US" sz="1300" b="1" dirty="0">
                <a:solidFill>
                  <a:srgbClr val="003057"/>
                </a:solidFill>
                <a:latin typeface="Calibri" pitchFamily="34" charset="0"/>
                <a:ea typeface="Calibri" pitchFamily="34" charset="-122"/>
                <a:cs typeface="Calibri" pitchFamily="34" charset="-120"/>
              </a:rPr>
              <a:t>Next-Best-Action</a:t>
            </a:r>
            <a:endParaRPr lang="en-US" sz="1300" dirty="0"/>
          </a:p>
        </p:txBody>
      </p:sp>
      <p:sp>
        <p:nvSpPr>
          <p:cNvPr id="23" name="Text 17"/>
          <p:cNvSpPr/>
          <p:nvPr/>
        </p:nvSpPr>
        <p:spPr>
          <a:xfrm>
            <a:off x="1325880" y="3767328"/>
            <a:ext cx="1645920" cy="804672"/>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Guide your frontline staff with real-time recommendations during member interactions</a:t>
            </a:r>
            <a:endParaRPr lang="en-US" sz="1000" dirty="0"/>
          </a:p>
        </p:txBody>
      </p:sp>
      <p:sp>
        <p:nvSpPr>
          <p:cNvPr id="24" name="Shape 18"/>
          <p:cNvSpPr/>
          <p:nvPr/>
        </p:nvSpPr>
        <p:spPr>
          <a:xfrm>
            <a:off x="3246120" y="3108960"/>
            <a:ext cx="26974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5" name="Shape 19"/>
          <p:cNvSpPr/>
          <p:nvPr/>
        </p:nvSpPr>
        <p:spPr>
          <a:xfrm>
            <a:off x="3410712" y="3566160"/>
            <a:ext cx="658368" cy="658368"/>
          </a:xfrm>
          <a:prstGeom prst="ellipse">
            <a:avLst/>
          </a:prstGeom>
          <a:solidFill>
            <a:srgbClr val="1B4A7A"/>
          </a:solidFill>
          <a:ln w="12700">
            <a:solidFill>
              <a:srgbClr val="333333"/>
            </a:solidFill>
            <a:prstDash val="solid"/>
          </a:ln>
        </p:spPr>
        <p:txBody>
          <a:bodyPr/>
          <a:lstStyle/>
          <a:p>
            <a:endParaRPr lang="en-US"/>
          </a:p>
        </p:txBody>
      </p:sp>
      <p:pic>
        <p:nvPicPr>
          <p:cNvPr id="26" name="Image 4" descr="preencoded.png"/>
          <p:cNvPicPr>
            <a:picLocks noChangeAspect="1"/>
          </p:cNvPicPr>
          <p:nvPr/>
        </p:nvPicPr>
        <p:blipFill>
          <a:blip r:embed="rId7"/>
          <a:stretch>
            <a:fillRect/>
          </a:stretch>
        </p:blipFill>
        <p:spPr>
          <a:xfrm>
            <a:off x="3520440" y="3675888"/>
            <a:ext cx="438912" cy="438912"/>
          </a:xfrm>
          <a:prstGeom prst="rect">
            <a:avLst/>
          </a:prstGeom>
        </p:spPr>
      </p:pic>
      <p:sp>
        <p:nvSpPr>
          <p:cNvPr id="27" name="Text 20"/>
          <p:cNvSpPr/>
          <p:nvPr/>
        </p:nvSpPr>
        <p:spPr>
          <a:xfrm>
            <a:off x="4206240" y="3337560"/>
            <a:ext cx="1645920" cy="411480"/>
          </a:xfrm>
          <a:prstGeom prst="rect">
            <a:avLst/>
          </a:prstGeom>
          <a:noFill/>
          <a:ln/>
        </p:spPr>
        <p:txBody>
          <a:bodyPr wrap="square" lIns="0" tIns="0" rIns="0" bIns="0" rtlCol="0" anchor="ctr"/>
          <a:lstStyle/>
          <a:p>
            <a:pPr marL="0" indent="0">
              <a:buNone/>
            </a:pPr>
            <a:r>
              <a:rPr lang="en-US" sz="1300" b="1" dirty="0">
                <a:solidFill>
                  <a:srgbClr val="1B4A7A"/>
                </a:solidFill>
                <a:latin typeface="Calibri" pitchFamily="34" charset="0"/>
                <a:ea typeface="Calibri" pitchFamily="34" charset="-122"/>
                <a:cs typeface="Calibri" pitchFamily="34" charset="-120"/>
              </a:rPr>
              <a:t>Automated Compliance</a:t>
            </a:r>
            <a:endParaRPr lang="en-US" sz="1300" dirty="0"/>
          </a:p>
        </p:txBody>
      </p:sp>
      <p:sp>
        <p:nvSpPr>
          <p:cNvPr id="28" name="Text 21"/>
          <p:cNvSpPr/>
          <p:nvPr/>
        </p:nvSpPr>
        <p:spPr>
          <a:xfrm>
            <a:off x="4206240" y="3767328"/>
            <a:ext cx="1645920" cy="804672"/>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Auto-generate regulatory reports and flag compliance gaps with AI-assisted monitoring</a:t>
            </a:r>
            <a:endParaRPr lang="en-US" sz="1000" dirty="0"/>
          </a:p>
        </p:txBody>
      </p:sp>
      <p:sp>
        <p:nvSpPr>
          <p:cNvPr id="29" name="Shape 22"/>
          <p:cNvSpPr/>
          <p:nvPr/>
        </p:nvSpPr>
        <p:spPr>
          <a:xfrm>
            <a:off x="6126480" y="3108960"/>
            <a:ext cx="2697480" cy="16459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30" name="Shape 23"/>
          <p:cNvSpPr/>
          <p:nvPr/>
        </p:nvSpPr>
        <p:spPr>
          <a:xfrm>
            <a:off x="6291072" y="3566160"/>
            <a:ext cx="658368" cy="658368"/>
          </a:xfrm>
          <a:prstGeom prst="ellipse">
            <a:avLst/>
          </a:prstGeom>
          <a:solidFill>
            <a:srgbClr val="00A651"/>
          </a:solidFill>
          <a:ln w="12700">
            <a:solidFill>
              <a:srgbClr val="333333"/>
            </a:solidFill>
            <a:prstDash val="solid"/>
          </a:ln>
        </p:spPr>
        <p:txBody>
          <a:bodyPr/>
          <a:lstStyle/>
          <a:p>
            <a:endParaRPr lang="en-US"/>
          </a:p>
        </p:txBody>
      </p:sp>
      <p:pic>
        <p:nvPicPr>
          <p:cNvPr id="31" name="Image 5" descr="preencoded.png"/>
          <p:cNvPicPr>
            <a:picLocks noChangeAspect="1"/>
          </p:cNvPicPr>
          <p:nvPr/>
        </p:nvPicPr>
        <p:blipFill>
          <a:blip r:embed="rId8"/>
          <a:stretch>
            <a:fillRect/>
          </a:stretch>
        </p:blipFill>
        <p:spPr>
          <a:xfrm>
            <a:off x="6400800" y="3675888"/>
            <a:ext cx="438912" cy="438912"/>
          </a:xfrm>
          <a:prstGeom prst="rect">
            <a:avLst/>
          </a:prstGeom>
        </p:spPr>
      </p:pic>
      <p:sp>
        <p:nvSpPr>
          <p:cNvPr id="32" name="Text 24"/>
          <p:cNvSpPr/>
          <p:nvPr/>
        </p:nvSpPr>
        <p:spPr>
          <a:xfrm>
            <a:off x="7086600" y="3337560"/>
            <a:ext cx="1645920" cy="411480"/>
          </a:xfrm>
          <a:prstGeom prst="rect">
            <a:avLst/>
          </a:prstGeom>
          <a:noFill/>
          <a:ln/>
        </p:spPr>
        <p:txBody>
          <a:bodyPr wrap="square" lIns="0" tIns="0" rIns="0" bIns="0" rtlCol="0" anchor="ctr"/>
          <a:lstStyle/>
          <a:p>
            <a:pPr marL="0" indent="0">
              <a:buNone/>
            </a:pPr>
            <a:r>
              <a:rPr lang="en-US" sz="1300" b="1" dirty="0">
                <a:solidFill>
                  <a:srgbClr val="00A651"/>
                </a:solidFill>
                <a:latin typeface="Calibri" pitchFamily="34" charset="0"/>
                <a:ea typeface="Calibri" pitchFamily="34" charset="-122"/>
                <a:cs typeface="Calibri" pitchFamily="34" charset="-120"/>
              </a:rPr>
              <a:t>Predictive Retention</a:t>
            </a:r>
            <a:endParaRPr lang="en-US" sz="1300" dirty="0"/>
          </a:p>
        </p:txBody>
      </p:sp>
      <p:sp>
        <p:nvSpPr>
          <p:cNvPr id="33" name="Text 25"/>
          <p:cNvSpPr/>
          <p:nvPr/>
        </p:nvSpPr>
        <p:spPr>
          <a:xfrm>
            <a:off x="7086600" y="3767328"/>
            <a:ext cx="1645920" cy="804672"/>
          </a:xfrm>
          <a:prstGeom prst="rect">
            <a:avLst/>
          </a:prstGeom>
          <a:noFill/>
          <a:ln/>
        </p:spPr>
        <p:txBody>
          <a:bodyPr wrap="square" lIns="0" tIns="0" rIns="0" bIns="0" rtlCol="0" anchor="t"/>
          <a:lstStyle/>
          <a:p>
            <a:pPr marL="0" indent="0">
              <a:buNone/>
            </a:pPr>
            <a:r>
              <a:rPr lang="en-US" sz="1000" dirty="0">
                <a:solidFill>
                  <a:srgbClr val="4A5568"/>
                </a:solidFill>
                <a:latin typeface="Calibri" pitchFamily="34" charset="0"/>
                <a:ea typeface="Calibri" pitchFamily="34" charset="-122"/>
                <a:cs typeface="Calibri" pitchFamily="34" charset="-120"/>
              </a:rPr>
              <a:t>Identify at-risk members months before they leave and trigger personalized outreach</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JHBI in Action: Use Cases</a:t>
            </a:r>
            <a:endParaRPr lang="en-US" sz="3400" dirty="0"/>
          </a:p>
        </p:txBody>
      </p:sp>
      <p:sp>
        <p:nvSpPr>
          <p:cNvPr id="3" name="Shape 1"/>
          <p:cNvSpPr/>
          <p:nvPr/>
        </p:nvSpPr>
        <p:spPr>
          <a:xfrm>
            <a:off x="365760" y="1005840"/>
            <a:ext cx="2697480" cy="384048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4" name="Shape 2"/>
          <p:cNvSpPr/>
          <p:nvPr/>
        </p:nvSpPr>
        <p:spPr>
          <a:xfrm>
            <a:off x="365760" y="1005840"/>
            <a:ext cx="2697480" cy="502920"/>
          </a:xfrm>
          <a:prstGeom prst="rect">
            <a:avLst/>
          </a:prstGeom>
          <a:solidFill>
            <a:srgbClr val="003057"/>
          </a:solidFill>
          <a:ln w="12700">
            <a:solidFill>
              <a:srgbClr val="333333"/>
            </a:solidFill>
            <a:prstDash val="solid"/>
          </a:ln>
        </p:spPr>
        <p:txBody>
          <a:bodyPr/>
          <a:lstStyle/>
          <a:p>
            <a:endParaRPr lang="en-US"/>
          </a:p>
        </p:txBody>
      </p:sp>
      <p:sp>
        <p:nvSpPr>
          <p:cNvPr id="5" name="Text 3"/>
          <p:cNvSpPr/>
          <p:nvPr/>
        </p:nvSpPr>
        <p:spPr>
          <a:xfrm>
            <a:off x="475488" y="1024128"/>
            <a:ext cx="2468880" cy="22860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Credit Union</a:t>
            </a:r>
            <a:endParaRPr lang="en-US" sz="900" dirty="0"/>
          </a:p>
        </p:txBody>
      </p:sp>
      <p:sp>
        <p:nvSpPr>
          <p:cNvPr id="6" name="Text 4"/>
          <p:cNvSpPr/>
          <p:nvPr/>
        </p:nvSpPr>
        <p:spPr>
          <a:xfrm>
            <a:off x="475488" y="1234440"/>
            <a:ext cx="246888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Member Lifetime Value</a:t>
            </a:r>
            <a:endParaRPr lang="en-US" sz="1200" dirty="0"/>
          </a:p>
        </p:txBody>
      </p:sp>
      <p:sp>
        <p:nvSpPr>
          <p:cNvPr id="7" name="Text 5"/>
          <p:cNvSpPr/>
          <p:nvPr/>
        </p:nvSpPr>
        <p:spPr>
          <a:xfrm>
            <a:off x="475488" y="1600200"/>
            <a:ext cx="2468880" cy="228600"/>
          </a:xfrm>
          <a:prstGeom prst="rect">
            <a:avLst/>
          </a:prstGeom>
          <a:noFill/>
          <a:ln/>
        </p:spPr>
        <p:txBody>
          <a:bodyPr wrap="square" lIns="0" tIns="0" rIns="0" bIns="0" rtlCol="0" anchor="ctr"/>
          <a:lstStyle/>
          <a:p>
            <a:pPr marL="0" indent="0">
              <a:buNone/>
            </a:pPr>
            <a:r>
              <a:rPr lang="en-US" sz="950" b="1" kern="0" spc="100" dirty="0">
                <a:solidFill>
                  <a:srgbClr val="003057"/>
                </a:solidFill>
                <a:latin typeface="Calibri" pitchFamily="34" charset="0"/>
                <a:ea typeface="Calibri" pitchFamily="34" charset="-122"/>
                <a:cs typeface="Calibri" pitchFamily="34" charset="-120"/>
              </a:rPr>
              <a:t>Challenge</a:t>
            </a:r>
            <a:endParaRPr lang="en-US" sz="950" dirty="0"/>
          </a:p>
        </p:txBody>
      </p:sp>
      <p:sp>
        <p:nvSpPr>
          <p:cNvPr id="8" name="Text 6"/>
          <p:cNvSpPr/>
          <p:nvPr/>
        </p:nvSpPr>
        <p:spPr>
          <a:xfrm>
            <a:off x="475488" y="1847088"/>
            <a:ext cx="2468880" cy="594360"/>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No unified view of member relationship depth or profitability</a:t>
            </a:r>
            <a:endParaRPr lang="en-US" sz="1050" dirty="0"/>
          </a:p>
        </p:txBody>
      </p:sp>
      <p:sp>
        <p:nvSpPr>
          <p:cNvPr id="9" name="Text 7"/>
          <p:cNvSpPr/>
          <p:nvPr/>
        </p:nvSpPr>
        <p:spPr>
          <a:xfrm>
            <a:off x="475488" y="2496312"/>
            <a:ext cx="2468880" cy="228600"/>
          </a:xfrm>
          <a:prstGeom prst="rect">
            <a:avLst/>
          </a:prstGeom>
          <a:noFill/>
          <a:ln/>
        </p:spPr>
        <p:txBody>
          <a:bodyPr wrap="square" lIns="0" tIns="0" rIns="0" bIns="0" rtlCol="0" anchor="ctr"/>
          <a:lstStyle/>
          <a:p>
            <a:pPr marL="0" indent="0">
              <a:buNone/>
            </a:pPr>
            <a:r>
              <a:rPr lang="en-US" sz="950" b="1" kern="0" spc="100" dirty="0">
                <a:solidFill>
                  <a:srgbClr val="003057"/>
                </a:solidFill>
                <a:latin typeface="Calibri" pitchFamily="34" charset="0"/>
                <a:ea typeface="Calibri" pitchFamily="34" charset="-122"/>
                <a:cs typeface="Calibri" pitchFamily="34" charset="-120"/>
              </a:rPr>
              <a:t>Solution</a:t>
            </a:r>
            <a:endParaRPr lang="en-US" sz="950" dirty="0"/>
          </a:p>
        </p:txBody>
      </p:sp>
      <p:sp>
        <p:nvSpPr>
          <p:cNvPr id="10" name="Text 8"/>
          <p:cNvSpPr/>
          <p:nvPr/>
        </p:nvSpPr>
        <p:spPr>
          <a:xfrm>
            <a:off x="475488" y="2743200"/>
            <a:ext cx="2468880" cy="685800"/>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JHBI aggregates cross-product balances, transaction history, and engagement signals into a single LTV score</a:t>
            </a:r>
            <a:endParaRPr lang="en-US" sz="1050" dirty="0"/>
          </a:p>
        </p:txBody>
      </p:sp>
      <p:sp>
        <p:nvSpPr>
          <p:cNvPr id="11" name="Shape 9"/>
          <p:cNvSpPr/>
          <p:nvPr/>
        </p:nvSpPr>
        <p:spPr>
          <a:xfrm>
            <a:off x="475488" y="3493008"/>
            <a:ext cx="2468880" cy="1188720"/>
          </a:xfrm>
          <a:prstGeom prst="rect">
            <a:avLst/>
          </a:prstGeom>
          <a:solidFill>
            <a:srgbClr val="003057">
              <a:alpha val="10000"/>
            </a:srgbClr>
          </a:solidFill>
          <a:ln w="12700">
            <a:solidFill>
              <a:srgbClr val="333333"/>
            </a:solidFill>
            <a:prstDash val="solid"/>
          </a:ln>
        </p:spPr>
        <p:txBody>
          <a:bodyPr/>
          <a:lstStyle/>
          <a:p>
            <a:endParaRPr lang="en-US"/>
          </a:p>
        </p:txBody>
      </p:sp>
      <p:sp>
        <p:nvSpPr>
          <p:cNvPr id="12" name="Text 10"/>
          <p:cNvSpPr/>
          <p:nvPr/>
        </p:nvSpPr>
        <p:spPr>
          <a:xfrm>
            <a:off x="548640" y="3547872"/>
            <a:ext cx="2286000" cy="228600"/>
          </a:xfrm>
          <a:prstGeom prst="rect">
            <a:avLst/>
          </a:prstGeom>
          <a:noFill/>
          <a:ln/>
        </p:spPr>
        <p:txBody>
          <a:bodyPr wrap="square" lIns="0" tIns="0" rIns="0" bIns="0" rtlCol="0" anchor="ctr"/>
          <a:lstStyle/>
          <a:p>
            <a:pPr marL="0" indent="0">
              <a:buNone/>
            </a:pPr>
            <a:r>
              <a:rPr lang="en-US" sz="950" b="1" kern="0" spc="100" dirty="0">
                <a:solidFill>
                  <a:srgbClr val="003057"/>
                </a:solidFill>
                <a:latin typeface="Calibri" pitchFamily="34" charset="0"/>
                <a:ea typeface="Calibri" pitchFamily="34" charset="-122"/>
                <a:cs typeface="Calibri" pitchFamily="34" charset="-120"/>
              </a:rPr>
              <a:t>Outcome</a:t>
            </a:r>
            <a:endParaRPr lang="en-US" sz="950" dirty="0"/>
          </a:p>
        </p:txBody>
      </p:sp>
      <p:sp>
        <p:nvSpPr>
          <p:cNvPr id="13" name="Text 11"/>
          <p:cNvSpPr/>
          <p:nvPr/>
        </p:nvSpPr>
        <p:spPr>
          <a:xfrm>
            <a:off x="548640" y="3794760"/>
            <a:ext cx="2286000" cy="822960"/>
          </a:xfrm>
          <a:prstGeom prst="rect">
            <a:avLst/>
          </a:prstGeom>
          <a:noFill/>
          <a:ln/>
        </p:spPr>
        <p:txBody>
          <a:bodyPr wrap="square" lIns="0" tIns="0" rIns="0" bIns="0" rtlCol="0" anchor="t"/>
          <a:lstStyle/>
          <a:p>
            <a:pPr marL="0" indent="0">
              <a:buNone/>
            </a:pPr>
            <a:r>
              <a:rPr lang="en-US" sz="1050" dirty="0">
                <a:solidFill>
                  <a:srgbClr val="1A202C"/>
                </a:solidFill>
                <a:latin typeface="Calibri" pitchFamily="34" charset="0"/>
                <a:ea typeface="Calibri" pitchFamily="34" charset="-122"/>
                <a:cs typeface="Calibri" pitchFamily="34" charset="-120"/>
              </a:rPr>
              <a:t>23% increase in targeted product offers; 15% improvement in member retention</a:t>
            </a:r>
            <a:endParaRPr lang="en-US" sz="1050" dirty="0"/>
          </a:p>
        </p:txBody>
      </p:sp>
      <p:sp>
        <p:nvSpPr>
          <p:cNvPr id="14" name="Shape 12"/>
          <p:cNvSpPr/>
          <p:nvPr/>
        </p:nvSpPr>
        <p:spPr>
          <a:xfrm>
            <a:off x="3246120" y="1005840"/>
            <a:ext cx="2697480" cy="384048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15" name="Shape 13"/>
          <p:cNvSpPr/>
          <p:nvPr/>
        </p:nvSpPr>
        <p:spPr>
          <a:xfrm>
            <a:off x="3246120" y="1005840"/>
            <a:ext cx="2697480" cy="502920"/>
          </a:xfrm>
          <a:prstGeom prst="rect">
            <a:avLst/>
          </a:prstGeom>
          <a:solidFill>
            <a:srgbClr val="009B8D"/>
          </a:solidFill>
          <a:ln w="12700">
            <a:solidFill>
              <a:srgbClr val="333333"/>
            </a:solidFill>
            <a:prstDash val="solid"/>
          </a:ln>
        </p:spPr>
        <p:txBody>
          <a:bodyPr/>
          <a:lstStyle/>
          <a:p>
            <a:endParaRPr lang="en-US"/>
          </a:p>
        </p:txBody>
      </p:sp>
      <p:sp>
        <p:nvSpPr>
          <p:cNvPr id="16" name="Text 14"/>
          <p:cNvSpPr/>
          <p:nvPr/>
        </p:nvSpPr>
        <p:spPr>
          <a:xfrm>
            <a:off x="3355848" y="1024128"/>
            <a:ext cx="2468880" cy="22860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Community Bank</a:t>
            </a:r>
            <a:endParaRPr lang="en-US" sz="900" dirty="0"/>
          </a:p>
        </p:txBody>
      </p:sp>
      <p:sp>
        <p:nvSpPr>
          <p:cNvPr id="17" name="Text 15"/>
          <p:cNvSpPr/>
          <p:nvPr/>
        </p:nvSpPr>
        <p:spPr>
          <a:xfrm>
            <a:off x="3355848" y="1234440"/>
            <a:ext cx="246888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Fraud Pattern Detection</a:t>
            </a:r>
            <a:endParaRPr lang="en-US" sz="1200" dirty="0"/>
          </a:p>
        </p:txBody>
      </p:sp>
      <p:sp>
        <p:nvSpPr>
          <p:cNvPr id="18" name="Text 16"/>
          <p:cNvSpPr/>
          <p:nvPr/>
        </p:nvSpPr>
        <p:spPr>
          <a:xfrm>
            <a:off x="3355848" y="1600200"/>
            <a:ext cx="2468880" cy="228600"/>
          </a:xfrm>
          <a:prstGeom prst="rect">
            <a:avLst/>
          </a:prstGeom>
          <a:noFill/>
          <a:ln/>
        </p:spPr>
        <p:txBody>
          <a:bodyPr wrap="square" lIns="0" tIns="0" rIns="0" bIns="0" rtlCol="0" anchor="ctr"/>
          <a:lstStyle/>
          <a:p>
            <a:pPr marL="0" indent="0">
              <a:buNone/>
            </a:pPr>
            <a:r>
              <a:rPr lang="en-US" sz="950" b="1" kern="0" spc="100" dirty="0">
                <a:solidFill>
                  <a:srgbClr val="009B8D"/>
                </a:solidFill>
                <a:latin typeface="Calibri" pitchFamily="34" charset="0"/>
                <a:ea typeface="Calibri" pitchFamily="34" charset="-122"/>
                <a:cs typeface="Calibri" pitchFamily="34" charset="-120"/>
              </a:rPr>
              <a:t>Challenge</a:t>
            </a:r>
            <a:endParaRPr lang="en-US" sz="950" dirty="0"/>
          </a:p>
        </p:txBody>
      </p:sp>
      <p:sp>
        <p:nvSpPr>
          <p:cNvPr id="19" name="Text 17"/>
          <p:cNvSpPr/>
          <p:nvPr/>
        </p:nvSpPr>
        <p:spPr>
          <a:xfrm>
            <a:off x="3355848" y="1847088"/>
            <a:ext cx="2468880" cy="594360"/>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Fraud signals buried across siloed systems — detected too late</a:t>
            </a:r>
            <a:endParaRPr lang="en-US" sz="1050" dirty="0"/>
          </a:p>
        </p:txBody>
      </p:sp>
      <p:sp>
        <p:nvSpPr>
          <p:cNvPr id="20" name="Text 18"/>
          <p:cNvSpPr/>
          <p:nvPr/>
        </p:nvSpPr>
        <p:spPr>
          <a:xfrm>
            <a:off x="3355848" y="2496312"/>
            <a:ext cx="2468880" cy="228600"/>
          </a:xfrm>
          <a:prstGeom prst="rect">
            <a:avLst/>
          </a:prstGeom>
          <a:noFill/>
          <a:ln/>
        </p:spPr>
        <p:txBody>
          <a:bodyPr wrap="square" lIns="0" tIns="0" rIns="0" bIns="0" rtlCol="0" anchor="ctr"/>
          <a:lstStyle/>
          <a:p>
            <a:pPr marL="0" indent="0">
              <a:buNone/>
            </a:pPr>
            <a:r>
              <a:rPr lang="en-US" sz="950" b="1" kern="0" spc="100" dirty="0">
                <a:solidFill>
                  <a:srgbClr val="009B8D"/>
                </a:solidFill>
                <a:latin typeface="Calibri" pitchFamily="34" charset="0"/>
                <a:ea typeface="Calibri" pitchFamily="34" charset="-122"/>
                <a:cs typeface="Calibri" pitchFamily="34" charset="-120"/>
              </a:rPr>
              <a:t>Solution</a:t>
            </a:r>
            <a:endParaRPr lang="en-US" sz="950" dirty="0"/>
          </a:p>
        </p:txBody>
      </p:sp>
      <p:sp>
        <p:nvSpPr>
          <p:cNvPr id="21" name="Text 19"/>
          <p:cNvSpPr/>
          <p:nvPr/>
        </p:nvSpPr>
        <p:spPr>
          <a:xfrm>
            <a:off x="3355848" y="2743200"/>
            <a:ext cx="2468880" cy="685800"/>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Real-time data harmonization enables cross-channel fraud pattern detection with ML models fed by JHBI</a:t>
            </a:r>
            <a:endParaRPr lang="en-US" sz="1050" dirty="0"/>
          </a:p>
        </p:txBody>
      </p:sp>
      <p:sp>
        <p:nvSpPr>
          <p:cNvPr id="22" name="Shape 20"/>
          <p:cNvSpPr/>
          <p:nvPr/>
        </p:nvSpPr>
        <p:spPr>
          <a:xfrm>
            <a:off x="3355848" y="3493008"/>
            <a:ext cx="2468880" cy="1188720"/>
          </a:xfrm>
          <a:prstGeom prst="rect">
            <a:avLst/>
          </a:prstGeom>
          <a:solidFill>
            <a:srgbClr val="009B8D">
              <a:alpha val="10000"/>
            </a:srgbClr>
          </a:solidFill>
          <a:ln w="12700">
            <a:solidFill>
              <a:srgbClr val="333333"/>
            </a:solidFill>
            <a:prstDash val="solid"/>
          </a:ln>
        </p:spPr>
        <p:txBody>
          <a:bodyPr/>
          <a:lstStyle/>
          <a:p>
            <a:endParaRPr lang="en-US"/>
          </a:p>
        </p:txBody>
      </p:sp>
      <p:sp>
        <p:nvSpPr>
          <p:cNvPr id="23" name="Text 21"/>
          <p:cNvSpPr/>
          <p:nvPr/>
        </p:nvSpPr>
        <p:spPr>
          <a:xfrm>
            <a:off x="3429000" y="3547872"/>
            <a:ext cx="2286000" cy="228600"/>
          </a:xfrm>
          <a:prstGeom prst="rect">
            <a:avLst/>
          </a:prstGeom>
          <a:noFill/>
          <a:ln/>
        </p:spPr>
        <p:txBody>
          <a:bodyPr wrap="square" lIns="0" tIns="0" rIns="0" bIns="0" rtlCol="0" anchor="ctr"/>
          <a:lstStyle/>
          <a:p>
            <a:pPr marL="0" indent="0">
              <a:buNone/>
            </a:pPr>
            <a:r>
              <a:rPr lang="en-US" sz="950" b="1" kern="0" spc="100" dirty="0">
                <a:solidFill>
                  <a:srgbClr val="009B8D"/>
                </a:solidFill>
                <a:latin typeface="Calibri" pitchFamily="34" charset="0"/>
                <a:ea typeface="Calibri" pitchFamily="34" charset="-122"/>
                <a:cs typeface="Calibri" pitchFamily="34" charset="-120"/>
              </a:rPr>
              <a:t>Outcome</a:t>
            </a:r>
            <a:endParaRPr lang="en-US" sz="950" dirty="0"/>
          </a:p>
        </p:txBody>
      </p:sp>
      <p:sp>
        <p:nvSpPr>
          <p:cNvPr id="24" name="Text 22"/>
          <p:cNvSpPr/>
          <p:nvPr/>
        </p:nvSpPr>
        <p:spPr>
          <a:xfrm>
            <a:off x="3429000" y="3794760"/>
            <a:ext cx="2286000" cy="822960"/>
          </a:xfrm>
          <a:prstGeom prst="rect">
            <a:avLst/>
          </a:prstGeom>
          <a:noFill/>
          <a:ln/>
        </p:spPr>
        <p:txBody>
          <a:bodyPr wrap="square" lIns="0" tIns="0" rIns="0" bIns="0" rtlCol="0" anchor="t"/>
          <a:lstStyle/>
          <a:p>
            <a:pPr marL="0" indent="0">
              <a:buNone/>
            </a:pPr>
            <a:r>
              <a:rPr lang="en-US" sz="1050" dirty="0">
                <a:solidFill>
                  <a:srgbClr val="1A202C"/>
                </a:solidFill>
                <a:latin typeface="Calibri" pitchFamily="34" charset="0"/>
                <a:ea typeface="Calibri" pitchFamily="34" charset="-122"/>
                <a:cs typeface="Calibri" pitchFamily="34" charset="-120"/>
              </a:rPr>
              <a:t>40% reduction in fraud losses; alerts surfaced in minutes rather than days</a:t>
            </a:r>
            <a:endParaRPr lang="en-US" sz="1050" dirty="0"/>
          </a:p>
        </p:txBody>
      </p:sp>
      <p:sp>
        <p:nvSpPr>
          <p:cNvPr id="25" name="Shape 23"/>
          <p:cNvSpPr/>
          <p:nvPr/>
        </p:nvSpPr>
        <p:spPr>
          <a:xfrm>
            <a:off x="6126480" y="1005840"/>
            <a:ext cx="2697480" cy="3840480"/>
          </a:xfrm>
          <a:prstGeom prst="rect">
            <a:avLst/>
          </a:prstGeom>
          <a:solidFill>
            <a:srgbClr val="FFFFFF"/>
          </a:solidFill>
          <a:ln w="6350">
            <a:solidFill>
              <a:srgbClr val="E2EBF3"/>
            </a:solidFill>
            <a:prstDash val="solid"/>
          </a:ln>
          <a:effectLst>
            <a:outerShdw blurRad="127000" dist="38100" dir="8100000" algn="bl" rotWithShape="0">
              <a:srgbClr val="000000">
                <a:alpha val="10000"/>
              </a:srgbClr>
            </a:outerShdw>
          </a:effectLst>
        </p:spPr>
        <p:txBody>
          <a:bodyPr/>
          <a:lstStyle/>
          <a:p>
            <a:endParaRPr lang="en-US"/>
          </a:p>
        </p:txBody>
      </p:sp>
      <p:sp>
        <p:nvSpPr>
          <p:cNvPr id="26" name="Shape 24"/>
          <p:cNvSpPr/>
          <p:nvPr/>
        </p:nvSpPr>
        <p:spPr>
          <a:xfrm>
            <a:off x="6126480" y="1005840"/>
            <a:ext cx="2697480" cy="502920"/>
          </a:xfrm>
          <a:prstGeom prst="rect">
            <a:avLst/>
          </a:prstGeom>
          <a:solidFill>
            <a:srgbClr val="00A651"/>
          </a:solidFill>
          <a:ln w="12700">
            <a:solidFill>
              <a:srgbClr val="333333"/>
            </a:solidFill>
            <a:prstDash val="solid"/>
          </a:ln>
        </p:spPr>
        <p:txBody>
          <a:bodyPr/>
          <a:lstStyle/>
          <a:p>
            <a:endParaRPr lang="en-US"/>
          </a:p>
        </p:txBody>
      </p:sp>
      <p:sp>
        <p:nvSpPr>
          <p:cNvPr id="27" name="Text 25"/>
          <p:cNvSpPr/>
          <p:nvPr/>
        </p:nvSpPr>
        <p:spPr>
          <a:xfrm>
            <a:off x="6236208" y="1024128"/>
            <a:ext cx="2468880" cy="228600"/>
          </a:xfrm>
          <a:prstGeom prst="rect">
            <a:avLst/>
          </a:prstGeom>
          <a:noFill/>
          <a:ln/>
        </p:spPr>
        <p:txBody>
          <a:bodyPr wrap="square" lIns="0" tIns="0" rIns="0" bIns="0" rtlCol="0" anchor="ctr"/>
          <a:lstStyle/>
          <a:p>
            <a:pPr marL="0" indent="0">
              <a:buNone/>
            </a:pPr>
            <a:r>
              <a:rPr lang="en-US" sz="900" b="1" kern="0" spc="100" dirty="0">
                <a:solidFill>
                  <a:srgbClr val="FFFFFF"/>
                </a:solidFill>
                <a:latin typeface="Calibri" pitchFamily="34" charset="0"/>
                <a:ea typeface="Calibri" pitchFamily="34" charset="-122"/>
                <a:cs typeface="Calibri" pitchFamily="34" charset="-120"/>
              </a:rPr>
              <a:t>Financial Institution</a:t>
            </a:r>
            <a:endParaRPr lang="en-US" sz="900" dirty="0"/>
          </a:p>
        </p:txBody>
      </p:sp>
      <p:sp>
        <p:nvSpPr>
          <p:cNvPr id="28" name="Text 26"/>
          <p:cNvSpPr/>
          <p:nvPr/>
        </p:nvSpPr>
        <p:spPr>
          <a:xfrm>
            <a:off x="6236208" y="1234440"/>
            <a:ext cx="246888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Regulatory Reporting</a:t>
            </a:r>
            <a:endParaRPr lang="en-US" sz="1200" dirty="0"/>
          </a:p>
        </p:txBody>
      </p:sp>
      <p:sp>
        <p:nvSpPr>
          <p:cNvPr id="29" name="Text 27"/>
          <p:cNvSpPr/>
          <p:nvPr/>
        </p:nvSpPr>
        <p:spPr>
          <a:xfrm>
            <a:off x="6236208" y="1600200"/>
            <a:ext cx="2468880" cy="228600"/>
          </a:xfrm>
          <a:prstGeom prst="rect">
            <a:avLst/>
          </a:prstGeom>
          <a:noFill/>
          <a:ln/>
        </p:spPr>
        <p:txBody>
          <a:bodyPr wrap="square" lIns="0" tIns="0" rIns="0" bIns="0" rtlCol="0" anchor="ctr"/>
          <a:lstStyle/>
          <a:p>
            <a:pPr marL="0" indent="0">
              <a:buNone/>
            </a:pPr>
            <a:r>
              <a:rPr lang="en-US" sz="950" b="1" kern="0" spc="100" dirty="0">
                <a:solidFill>
                  <a:srgbClr val="00A651"/>
                </a:solidFill>
                <a:latin typeface="Calibri" pitchFamily="34" charset="0"/>
                <a:ea typeface="Calibri" pitchFamily="34" charset="-122"/>
                <a:cs typeface="Calibri" pitchFamily="34" charset="-120"/>
              </a:rPr>
              <a:t>Challenge</a:t>
            </a:r>
            <a:endParaRPr lang="en-US" sz="950" dirty="0"/>
          </a:p>
        </p:txBody>
      </p:sp>
      <p:sp>
        <p:nvSpPr>
          <p:cNvPr id="30" name="Text 28"/>
          <p:cNvSpPr/>
          <p:nvPr/>
        </p:nvSpPr>
        <p:spPr>
          <a:xfrm>
            <a:off x="6236208" y="1847088"/>
            <a:ext cx="2468880" cy="594360"/>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Manual, time-consuming regulatory report preparation across multiple data sources</a:t>
            </a:r>
            <a:endParaRPr lang="en-US" sz="1050" dirty="0"/>
          </a:p>
        </p:txBody>
      </p:sp>
      <p:sp>
        <p:nvSpPr>
          <p:cNvPr id="31" name="Text 29"/>
          <p:cNvSpPr/>
          <p:nvPr/>
        </p:nvSpPr>
        <p:spPr>
          <a:xfrm>
            <a:off x="6236208" y="2496312"/>
            <a:ext cx="2468880" cy="228600"/>
          </a:xfrm>
          <a:prstGeom prst="rect">
            <a:avLst/>
          </a:prstGeom>
          <a:noFill/>
          <a:ln/>
        </p:spPr>
        <p:txBody>
          <a:bodyPr wrap="square" lIns="0" tIns="0" rIns="0" bIns="0" rtlCol="0" anchor="ctr"/>
          <a:lstStyle/>
          <a:p>
            <a:pPr marL="0" indent="0">
              <a:buNone/>
            </a:pPr>
            <a:r>
              <a:rPr lang="en-US" sz="950" b="1" kern="0" spc="100" dirty="0">
                <a:solidFill>
                  <a:srgbClr val="00A651"/>
                </a:solidFill>
                <a:latin typeface="Calibri" pitchFamily="34" charset="0"/>
                <a:ea typeface="Calibri" pitchFamily="34" charset="-122"/>
                <a:cs typeface="Calibri" pitchFamily="34" charset="-120"/>
              </a:rPr>
              <a:t>Solution</a:t>
            </a:r>
            <a:endParaRPr lang="en-US" sz="950" dirty="0"/>
          </a:p>
        </p:txBody>
      </p:sp>
      <p:sp>
        <p:nvSpPr>
          <p:cNvPr id="32" name="Text 30"/>
          <p:cNvSpPr/>
          <p:nvPr/>
        </p:nvSpPr>
        <p:spPr>
          <a:xfrm>
            <a:off x="6236208" y="2743200"/>
            <a:ext cx="2468880" cy="685800"/>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JHBI's governed data layer enables automated, audit-ready report generation with lineage tracing</a:t>
            </a:r>
            <a:endParaRPr lang="en-US" sz="1050" dirty="0"/>
          </a:p>
        </p:txBody>
      </p:sp>
      <p:sp>
        <p:nvSpPr>
          <p:cNvPr id="33" name="Shape 31"/>
          <p:cNvSpPr/>
          <p:nvPr/>
        </p:nvSpPr>
        <p:spPr>
          <a:xfrm>
            <a:off x="6236208" y="3493008"/>
            <a:ext cx="2468880" cy="1188720"/>
          </a:xfrm>
          <a:prstGeom prst="rect">
            <a:avLst/>
          </a:prstGeom>
          <a:solidFill>
            <a:srgbClr val="00A651">
              <a:alpha val="10000"/>
            </a:srgbClr>
          </a:solidFill>
          <a:ln w="12700">
            <a:solidFill>
              <a:srgbClr val="333333"/>
            </a:solidFill>
            <a:prstDash val="solid"/>
          </a:ln>
        </p:spPr>
        <p:txBody>
          <a:bodyPr/>
          <a:lstStyle/>
          <a:p>
            <a:endParaRPr lang="en-US"/>
          </a:p>
        </p:txBody>
      </p:sp>
      <p:sp>
        <p:nvSpPr>
          <p:cNvPr id="34" name="Text 32"/>
          <p:cNvSpPr/>
          <p:nvPr/>
        </p:nvSpPr>
        <p:spPr>
          <a:xfrm>
            <a:off x="6309360" y="3547872"/>
            <a:ext cx="2286000" cy="228600"/>
          </a:xfrm>
          <a:prstGeom prst="rect">
            <a:avLst/>
          </a:prstGeom>
          <a:noFill/>
          <a:ln/>
        </p:spPr>
        <p:txBody>
          <a:bodyPr wrap="square" lIns="0" tIns="0" rIns="0" bIns="0" rtlCol="0" anchor="ctr"/>
          <a:lstStyle/>
          <a:p>
            <a:pPr marL="0" indent="0">
              <a:buNone/>
            </a:pPr>
            <a:r>
              <a:rPr lang="en-US" sz="950" b="1" kern="0" spc="100" dirty="0">
                <a:solidFill>
                  <a:srgbClr val="00A651"/>
                </a:solidFill>
                <a:latin typeface="Calibri" pitchFamily="34" charset="0"/>
                <a:ea typeface="Calibri" pitchFamily="34" charset="-122"/>
                <a:cs typeface="Calibri" pitchFamily="34" charset="-120"/>
              </a:rPr>
              <a:t>Outcome</a:t>
            </a:r>
            <a:endParaRPr lang="en-US" sz="950" dirty="0"/>
          </a:p>
        </p:txBody>
      </p:sp>
      <p:sp>
        <p:nvSpPr>
          <p:cNvPr id="35" name="Text 33"/>
          <p:cNvSpPr/>
          <p:nvPr/>
        </p:nvSpPr>
        <p:spPr>
          <a:xfrm>
            <a:off x="6309360" y="3794760"/>
            <a:ext cx="2286000" cy="822960"/>
          </a:xfrm>
          <a:prstGeom prst="rect">
            <a:avLst/>
          </a:prstGeom>
          <a:noFill/>
          <a:ln/>
        </p:spPr>
        <p:txBody>
          <a:bodyPr wrap="square" lIns="0" tIns="0" rIns="0" bIns="0" rtlCol="0" anchor="t"/>
          <a:lstStyle/>
          <a:p>
            <a:pPr marL="0" indent="0">
              <a:buNone/>
            </a:pPr>
            <a:r>
              <a:rPr lang="en-US" sz="1050" dirty="0">
                <a:solidFill>
                  <a:srgbClr val="1A202C"/>
                </a:solidFill>
                <a:latin typeface="Calibri" pitchFamily="34" charset="0"/>
                <a:ea typeface="Calibri" pitchFamily="34" charset="-122"/>
                <a:cs typeface="Calibri" pitchFamily="34" charset="-120"/>
              </a:rPr>
              <a:t>75% reduction in reporting preparation time; zero audit findings on data accuracy</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000" b="1" dirty="0">
                <a:solidFill>
                  <a:srgbClr val="003057"/>
                </a:solidFill>
                <a:latin typeface="Calibri" pitchFamily="34" charset="0"/>
                <a:ea typeface="Calibri" pitchFamily="34" charset="-122"/>
                <a:cs typeface="Calibri" pitchFamily="34" charset="-120"/>
              </a:rPr>
              <a:t>Your Migration Journey: ARCU to JHBI</a:t>
            </a:r>
            <a:endParaRPr lang="en-US" sz="30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A guided, phased approach that minimizes disruption while unlocking new capabilities at every step.</a:t>
            </a:r>
            <a:endParaRPr lang="en-US" sz="1300" dirty="0"/>
          </a:p>
        </p:txBody>
      </p:sp>
      <p:sp>
        <p:nvSpPr>
          <p:cNvPr id="4" name="Shape 2"/>
          <p:cNvSpPr/>
          <p:nvPr/>
        </p:nvSpPr>
        <p:spPr>
          <a:xfrm>
            <a:off x="36576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365760" y="1325880"/>
            <a:ext cx="1965960" cy="502920"/>
          </a:xfrm>
          <a:prstGeom prst="rect">
            <a:avLst/>
          </a:prstGeom>
          <a:solidFill>
            <a:srgbClr val="8FA0B4"/>
          </a:solidFill>
          <a:ln w="12700">
            <a:solidFill>
              <a:srgbClr val="333333"/>
            </a:solidFill>
            <a:prstDash val="solid"/>
          </a:ln>
        </p:spPr>
        <p:txBody>
          <a:bodyPr/>
          <a:lstStyle/>
          <a:p>
            <a:endParaRPr lang="en-US"/>
          </a:p>
        </p:txBody>
      </p:sp>
      <p:sp>
        <p:nvSpPr>
          <p:cNvPr id="6" name="Text 4"/>
          <p:cNvSpPr/>
          <p:nvPr/>
        </p:nvSpPr>
        <p:spPr>
          <a:xfrm>
            <a:off x="365760" y="1325880"/>
            <a:ext cx="19659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1</a:t>
            </a:r>
            <a:endParaRPr lang="en-US" sz="1400" dirty="0"/>
          </a:p>
        </p:txBody>
      </p:sp>
      <p:sp>
        <p:nvSpPr>
          <p:cNvPr id="7" name="Shape 5"/>
          <p:cNvSpPr/>
          <p:nvPr/>
        </p:nvSpPr>
        <p:spPr>
          <a:xfrm>
            <a:off x="1024128" y="1920240"/>
            <a:ext cx="658368" cy="658368"/>
          </a:xfrm>
          <a:prstGeom prst="ellipse">
            <a:avLst/>
          </a:prstGeom>
          <a:solidFill>
            <a:srgbClr val="8FA0B4"/>
          </a:solidFill>
          <a:ln w="12700">
            <a:solidFill>
              <a:srgbClr val="333333"/>
            </a:solidFill>
            <a:prstDash val="solid"/>
          </a:ln>
        </p:spPr>
        <p:txBody>
          <a:bodyPr/>
          <a:lstStyle/>
          <a:p>
            <a:endParaRPr lang="en-US"/>
          </a:p>
        </p:txBody>
      </p:sp>
      <p:pic>
        <p:nvPicPr>
          <p:cNvPr id="8" name="Image 0" descr="preencoded.png"/>
          <p:cNvPicPr>
            <a:picLocks noChangeAspect="1"/>
          </p:cNvPicPr>
          <p:nvPr/>
        </p:nvPicPr>
        <p:blipFill>
          <a:blip r:embed="rId3"/>
          <a:stretch>
            <a:fillRect/>
          </a:stretch>
        </p:blipFill>
        <p:spPr>
          <a:xfrm>
            <a:off x="1133856" y="2029968"/>
            <a:ext cx="438912" cy="438912"/>
          </a:xfrm>
          <a:prstGeom prst="rect">
            <a:avLst/>
          </a:prstGeom>
        </p:spPr>
      </p:pic>
      <p:sp>
        <p:nvSpPr>
          <p:cNvPr id="9" name="Text 6"/>
          <p:cNvSpPr/>
          <p:nvPr/>
        </p:nvSpPr>
        <p:spPr>
          <a:xfrm>
            <a:off x="475488" y="2670048"/>
            <a:ext cx="1737360" cy="384048"/>
          </a:xfrm>
          <a:prstGeom prst="rect">
            <a:avLst/>
          </a:prstGeom>
          <a:noFill/>
          <a:ln/>
        </p:spPr>
        <p:txBody>
          <a:bodyPr wrap="square" lIns="0" tIns="0" rIns="0" bIns="0" rtlCol="0" anchor="ctr"/>
          <a:lstStyle/>
          <a:p>
            <a:pPr marL="0" indent="0" algn="ctr">
              <a:buNone/>
            </a:pPr>
            <a:r>
              <a:rPr lang="en-US" sz="1300" b="1" dirty="0">
                <a:solidFill>
                  <a:srgbClr val="1A202C"/>
                </a:solidFill>
                <a:latin typeface="Calibri" pitchFamily="34" charset="0"/>
                <a:ea typeface="Calibri" pitchFamily="34" charset="-122"/>
                <a:cs typeface="Calibri" pitchFamily="34" charset="-120"/>
              </a:rPr>
              <a:t>Assess &amp; Plan</a:t>
            </a:r>
            <a:endParaRPr lang="en-US" sz="1300" dirty="0"/>
          </a:p>
        </p:txBody>
      </p:sp>
      <p:sp>
        <p:nvSpPr>
          <p:cNvPr id="10" name="Text 7"/>
          <p:cNvSpPr/>
          <p:nvPr/>
        </p:nvSpPr>
        <p:spPr>
          <a:xfrm>
            <a:off x="475488" y="3108960"/>
            <a:ext cx="1737360" cy="1554480"/>
          </a:xfrm>
          <a:prstGeom prst="rect">
            <a:avLst/>
          </a:prstGeom>
          <a:noFill/>
          <a:ln/>
        </p:spPr>
        <p:txBody>
          <a:bodyPr wrap="square" lIns="0" tIns="0" rIns="0" bIns="0" rtlCol="0" anchor="t"/>
          <a:lstStyle/>
          <a:p>
            <a:pPr marL="0" indent="0" algn="ctr">
              <a:buNone/>
            </a:pPr>
            <a:r>
              <a:rPr lang="en-US" sz="1050" dirty="0">
                <a:solidFill>
                  <a:srgbClr val="4A5568"/>
                </a:solidFill>
                <a:latin typeface="Calibri" pitchFamily="34" charset="0"/>
                <a:ea typeface="Calibri" pitchFamily="34" charset="-122"/>
                <a:cs typeface="Calibri" pitchFamily="34" charset="-120"/>
              </a:rPr>
              <a:t>Data inventory, gap analysis, and migration roadmap tailored to your environment</a:t>
            </a:r>
            <a:endParaRPr lang="en-US" sz="1050" dirty="0"/>
          </a:p>
        </p:txBody>
      </p:sp>
      <p:sp>
        <p:nvSpPr>
          <p:cNvPr id="11" name="Shape 8"/>
          <p:cNvSpPr/>
          <p:nvPr/>
        </p:nvSpPr>
        <p:spPr>
          <a:xfrm>
            <a:off x="2331720" y="2999232"/>
            <a:ext cx="164592" cy="54864"/>
          </a:xfrm>
          <a:prstGeom prst="rect">
            <a:avLst/>
          </a:prstGeom>
          <a:solidFill>
            <a:srgbClr val="00A651"/>
          </a:solidFill>
          <a:ln w="12700">
            <a:solidFill>
              <a:srgbClr val="333333"/>
            </a:solidFill>
            <a:prstDash val="solid"/>
          </a:ln>
        </p:spPr>
        <p:txBody>
          <a:bodyPr/>
          <a:lstStyle/>
          <a:p>
            <a:endParaRPr lang="en-US"/>
          </a:p>
        </p:txBody>
      </p:sp>
      <p:sp>
        <p:nvSpPr>
          <p:cNvPr id="12" name="Shape 9"/>
          <p:cNvSpPr/>
          <p:nvPr/>
        </p:nvSpPr>
        <p:spPr>
          <a:xfrm>
            <a:off x="251460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10"/>
          <p:cNvSpPr/>
          <p:nvPr/>
        </p:nvSpPr>
        <p:spPr>
          <a:xfrm>
            <a:off x="2514600" y="1325880"/>
            <a:ext cx="1965960" cy="502920"/>
          </a:xfrm>
          <a:prstGeom prst="rect">
            <a:avLst/>
          </a:prstGeom>
          <a:solidFill>
            <a:srgbClr val="1B4A7A"/>
          </a:solidFill>
          <a:ln w="12700">
            <a:solidFill>
              <a:srgbClr val="333333"/>
            </a:solidFill>
            <a:prstDash val="solid"/>
          </a:ln>
        </p:spPr>
        <p:txBody>
          <a:bodyPr/>
          <a:lstStyle/>
          <a:p>
            <a:endParaRPr lang="en-US"/>
          </a:p>
        </p:txBody>
      </p:sp>
      <p:sp>
        <p:nvSpPr>
          <p:cNvPr id="14" name="Text 11"/>
          <p:cNvSpPr/>
          <p:nvPr/>
        </p:nvSpPr>
        <p:spPr>
          <a:xfrm>
            <a:off x="2514600" y="1325880"/>
            <a:ext cx="19659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2</a:t>
            </a:r>
            <a:endParaRPr lang="en-US" sz="1400" dirty="0"/>
          </a:p>
        </p:txBody>
      </p:sp>
      <p:sp>
        <p:nvSpPr>
          <p:cNvPr id="15" name="Shape 12"/>
          <p:cNvSpPr/>
          <p:nvPr/>
        </p:nvSpPr>
        <p:spPr>
          <a:xfrm>
            <a:off x="3172968" y="1920240"/>
            <a:ext cx="658368" cy="658368"/>
          </a:xfrm>
          <a:prstGeom prst="ellipse">
            <a:avLst/>
          </a:prstGeom>
          <a:solidFill>
            <a:srgbClr val="1B4A7A"/>
          </a:solidFill>
          <a:ln w="12700">
            <a:solidFill>
              <a:srgbClr val="333333"/>
            </a:solidFill>
            <a:prstDash val="solid"/>
          </a:ln>
        </p:spPr>
        <p:txBody>
          <a:bodyPr/>
          <a:lstStyle/>
          <a:p>
            <a:endParaRPr lang="en-US"/>
          </a:p>
        </p:txBody>
      </p:sp>
      <p:pic>
        <p:nvPicPr>
          <p:cNvPr id="16" name="Image 1" descr="preencoded.png"/>
          <p:cNvPicPr>
            <a:picLocks noChangeAspect="1"/>
          </p:cNvPicPr>
          <p:nvPr/>
        </p:nvPicPr>
        <p:blipFill>
          <a:blip r:embed="rId4"/>
          <a:stretch>
            <a:fillRect/>
          </a:stretch>
        </p:blipFill>
        <p:spPr>
          <a:xfrm>
            <a:off x="3282696" y="2029968"/>
            <a:ext cx="438912" cy="438912"/>
          </a:xfrm>
          <a:prstGeom prst="rect">
            <a:avLst/>
          </a:prstGeom>
        </p:spPr>
      </p:pic>
      <p:sp>
        <p:nvSpPr>
          <p:cNvPr id="17" name="Text 13"/>
          <p:cNvSpPr/>
          <p:nvPr/>
        </p:nvSpPr>
        <p:spPr>
          <a:xfrm>
            <a:off x="2624328" y="2670048"/>
            <a:ext cx="1737360" cy="384048"/>
          </a:xfrm>
          <a:prstGeom prst="rect">
            <a:avLst/>
          </a:prstGeom>
          <a:noFill/>
          <a:ln/>
        </p:spPr>
        <p:txBody>
          <a:bodyPr wrap="square" lIns="0" tIns="0" rIns="0" bIns="0" rtlCol="0" anchor="ctr"/>
          <a:lstStyle/>
          <a:p>
            <a:pPr marL="0" indent="0" algn="ctr">
              <a:buNone/>
            </a:pPr>
            <a:r>
              <a:rPr lang="en-US" sz="1300" b="1" dirty="0">
                <a:solidFill>
                  <a:srgbClr val="1A202C"/>
                </a:solidFill>
                <a:latin typeface="Calibri" pitchFamily="34" charset="0"/>
                <a:ea typeface="Calibri" pitchFamily="34" charset="-122"/>
                <a:cs typeface="Calibri" pitchFamily="34" charset="-120"/>
              </a:rPr>
              <a:t>Connect &amp; Ingest</a:t>
            </a:r>
            <a:endParaRPr lang="en-US" sz="1300" dirty="0"/>
          </a:p>
        </p:txBody>
      </p:sp>
      <p:sp>
        <p:nvSpPr>
          <p:cNvPr id="18" name="Text 14"/>
          <p:cNvSpPr/>
          <p:nvPr/>
        </p:nvSpPr>
        <p:spPr>
          <a:xfrm>
            <a:off x="2624328" y="3108960"/>
            <a:ext cx="1737360" cy="1554480"/>
          </a:xfrm>
          <a:prstGeom prst="rect">
            <a:avLst/>
          </a:prstGeom>
          <a:noFill/>
          <a:ln/>
        </p:spPr>
        <p:txBody>
          <a:bodyPr wrap="square" lIns="0" tIns="0" rIns="0" bIns="0" rtlCol="0" anchor="t"/>
          <a:lstStyle/>
          <a:p>
            <a:pPr marL="0" indent="0" algn="ctr">
              <a:buNone/>
            </a:pPr>
            <a:r>
              <a:rPr lang="en-US" sz="1050" dirty="0">
                <a:solidFill>
                  <a:srgbClr val="4A5568"/>
                </a:solidFill>
                <a:latin typeface="Calibri" pitchFamily="34" charset="0"/>
                <a:ea typeface="Calibri" pitchFamily="34" charset="-122"/>
                <a:cs typeface="Calibri" pitchFamily="34" charset="-120"/>
              </a:rPr>
              <a:t>JHBI connectors established; historical data migrated with validation checks</a:t>
            </a:r>
            <a:endParaRPr lang="en-US" sz="1050" dirty="0"/>
          </a:p>
        </p:txBody>
      </p:sp>
      <p:sp>
        <p:nvSpPr>
          <p:cNvPr id="19" name="Shape 15"/>
          <p:cNvSpPr/>
          <p:nvPr/>
        </p:nvSpPr>
        <p:spPr>
          <a:xfrm>
            <a:off x="4480560" y="2999232"/>
            <a:ext cx="164592" cy="54864"/>
          </a:xfrm>
          <a:prstGeom prst="rect">
            <a:avLst/>
          </a:prstGeom>
          <a:solidFill>
            <a:srgbClr val="00A651"/>
          </a:solidFill>
          <a:ln w="12700">
            <a:solidFill>
              <a:srgbClr val="333333"/>
            </a:solidFill>
            <a:prstDash val="solid"/>
          </a:ln>
        </p:spPr>
        <p:txBody>
          <a:bodyPr/>
          <a:lstStyle/>
          <a:p>
            <a:endParaRPr lang="en-US"/>
          </a:p>
        </p:txBody>
      </p:sp>
      <p:sp>
        <p:nvSpPr>
          <p:cNvPr id="20" name="Shape 16"/>
          <p:cNvSpPr/>
          <p:nvPr/>
        </p:nvSpPr>
        <p:spPr>
          <a:xfrm>
            <a:off x="466344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1" name="Shape 17"/>
          <p:cNvSpPr/>
          <p:nvPr/>
        </p:nvSpPr>
        <p:spPr>
          <a:xfrm>
            <a:off x="4663440" y="1325880"/>
            <a:ext cx="1965960" cy="502920"/>
          </a:xfrm>
          <a:prstGeom prst="rect">
            <a:avLst/>
          </a:prstGeom>
          <a:solidFill>
            <a:srgbClr val="009B8D"/>
          </a:solidFill>
          <a:ln w="12700">
            <a:solidFill>
              <a:srgbClr val="333333"/>
            </a:solidFill>
            <a:prstDash val="solid"/>
          </a:ln>
        </p:spPr>
        <p:txBody>
          <a:bodyPr/>
          <a:lstStyle/>
          <a:p>
            <a:endParaRPr lang="en-US"/>
          </a:p>
        </p:txBody>
      </p:sp>
      <p:sp>
        <p:nvSpPr>
          <p:cNvPr id="22" name="Text 18"/>
          <p:cNvSpPr/>
          <p:nvPr/>
        </p:nvSpPr>
        <p:spPr>
          <a:xfrm>
            <a:off x="4663440" y="1325880"/>
            <a:ext cx="19659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3</a:t>
            </a:r>
            <a:endParaRPr lang="en-US" sz="1400" dirty="0"/>
          </a:p>
        </p:txBody>
      </p:sp>
      <p:sp>
        <p:nvSpPr>
          <p:cNvPr id="23" name="Shape 19"/>
          <p:cNvSpPr/>
          <p:nvPr/>
        </p:nvSpPr>
        <p:spPr>
          <a:xfrm>
            <a:off x="5321808" y="1920240"/>
            <a:ext cx="658368" cy="658368"/>
          </a:xfrm>
          <a:prstGeom prst="ellipse">
            <a:avLst/>
          </a:prstGeom>
          <a:solidFill>
            <a:srgbClr val="009B8D"/>
          </a:solidFill>
          <a:ln w="12700">
            <a:solidFill>
              <a:srgbClr val="333333"/>
            </a:solidFill>
            <a:prstDash val="solid"/>
          </a:ln>
        </p:spPr>
        <p:txBody>
          <a:bodyPr/>
          <a:lstStyle/>
          <a:p>
            <a:endParaRPr lang="en-US"/>
          </a:p>
        </p:txBody>
      </p:sp>
      <p:pic>
        <p:nvPicPr>
          <p:cNvPr id="24" name="Image 2" descr="preencoded.png"/>
          <p:cNvPicPr>
            <a:picLocks noChangeAspect="1"/>
          </p:cNvPicPr>
          <p:nvPr/>
        </p:nvPicPr>
        <p:blipFill>
          <a:blip r:embed="rId5"/>
          <a:stretch>
            <a:fillRect/>
          </a:stretch>
        </p:blipFill>
        <p:spPr>
          <a:xfrm>
            <a:off x="5431536" y="2029968"/>
            <a:ext cx="438912" cy="438912"/>
          </a:xfrm>
          <a:prstGeom prst="rect">
            <a:avLst/>
          </a:prstGeom>
        </p:spPr>
      </p:pic>
      <p:sp>
        <p:nvSpPr>
          <p:cNvPr id="25" name="Text 20"/>
          <p:cNvSpPr/>
          <p:nvPr/>
        </p:nvSpPr>
        <p:spPr>
          <a:xfrm>
            <a:off x="4773168" y="2670048"/>
            <a:ext cx="1737360" cy="384048"/>
          </a:xfrm>
          <a:prstGeom prst="rect">
            <a:avLst/>
          </a:prstGeom>
          <a:noFill/>
          <a:ln/>
        </p:spPr>
        <p:txBody>
          <a:bodyPr wrap="square" lIns="0" tIns="0" rIns="0" bIns="0" rtlCol="0" anchor="ctr"/>
          <a:lstStyle/>
          <a:p>
            <a:pPr marL="0" indent="0" algn="ctr">
              <a:buNone/>
            </a:pPr>
            <a:r>
              <a:rPr lang="en-US" sz="1300" b="1" dirty="0">
                <a:solidFill>
                  <a:srgbClr val="1A202C"/>
                </a:solidFill>
                <a:latin typeface="Calibri" pitchFamily="34" charset="0"/>
                <a:ea typeface="Calibri" pitchFamily="34" charset="-122"/>
                <a:cs typeface="Calibri" pitchFamily="34" charset="-120"/>
              </a:rPr>
              <a:t>Harmonize &amp; Govern</a:t>
            </a:r>
            <a:endParaRPr lang="en-US" sz="1300" dirty="0"/>
          </a:p>
        </p:txBody>
      </p:sp>
      <p:sp>
        <p:nvSpPr>
          <p:cNvPr id="26" name="Text 21"/>
          <p:cNvSpPr/>
          <p:nvPr/>
        </p:nvSpPr>
        <p:spPr>
          <a:xfrm>
            <a:off x="4773168" y="3108960"/>
            <a:ext cx="1737360" cy="1554480"/>
          </a:xfrm>
          <a:prstGeom prst="rect">
            <a:avLst/>
          </a:prstGeom>
          <a:noFill/>
          <a:ln/>
        </p:spPr>
        <p:txBody>
          <a:bodyPr wrap="square" lIns="0" tIns="0" rIns="0" bIns="0" rtlCol="0" anchor="t"/>
          <a:lstStyle/>
          <a:p>
            <a:pPr marL="0" indent="0" algn="ctr">
              <a:buNone/>
            </a:pPr>
            <a:r>
              <a:rPr lang="en-US" sz="1050" dirty="0">
                <a:solidFill>
                  <a:srgbClr val="4A5568"/>
                </a:solidFill>
                <a:latin typeface="Calibri" pitchFamily="34" charset="0"/>
                <a:ea typeface="Calibri" pitchFamily="34" charset="-122"/>
                <a:cs typeface="Calibri" pitchFamily="34" charset="-120"/>
              </a:rPr>
              <a:t>Data models aligned, governance policies activated, quality baselines established</a:t>
            </a:r>
            <a:endParaRPr lang="en-US" sz="1050" dirty="0"/>
          </a:p>
        </p:txBody>
      </p:sp>
      <p:sp>
        <p:nvSpPr>
          <p:cNvPr id="27" name="Shape 22"/>
          <p:cNvSpPr/>
          <p:nvPr/>
        </p:nvSpPr>
        <p:spPr>
          <a:xfrm>
            <a:off x="6629400" y="2999232"/>
            <a:ext cx="164592" cy="54864"/>
          </a:xfrm>
          <a:prstGeom prst="rect">
            <a:avLst/>
          </a:prstGeom>
          <a:solidFill>
            <a:srgbClr val="00A651"/>
          </a:solidFill>
          <a:ln w="12700">
            <a:solidFill>
              <a:srgbClr val="333333"/>
            </a:solidFill>
            <a:prstDash val="solid"/>
          </a:ln>
        </p:spPr>
        <p:txBody>
          <a:bodyPr/>
          <a:lstStyle/>
          <a:p>
            <a:endParaRPr lang="en-US"/>
          </a:p>
        </p:txBody>
      </p:sp>
      <p:sp>
        <p:nvSpPr>
          <p:cNvPr id="28" name="Shape 23"/>
          <p:cNvSpPr/>
          <p:nvPr/>
        </p:nvSpPr>
        <p:spPr>
          <a:xfrm>
            <a:off x="681228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9" name="Shape 24"/>
          <p:cNvSpPr/>
          <p:nvPr/>
        </p:nvSpPr>
        <p:spPr>
          <a:xfrm>
            <a:off x="6812280" y="1325880"/>
            <a:ext cx="1965960" cy="502920"/>
          </a:xfrm>
          <a:prstGeom prst="rect">
            <a:avLst/>
          </a:prstGeom>
          <a:solidFill>
            <a:srgbClr val="00A651"/>
          </a:solidFill>
          <a:ln w="12700">
            <a:solidFill>
              <a:srgbClr val="333333"/>
            </a:solidFill>
            <a:prstDash val="solid"/>
          </a:ln>
        </p:spPr>
        <p:txBody>
          <a:bodyPr/>
          <a:lstStyle/>
          <a:p>
            <a:endParaRPr lang="en-US"/>
          </a:p>
        </p:txBody>
      </p:sp>
      <p:sp>
        <p:nvSpPr>
          <p:cNvPr id="30" name="Text 25"/>
          <p:cNvSpPr/>
          <p:nvPr/>
        </p:nvSpPr>
        <p:spPr>
          <a:xfrm>
            <a:off x="6812280" y="1325880"/>
            <a:ext cx="196596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Phase 4</a:t>
            </a:r>
            <a:endParaRPr lang="en-US" sz="1400" dirty="0"/>
          </a:p>
        </p:txBody>
      </p:sp>
      <p:sp>
        <p:nvSpPr>
          <p:cNvPr id="31" name="Shape 26"/>
          <p:cNvSpPr/>
          <p:nvPr/>
        </p:nvSpPr>
        <p:spPr>
          <a:xfrm>
            <a:off x="7470648" y="1920240"/>
            <a:ext cx="658368" cy="658368"/>
          </a:xfrm>
          <a:prstGeom prst="ellipse">
            <a:avLst/>
          </a:prstGeom>
          <a:solidFill>
            <a:srgbClr val="00A651"/>
          </a:solidFill>
          <a:ln w="12700">
            <a:solidFill>
              <a:srgbClr val="333333"/>
            </a:solidFill>
            <a:prstDash val="solid"/>
          </a:ln>
        </p:spPr>
        <p:txBody>
          <a:bodyPr/>
          <a:lstStyle/>
          <a:p>
            <a:endParaRPr lang="en-US"/>
          </a:p>
        </p:txBody>
      </p:sp>
      <p:pic>
        <p:nvPicPr>
          <p:cNvPr id="32" name="Image 3" descr="preencoded.png"/>
          <p:cNvPicPr>
            <a:picLocks noChangeAspect="1"/>
          </p:cNvPicPr>
          <p:nvPr/>
        </p:nvPicPr>
        <p:blipFill>
          <a:blip r:embed="rId6"/>
          <a:stretch>
            <a:fillRect/>
          </a:stretch>
        </p:blipFill>
        <p:spPr>
          <a:xfrm>
            <a:off x="7580376" y="2029968"/>
            <a:ext cx="438912" cy="438912"/>
          </a:xfrm>
          <a:prstGeom prst="rect">
            <a:avLst/>
          </a:prstGeom>
        </p:spPr>
      </p:pic>
      <p:sp>
        <p:nvSpPr>
          <p:cNvPr id="33" name="Text 27"/>
          <p:cNvSpPr/>
          <p:nvPr/>
        </p:nvSpPr>
        <p:spPr>
          <a:xfrm>
            <a:off x="6922008" y="2670048"/>
            <a:ext cx="1737360" cy="384048"/>
          </a:xfrm>
          <a:prstGeom prst="rect">
            <a:avLst/>
          </a:prstGeom>
          <a:noFill/>
          <a:ln/>
        </p:spPr>
        <p:txBody>
          <a:bodyPr wrap="square" lIns="0" tIns="0" rIns="0" bIns="0" rtlCol="0" anchor="ctr"/>
          <a:lstStyle/>
          <a:p>
            <a:pPr marL="0" indent="0" algn="ctr">
              <a:buNone/>
            </a:pPr>
            <a:r>
              <a:rPr lang="en-US" sz="1300" b="1" dirty="0">
                <a:solidFill>
                  <a:srgbClr val="1A202C"/>
                </a:solidFill>
                <a:latin typeface="Calibri" pitchFamily="34" charset="0"/>
                <a:ea typeface="Calibri" pitchFamily="34" charset="-122"/>
                <a:cs typeface="Calibri" pitchFamily="34" charset="-120"/>
              </a:rPr>
              <a:t>Activate &amp; Grow</a:t>
            </a:r>
            <a:endParaRPr lang="en-US" sz="1300" dirty="0"/>
          </a:p>
        </p:txBody>
      </p:sp>
      <p:sp>
        <p:nvSpPr>
          <p:cNvPr id="34" name="Text 28"/>
          <p:cNvSpPr/>
          <p:nvPr/>
        </p:nvSpPr>
        <p:spPr>
          <a:xfrm>
            <a:off x="6922008" y="3108960"/>
            <a:ext cx="1737360" cy="1554480"/>
          </a:xfrm>
          <a:prstGeom prst="rect">
            <a:avLst/>
          </a:prstGeom>
          <a:noFill/>
          <a:ln/>
        </p:spPr>
        <p:txBody>
          <a:bodyPr wrap="square" lIns="0" tIns="0" rIns="0" bIns="0" rtlCol="0" anchor="t"/>
          <a:lstStyle/>
          <a:p>
            <a:pPr marL="0" indent="0" algn="ctr">
              <a:buNone/>
            </a:pPr>
            <a:r>
              <a:rPr lang="en-US" sz="1050" dirty="0">
                <a:solidFill>
                  <a:srgbClr val="4A5568"/>
                </a:solidFill>
                <a:latin typeface="Calibri" pitchFamily="34" charset="0"/>
                <a:ea typeface="Calibri" pitchFamily="34" charset="-122"/>
                <a:cs typeface="Calibri" pitchFamily="34" charset="-120"/>
              </a:rPr>
              <a:t>Analytics and data science workloads migrated; new capabilities progressively unlocked</a:t>
            </a:r>
            <a:endParaRPr lang="en-US" sz="1050" dirty="0"/>
          </a:p>
        </p:txBody>
      </p:sp>
      <p:sp>
        <p:nvSpPr>
          <p:cNvPr id="35" name="Shape 29"/>
          <p:cNvSpPr/>
          <p:nvPr/>
        </p:nvSpPr>
        <p:spPr>
          <a:xfrm>
            <a:off x="365760" y="4754880"/>
            <a:ext cx="8412480" cy="274320"/>
          </a:xfrm>
          <a:prstGeom prst="rect">
            <a:avLst/>
          </a:prstGeom>
          <a:solidFill>
            <a:srgbClr val="D5F0E0"/>
          </a:solidFill>
          <a:ln w="6350">
            <a:solidFill>
              <a:srgbClr val="00A651"/>
            </a:solidFill>
            <a:prstDash val="solid"/>
          </a:ln>
        </p:spPr>
        <p:txBody>
          <a:bodyPr/>
          <a:lstStyle/>
          <a:p>
            <a:endParaRPr lang="en-US"/>
          </a:p>
        </p:txBody>
      </p:sp>
      <p:sp>
        <p:nvSpPr>
          <p:cNvPr id="36" name="Text 30"/>
          <p:cNvSpPr/>
          <p:nvPr/>
        </p:nvSpPr>
        <p:spPr>
          <a:xfrm>
            <a:off x="502920" y="4754880"/>
            <a:ext cx="8229600" cy="274320"/>
          </a:xfrm>
          <a:prstGeom prst="rect">
            <a:avLst/>
          </a:prstGeom>
          <a:noFill/>
          <a:ln/>
        </p:spPr>
        <p:txBody>
          <a:bodyPr wrap="square" lIns="0" tIns="0" rIns="0" bIns="0" rtlCol="0" anchor="ctr"/>
          <a:lstStyle/>
          <a:p>
            <a:pPr marL="0" indent="0">
              <a:buNone/>
            </a:pPr>
            <a:r>
              <a:rPr lang="en-US" sz="1100" i="1" dirty="0">
                <a:solidFill>
                  <a:srgbClr val="1A202C"/>
                </a:solidFill>
                <a:latin typeface="Calibri" pitchFamily="34" charset="0"/>
                <a:ea typeface="Calibri" pitchFamily="34" charset="-122"/>
                <a:cs typeface="Calibri" pitchFamily="34" charset="-120"/>
              </a:rPr>
              <a:t>Jack Henry provides dedicated migration support at every phase — your team is never alone in this journey.</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000" b="1" dirty="0">
                <a:solidFill>
                  <a:srgbClr val="003057"/>
                </a:solidFill>
                <a:latin typeface="Calibri" pitchFamily="34" charset="0"/>
                <a:ea typeface="Calibri" pitchFamily="34" charset="-122"/>
                <a:cs typeface="Calibri" pitchFamily="34" charset="-120"/>
              </a:rPr>
              <a:t>What JHBI Means for Your Institution</a:t>
            </a:r>
            <a:endParaRPr lang="en-US" sz="3000" dirty="0"/>
          </a:p>
        </p:txBody>
      </p:sp>
      <p:sp>
        <p:nvSpPr>
          <p:cNvPr id="3" name="Shape 1"/>
          <p:cNvSpPr/>
          <p:nvPr/>
        </p:nvSpPr>
        <p:spPr>
          <a:xfrm>
            <a:off x="365760" y="1005840"/>
            <a:ext cx="3931920" cy="3840480"/>
          </a:xfrm>
          <a:prstGeom prst="rect">
            <a:avLst/>
          </a:prstGeom>
          <a:solidFill>
            <a:srgbClr val="003057"/>
          </a:solidFill>
          <a:ln w="12700">
            <a:solidFill>
              <a:srgbClr val="333333"/>
            </a:solidFill>
            <a:prstDash val="solid"/>
          </a:ln>
          <a:effectLst>
            <a:outerShdw blurRad="127000" dist="38100" dir="8100000" algn="bl" rotWithShape="0">
              <a:srgbClr val="000000">
                <a:alpha val="10000"/>
              </a:srgbClr>
            </a:outerShdw>
          </a:effectLst>
        </p:spPr>
        <p:txBody>
          <a:bodyPr/>
          <a:lstStyle/>
          <a:p>
            <a:endParaRPr lang="en-US"/>
          </a:p>
        </p:txBody>
      </p:sp>
      <p:pic>
        <p:nvPicPr>
          <p:cNvPr id="4" name="Image 0" descr="preencoded.png"/>
          <p:cNvPicPr>
            <a:picLocks noChangeAspect="1"/>
          </p:cNvPicPr>
          <p:nvPr/>
        </p:nvPicPr>
        <p:blipFill>
          <a:blip r:embed="rId3"/>
          <a:stretch>
            <a:fillRect/>
          </a:stretch>
        </p:blipFill>
        <p:spPr>
          <a:xfrm>
            <a:off x="731520" y="1234440"/>
            <a:ext cx="685800" cy="685800"/>
          </a:xfrm>
          <a:prstGeom prst="rect">
            <a:avLst/>
          </a:prstGeom>
        </p:spPr>
      </p:pic>
      <p:sp>
        <p:nvSpPr>
          <p:cNvPr id="5" name="Text 2"/>
          <p:cNvSpPr/>
          <p:nvPr/>
        </p:nvSpPr>
        <p:spPr>
          <a:xfrm>
            <a:off x="548640" y="2011680"/>
            <a:ext cx="3566160" cy="1828800"/>
          </a:xfrm>
          <a:prstGeom prst="rect">
            <a:avLst/>
          </a:prstGeom>
          <a:noFill/>
          <a:ln/>
        </p:spPr>
        <p:txBody>
          <a:bodyPr wrap="square" lIns="0" tIns="0" rIns="0" bIns="0" rtlCol="0" anchor="t"/>
          <a:lstStyle/>
          <a:p>
            <a:pPr marL="0" indent="0">
              <a:buNone/>
            </a:pPr>
            <a:r>
              <a:rPr lang="en-US" sz="2800" b="1" dirty="0">
                <a:solidFill>
                  <a:srgbClr val="FFFFFF"/>
                </a:solidFill>
                <a:latin typeface="Calibri" pitchFamily="34" charset="0"/>
                <a:ea typeface="Calibri" pitchFamily="34" charset="-122"/>
                <a:cs typeface="Calibri" pitchFamily="34" charset="-120"/>
              </a:rPr>
              <a:t>A Competitive</a:t>
            </a:r>
            <a:endParaRPr lang="en-US" sz="2800" dirty="0"/>
          </a:p>
          <a:p>
            <a:pPr marL="0" indent="0">
              <a:buNone/>
            </a:pPr>
            <a:r>
              <a:rPr lang="en-US" sz="2800" b="1" dirty="0">
                <a:solidFill>
                  <a:srgbClr val="FFFFFF"/>
                </a:solidFill>
                <a:latin typeface="Calibri" pitchFamily="34" charset="0"/>
                <a:ea typeface="Calibri" pitchFamily="34" charset="-122"/>
                <a:cs typeface="Calibri" pitchFamily="34" charset="-120"/>
              </a:rPr>
              <a:t>Advantage Built</a:t>
            </a:r>
            <a:endParaRPr lang="en-US" sz="2800" dirty="0"/>
          </a:p>
          <a:p>
            <a:pPr marL="0" indent="0">
              <a:buNone/>
            </a:pPr>
            <a:r>
              <a:rPr lang="en-US" sz="2800" b="1" dirty="0">
                <a:solidFill>
                  <a:srgbClr val="FFFFFF"/>
                </a:solidFill>
                <a:latin typeface="Calibri" pitchFamily="34" charset="0"/>
                <a:ea typeface="Calibri" pitchFamily="34" charset="-122"/>
                <a:cs typeface="Calibri" pitchFamily="34" charset="-120"/>
              </a:rPr>
              <a:t>on Data.</a:t>
            </a:r>
            <a:endParaRPr lang="en-US" sz="2800" dirty="0"/>
          </a:p>
        </p:txBody>
      </p:sp>
      <p:sp>
        <p:nvSpPr>
          <p:cNvPr id="6" name="Text 3"/>
          <p:cNvSpPr/>
          <p:nvPr/>
        </p:nvSpPr>
        <p:spPr>
          <a:xfrm>
            <a:off x="548640" y="3886200"/>
            <a:ext cx="3566160" cy="777240"/>
          </a:xfrm>
          <a:prstGeom prst="rect">
            <a:avLst/>
          </a:prstGeom>
          <a:noFill/>
          <a:ln/>
        </p:spPr>
        <p:txBody>
          <a:bodyPr wrap="square" lIns="0" tIns="0" rIns="0" bIns="0" rtlCol="0" anchor="t"/>
          <a:lstStyle/>
          <a:p>
            <a:pPr marL="0" indent="0">
              <a:buNone/>
            </a:pPr>
            <a:r>
              <a:rPr lang="en-US" sz="1100" dirty="0">
                <a:solidFill>
                  <a:srgbClr val="9ABDD8"/>
                </a:solidFill>
                <a:latin typeface="Calibri" pitchFamily="34" charset="0"/>
                <a:ea typeface="Calibri" pitchFamily="34" charset="-122"/>
                <a:cs typeface="Calibri" pitchFamily="34" charset="-120"/>
              </a:rPr>
              <a:t>JHBI is not just a platform upgrade — it's the foundation for how your institution will compete in the next decade.</a:t>
            </a:r>
            <a:endParaRPr lang="en-US" sz="1100" dirty="0"/>
          </a:p>
        </p:txBody>
      </p:sp>
      <p:sp>
        <p:nvSpPr>
          <p:cNvPr id="7" name="Shape 4"/>
          <p:cNvSpPr/>
          <p:nvPr/>
        </p:nvSpPr>
        <p:spPr>
          <a:xfrm>
            <a:off x="4572000" y="1005840"/>
            <a:ext cx="4206240" cy="658368"/>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8" name="Shape 5"/>
          <p:cNvSpPr/>
          <p:nvPr/>
        </p:nvSpPr>
        <p:spPr>
          <a:xfrm>
            <a:off x="4663440" y="1060704"/>
            <a:ext cx="548640" cy="548640"/>
          </a:xfrm>
          <a:prstGeom prst="ellipse">
            <a:avLst/>
          </a:prstGeom>
          <a:solidFill>
            <a:srgbClr val="00A651"/>
          </a:solidFill>
          <a:ln w="12700">
            <a:solidFill>
              <a:srgbClr val="333333"/>
            </a:solidFill>
            <a:prstDash val="solid"/>
          </a:ln>
        </p:spPr>
        <p:txBody>
          <a:bodyPr/>
          <a:lstStyle/>
          <a:p>
            <a:endParaRPr lang="en-US"/>
          </a:p>
        </p:txBody>
      </p:sp>
      <p:pic>
        <p:nvPicPr>
          <p:cNvPr id="9" name="Image 1" descr="preencoded.png"/>
          <p:cNvPicPr>
            <a:picLocks noChangeAspect="1"/>
          </p:cNvPicPr>
          <p:nvPr/>
        </p:nvPicPr>
        <p:blipFill>
          <a:blip r:embed="rId4"/>
          <a:stretch>
            <a:fillRect/>
          </a:stretch>
        </p:blipFill>
        <p:spPr>
          <a:xfrm>
            <a:off x="4736592" y="1133856"/>
            <a:ext cx="393192" cy="393192"/>
          </a:xfrm>
          <a:prstGeom prst="rect">
            <a:avLst/>
          </a:prstGeom>
        </p:spPr>
      </p:pic>
      <p:sp>
        <p:nvSpPr>
          <p:cNvPr id="10" name="Text 6"/>
          <p:cNvSpPr/>
          <p:nvPr/>
        </p:nvSpPr>
        <p:spPr>
          <a:xfrm>
            <a:off x="5349240" y="1024128"/>
            <a:ext cx="3291840" cy="274320"/>
          </a:xfrm>
          <a:prstGeom prst="rect">
            <a:avLst/>
          </a:prstGeom>
          <a:noFill/>
          <a:ln/>
        </p:spPr>
        <p:txBody>
          <a:bodyPr wrap="square" lIns="0" tIns="0" rIns="0" bIns="0" rtlCol="0" anchor="ctr"/>
          <a:lstStyle/>
          <a:p>
            <a:pPr marL="0" indent="0">
              <a:buNone/>
            </a:pPr>
            <a:r>
              <a:rPr lang="en-US" sz="1300" b="1" dirty="0">
                <a:solidFill>
                  <a:srgbClr val="00A651"/>
                </a:solidFill>
                <a:latin typeface="Calibri" pitchFamily="34" charset="0"/>
                <a:ea typeface="Calibri" pitchFamily="34" charset="-122"/>
                <a:cs typeface="Calibri" pitchFamily="34" charset="-120"/>
              </a:rPr>
              <a:t>Faster Decisions</a:t>
            </a:r>
            <a:endParaRPr lang="en-US" sz="1300" dirty="0"/>
          </a:p>
        </p:txBody>
      </p:sp>
      <p:sp>
        <p:nvSpPr>
          <p:cNvPr id="11" name="Text 7"/>
          <p:cNvSpPr/>
          <p:nvPr/>
        </p:nvSpPr>
        <p:spPr>
          <a:xfrm>
            <a:off x="5349240" y="1307592"/>
            <a:ext cx="3291840" cy="256032"/>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Real-time insights reduce the time from question to action</a:t>
            </a:r>
            <a:endParaRPr lang="en-US" sz="1050" dirty="0"/>
          </a:p>
        </p:txBody>
      </p:sp>
      <p:sp>
        <p:nvSpPr>
          <p:cNvPr id="12" name="Shape 8"/>
          <p:cNvSpPr/>
          <p:nvPr/>
        </p:nvSpPr>
        <p:spPr>
          <a:xfrm>
            <a:off x="4572000" y="1773936"/>
            <a:ext cx="4206240" cy="658368"/>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3" name="Shape 9"/>
          <p:cNvSpPr/>
          <p:nvPr/>
        </p:nvSpPr>
        <p:spPr>
          <a:xfrm>
            <a:off x="4663440" y="1828800"/>
            <a:ext cx="548640" cy="548640"/>
          </a:xfrm>
          <a:prstGeom prst="ellipse">
            <a:avLst/>
          </a:prstGeom>
          <a:solidFill>
            <a:srgbClr val="009B8D"/>
          </a:solidFill>
          <a:ln w="12700">
            <a:solidFill>
              <a:srgbClr val="333333"/>
            </a:solidFill>
            <a:prstDash val="solid"/>
          </a:ln>
        </p:spPr>
        <p:txBody>
          <a:bodyPr/>
          <a:lstStyle/>
          <a:p>
            <a:endParaRPr lang="en-US"/>
          </a:p>
        </p:txBody>
      </p:sp>
      <p:pic>
        <p:nvPicPr>
          <p:cNvPr id="14" name="Image 2" descr="preencoded.png"/>
          <p:cNvPicPr>
            <a:picLocks noChangeAspect="1"/>
          </p:cNvPicPr>
          <p:nvPr/>
        </p:nvPicPr>
        <p:blipFill>
          <a:blip r:embed="rId5"/>
          <a:stretch>
            <a:fillRect/>
          </a:stretch>
        </p:blipFill>
        <p:spPr>
          <a:xfrm>
            <a:off x="4736592" y="1901952"/>
            <a:ext cx="393192" cy="393192"/>
          </a:xfrm>
          <a:prstGeom prst="rect">
            <a:avLst/>
          </a:prstGeom>
        </p:spPr>
      </p:pic>
      <p:sp>
        <p:nvSpPr>
          <p:cNvPr id="15" name="Text 10"/>
          <p:cNvSpPr/>
          <p:nvPr/>
        </p:nvSpPr>
        <p:spPr>
          <a:xfrm>
            <a:off x="5349240" y="1792224"/>
            <a:ext cx="3291840" cy="274320"/>
          </a:xfrm>
          <a:prstGeom prst="rect">
            <a:avLst/>
          </a:prstGeom>
          <a:noFill/>
          <a:ln/>
        </p:spPr>
        <p:txBody>
          <a:bodyPr wrap="square" lIns="0" tIns="0" rIns="0" bIns="0" rtlCol="0" anchor="ctr"/>
          <a:lstStyle/>
          <a:p>
            <a:pPr marL="0" indent="0">
              <a:buNone/>
            </a:pPr>
            <a:r>
              <a:rPr lang="en-US" sz="1300" b="1" dirty="0">
                <a:solidFill>
                  <a:srgbClr val="009B8D"/>
                </a:solidFill>
                <a:latin typeface="Calibri" pitchFamily="34" charset="0"/>
                <a:ea typeface="Calibri" pitchFamily="34" charset="-122"/>
                <a:cs typeface="Calibri" pitchFamily="34" charset="-120"/>
              </a:rPr>
              <a:t>Reduced Costs</a:t>
            </a:r>
            <a:endParaRPr lang="en-US" sz="1300" dirty="0"/>
          </a:p>
        </p:txBody>
      </p:sp>
      <p:sp>
        <p:nvSpPr>
          <p:cNvPr id="16" name="Text 11"/>
          <p:cNvSpPr/>
          <p:nvPr/>
        </p:nvSpPr>
        <p:spPr>
          <a:xfrm>
            <a:off x="5349240" y="2075688"/>
            <a:ext cx="3291840" cy="256032"/>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Eliminate redundant data infrastructure and manual reconciliation effort</a:t>
            </a:r>
            <a:endParaRPr lang="en-US" sz="1050" dirty="0"/>
          </a:p>
        </p:txBody>
      </p:sp>
      <p:sp>
        <p:nvSpPr>
          <p:cNvPr id="17" name="Shape 12"/>
          <p:cNvSpPr/>
          <p:nvPr/>
        </p:nvSpPr>
        <p:spPr>
          <a:xfrm>
            <a:off x="4572000" y="2542032"/>
            <a:ext cx="4206240" cy="658368"/>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8" name="Shape 13"/>
          <p:cNvSpPr/>
          <p:nvPr/>
        </p:nvSpPr>
        <p:spPr>
          <a:xfrm>
            <a:off x="4663440" y="2596896"/>
            <a:ext cx="548640" cy="548640"/>
          </a:xfrm>
          <a:prstGeom prst="ellipse">
            <a:avLst/>
          </a:prstGeom>
          <a:solidFill>
            <a:srgbClr val="003057"/>
          </a:solidFill>
          <a:ln w="12700">
            <a:solidFill>
              <a:srgbClr val="333333"/>
            </a:solidFill>
            <a:prstDash val="solid"/>
          </a:ln>
        </p:spPr>
        <p:txBody>
          <a:bodyPr/>
          <a:lstStyle/>
          <a:p>
            <a:endParaRPr lang="en-US"/>
          </a:p>
        </p:txBody>
      </p:sp>
      <p:pic>
        <p:nvPicPr>
          <p:cNvPr id="19" name="Image 3" descr="preencoded.png"/>
          <p:cNvPicPr>
            <a:picLocks noChangeAspect="1"/>
          </p:cNvPicPr>
          <p:nvPr/>
        </p:nvPicPr>
        <p:blipFill>
          <a:blip r:embed="rId6"/>
          <a:stretch>
            <a:fillRect/>
          </a:stretch>
        </p:blipFill>
        <p:spPr>
          <a:xfrm>
            <a:off x="4736592" y="2670048"/>
            <a:ext cx="393192" cy="393192"/>
          </a:xfrm>
          <a:prstGeom prst="rect">
            <a:avLst/>
          </a:prstGeom>
        </p:spPr>
      </p:pic>
      <p:sp>
        <p:nvSpPr>
          <p:cNvPr id="20" name="Text 14"/>
          <p:cNvSpPr/>
          <p:nvPr/>
        </p:nvSpPr>
        <p:spPr>
          <a:xfrm>
            <a:off x="5349240" y="2560320"/>
            <a:ext cx="3291840" cy="274320"/>
          </a:xfrm>
          <a:prstGeom prst="rect">
            <a:avLst/>
          </a:prstGeom>
          <a:noFill/>
          <a:ln/>
        </p:spPr>
        <p:txBody>
          <a:bodyPr wrap="square" lIns="0" tIns="0" rIns="0" bIns="0" rtlCol="0" anchor="ctr"/>
          <a:lstStyle/>
          <a:p>
            <a:pPr marL="0" indent="0">
              <a:buNone/>
            </a:pPr>
            <a:r>
              <a:rPr lang="en-US" sz="1300" b="1" dirty="0">
                <a:solidFill>
                  <a:srgbClr val="003057"/>
                </a:solidFill>
                <a:latin typeface="Calibri" pitchFamily="34" charset="0"/>
                <a:ea typeface="Calibri" pitchFamily="34" charset="-122"/>
                <a:cs typeface="Calibri" pitchFamily="34" charset="-120"/>
              </a:rPr>
              <a:t>Member-Centricity</a:t>
            </a:r>
            <a:endParaRPr lang="en-US" sz="1300" dirty="0"/>
          </a:p>
        </p:txBody>
      </p:sp>
      <p:sp>
        <p:nvSpPr>
          <p:cNvPr id="21" name="Text 15"/>
          <p:cNvSpPr/>
          <p:nvPr/>
        </p:nvSpPr>
        <p:spPr>
          <a:xfrm>
            <a:off x="5349240" y="2843784"/>
            <a:ext cx="3291840" cy="256032"/>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Every interaction informed by a complete, up-to-date member profile</a:t>
            </a:r>
            <a:endParaRPr lang="en-US" sz="1050" dirty="0"/>
          </a:p>
        </p:txBody>
      </p:sp>
      <p:sp>
        <p:nvSpPr>
          <p:cNvPr id="22" name="Shape 16"/>
          <p:cNvSpPr/>
          <p:nvPr/>
        </p:nvSpPr>
        <p:spPr>
          <a:xfrm>
            <a:off x="4572000" y="3310128"/>
            <a:ext cx="4206240" cy="658368"/>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3" name="Shape 17"/>
          <p:cNvSpPr/>
          <p:nvPr/>
        </p:nvSpPr>
        <p:spPr>
          <a:xfrm>
            <a:off x="4663440" y="3364992"/>
            <a:ext cx="548640" cy="548640"/>
          </a:xfrm>
          <a:prstGeom prst="ellipse">
            <a:avLst/>
          </a:prstGeom>
          <a:solidFill>
            <a:srgbClr val="1B4A7A"/>
          </a:solidFill>
          <a:ln w="12700">
            <a:solidFill>
              <a:srgbClr val="333333"/>
            </a:solidFill>
            <a:prstDash val="solid"/>
          </a:ln>
        </p:spPr>
        <p:txBody>
          <a:bodyPr/>
          <a:lstStyle/>
          <a:p>
            <a:endParaRPr lang="en-US"/>
          </a:p>
        </p:txBody>
      </p:sp>
      <p:pic>
        <p:nvPicPr>
          <p:cNvPr id="24" name="Image 4" descr="preencoded.png"/>
          <p:cNvPicPr>
            <a:picLocks noChangeAspect="1"/>
          </p:cNvPicPr>
          <p:nvPr/>
        </p:nvPicPr>
        <p:blipFill>
          <a:blip r:embed="rId7"/>
          <a:stretch>
            <a:fillRect/>
          </a:stretch>
        </p:blipFill>
        <p:spPr>
          <a:xfrm>
            <a:off x="4736592" y="3438144"/>
            <a:ext cx="393192" cy="393192"/>
          </a:xfrm>
          <a:prstGeom prst="rect">
            <a:avLst/>
          </a:prstGeom>
        </p:spPr>
      </p:pic>
      <p:sp>
        <p:nvSpPr>
          <p:cNvPr id="25" name="Text 18"/>
          <p:cNvSpPr/>
          <p:nvPr/>
        </p:nvSpPr>
        <p:spPr>
          <a:xfrm>
            <a:off x="5349240" y="3328416"/>
            <a:ext cx="3291840" cy="274320"/>
          </a:xfrm>
          <a:prstGeom prst="rect">
            <a:avLst/>
          </a:prstGeom>
          <a:noFill/>
          <a:ln/>
        </p:spPr>
        <p:txBody>
          <a:bodyPr wrap="square" lIns="0" tIns="0" rIns="0" bIns="0" rtlCol="0" anchor="ctr"/>
          <a:lstStyle/>
          <a:p>
            <a:pPr marL="0" indent="0">
              <a:buNone/>
            </a:pPr>
            <a:r>
              <a:rPr lang="en-US" sz="1300" b="1" dirty="0">
                <a:solidFill>
                  <a:srgbClr val="1B4A7A"/>
                </a:solidFill>
                <a:latin typeface="Calibri" pitchFamily="34" charset="0"/>
                <a:ea typeface="Calibri" pitchFamily="34" charset="-122"/>
                <a:cs typeface="Calibri" pitchFamily="34" charset="-120"/>
              </a:rPr>
              <a:t>Regulatory Confidence</a:t>
            </a:r>
            <a:endParaRPr lang="en-US" sz="1300" dirty="0"/>
          </a:p>
        </p:txBody>
      </p:sp>
      <p:sp>
        <p:nvSpPr>
          <p:cNvPr id="26" name="Text 19"/>
          <p:cNvSpPr/>
          <p:nvPr/>
        </p:nvSpPr>
        <p:spPr>
          <a:xfrm>
            <a:off x="5349240" y="3611880"/>
            <a:ext cx="3291840" cy="256032"/>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Governed data with full lineage gives you audit-ready answers</a:t>
            </a:r>
            <a:endParaRPr lang="en-US" sz="1050" dirty="0"/>
          </a:p>
        </p:txBody>
      </p:sp>
      <p:sp>
        <p:nvSpPr>
          <p:cNvPr id="27" name="Shape 20"/>
          <p:cNvSpPr/>
          <p:nvPr/>
        </p:nvSpPr>
        <p:spPr>
          <a:xfrm>
            <a:off x="4572000" y="4078224"/>
            <a:ext cx="4206240" cy="658368"/>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8" name="Shape 21"/>
          <p:cNvSpPr/>
          <p:nvPr/>
        </p:nvSpPr>
        <p:spPr>
          <a:xfrm>
            <a:off x="4663440" y="4133088"/>
            <a:ext cx="548640" cy="548640"/>
          </a:xfrm>
          <a:prstGeom prst="ellipse">
            <a:avLst/>
          </a:prstGeom>
          <a:solidFill>
            <a:srgbClr val="F5A623"/>
          </a:solidFill>
          <a:ln w="12700">
            <a:solidFill>
              <a:srgbClr val="333333"/>
            </a:solidFill>
            <a:prstDash val="solid"/>
          </a:ln>
        </p:spPr>
        <p:txBody>
          <a:bodyPr/>
          <a:lstStyle/>
          <a:p>
            <a:endParaRPr lang="en-US"/>
          </a:p>
        </p:txBody>
      </p:sp>
      <p:pic>
        <p:nvPicPr>
          <p:cNvPr id="29" name="Image 5" descr="preencoded.png"/>
          <p:cNvPicPr>
            <a:picLocks noChangeAspect="1"/>
          </p:cNvPicPr>
          <p:nvPr/>
        </p:nvPicPr>
        <p:blipFill>
          <a:blip r:embed="rId8"/>
          <a:stretch>
            <a:fillRect/>
          </a:stretch>
        </p:blipFill>
        <p:spPr>
          <a:xfrm>
            <a:off x="4736592" y="4206240"/>
            <a:ext cx="393192" cy="393192"/>
          </a:xfrm>
          <a:prstGeom prst="rect">
            <a:avLst/>
          </a:prstGeom>
        </p:spPr>
      </p:pic>
      <p:sp>
        <p:nvSpPr>
          <p:cNvPr id="30" name="Text 22"/>
          <p:cNvSpPr/>
          <p:nvPr/>
        </p:nvSpPr>
        <p:spPr>
          <a:xfrm>
            <a:off x="5349240" y="4096512"/>
            <a:ext cx="3291840" cy="274320"/>
          </a:xfrm>
          <a:prstGeom prst="rect">
            <a:avLst/>
          </a:prstGeom>
          <a:noFill/>
          <a:ln/>
        </p:spPr>
        <p:txBody>
          <a:bodyPr wrap="square" lIns="0" tIns="0" rIns="0" bIns="0" rtlCol="0" anchor="ctr"/>
          <a:lstStyle/>
          <a:p>
            <a:pPr marL="0" indent="0">
              <a:buNone/>
            </a:pPr>
            <a:r>
              <a:rPr lang="en-US" sz="1300" b="1" dirty="0">
                <a:solidFill>
                  <a:srgbClr val="F5A623"/>
                </a:solidFill>
                <a:latin typeface="Calibri" pitchFamily="34" charset="0"/>
                <a:ea typeface="Calibri" pitchFamily="34" charset="-122"/>
                <a:cs typeface="Calibri" pitchFamily="34" charset="-120"/>
              </a:rPr>
              <a:t>Future-Proof</a:t>
            </a:r>
            <a:endParaRPr lang="en-US" sz="1300" dirty="0"/>
          </a:p>
        </p:txBody>
      </p:sp>
      <p:sp>
        <p:nvSpPr>
          <p:cNvPr id="31" name="Text 23"/>
          <p:cNvSpPr/>
          <p:nvPr/>
        </p:nvSpPr>
        <p:spPr>
          <a:xfrm>
            <a:off x="5349240" y="4379976"/>
            <a:ext cx="3291840" cy="256032"/>
          </a:xfrm>
          <a:prstGeom prst="rect">
            <a:avLst/>
          </a:prstGeom>
          <a:noFill/>
          <a:ln/>
        </p:spPr>
        <p:txBody>
          <a:bodyPr wrap="square" lIns="0" tIns="0" rIns="0" bIns="0" rtlCol="0" anchor="t"/>
          <a:lstStyle/>
          <a:p>
            <a:pPr marL="0" indent="0">
              <a:buNone/>
            </a:pPr>
            <a:r>
              <a:rPr lang="en-US" sz="1050" dirty="0">
                <a:solidFill>
                  <a:srgbClr val="4A5568"/>
                </a:solidFill>
                <a:latin typeface="Calibri" pitchFamily="34" charset="0"/>
                <a:ea typeface="Calibri" pitchFamily="34" charset="-122"/>
                <a:cs typeface="Calibri" pitchFamily="34" charset="-120"/>
              </a:rPr>
              <a:t>Cloud-native architecture that scales with your growth and ambitions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8FB"/>
        </a:solidFill>
        <a:effectLst/>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lIns="0" tIns="0" rIns="0" bIns="0" rtlCol="0" anchor="ctr"/>
          <a:lstStyle/>
          <a:p>
            <a:pPr marL="0" indent="0">
              <a:buNone/>
            </a:pPr>
            <a:r>
              <a:rPr lang="en-US" sz="3400" b="1" dirty="0">
                <a:solidFill>
                  <a:srgbClr val="003057"/>
                </a:solidFill>
                <a:latin typeface="Calibri" pitchFamily="34" charset="0"/>
                <a:ea typeface="Calibri" pitchFamily="34" charset="-122"/>
                <a:cs typeface="Calibri" pitchFamily="34" charset="-120"/>
              </a:rPr>
              <a:t>The Road Ahead</a:t>
            </a:r>
            <a:endParaRPr lang="en-US" sz="3400" dirty="0"/>
          </a:p>
        </p:txBody>
      </p:sp>
      <p:sp>
        <p:nvSpPr>
          <p:cNvPr id="3" name="Text 1"/>
          <p:cNvSpPr/>
          <p:nvPr/>
        </p:nvSpPr>
        <p:spPr>
          <a:xfrm>
            <a:off x="457200" y="841248"/>
            <a:ext cx="8229600" cy="320040"/>
          </a:xfrm>
          <a:prstGeom prst="rect">
            <a:avLst/>
          </a:prstGeom>
          <a:noFill/>
          <a:ln/>
        </p:spPr>
        <p:txBody>
          <a:bodyPr wrap="square" lIns="0" tIns="0" rIns="0" bIns="0" rtlCol="0" anchor="t"/>
          <a:lstStyle/>
          <a:p>
            <a:pPr marL="0" indent="0">
              <a:buNone/>
            </a:pPr>
            <a:r>
              <a:rPr lang="en-US" sz="1300" dirty="0">
                <a:solidFill>
                  <a:srgbClr val="4A5568"/>
                </a:solidFill>
                <a:latin typeface="Calibri" pitchFamily="34" charset="0"/>
                <a:ea typeface="Calibri" pitchFamily="34" charset="-122"/>
                <a:cs typeface="Calibri" pitchFamily="34" charset="-120"/>
              </a:rPr>
              <a:t>JHBI is live and evolving — here is what is coming next on the platform roadmap.</a:t>
            </a:r>
            <a:endParaRPr lang="en-US" sz="1300" dirty="0"/>
          </a:p>
        </p:txBody>
      </p:sp>
      <p:sp>
        <p:nvSpPr>
          <p:cNvPr id="4" name="Shape 2"/>
          <p:cNvSpPr/>
          <p:nvPr/>
        </p:nvSpPr>
        <p:spPr>
          <a:xfrm>
            <a:off x="36576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5" name="Shape 3"/>
          <p:cNvSpPr/>
          <p:nvPr/>
        </p:nvSpPr>
        <p:spPr>
          <a:xfrm>
            <a:off x="365760" y="1325880"/>
            <a:ext cx="1965960" cy="475488"/>
          </a:xfrm>
          <a:prstGeom prst="rect">
            <a:avLst/>
          </a:prstGeom>
          <a:solidFill>
            <a:srgbClr val="00A651"/>
          </a:solidFill>
          <a:ln w="12700">
            <a:solidFill>
              <a:srgbClr val="333333"/>
            </a:solidFill>
            <a:prstDash val="solid"/>
          </a:ln>
        </p:spPr>
        <p:txBody>
          <a:bodyPr/>
          <a:lstStyle/>
          <a:p>
            <a:endParaRPr lang="en-US"/>
          </a:p>
        </p:txBody>
      </p:sp>
      <p:sp>
        <p:nvSpPr>
          <p:cNvPr id="6" name="Text 4"/>
          <p:cNvSpPr/>
          <p:nvPr/>
        </p:nvSpPr>
        <p:spPr>
          <a:xfrm>
            <a:off x="365760" y="1325880"/>
            <a:ext cx="1965960"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Now</a:t>
            </a:r>
            <a:endParaRPr lang="en-US" sz="1700" dirty="0"/>
          </a:p>
        </p:txBody>
      </p:sp>
      <p:pic>
        <p:nvPicPr>
          <p:cNvPr id="7" name="Image 0" descr="preencoded.png"/>
          <p:cNvPicPr>
            <a:picLocks noChangeAspect="1"/>
          </p:cNvPicPr>
          <p:nvPr/>
        </p:nvPicPr>
        <p:blipFill>
          <a:blip r:embed="rId3"/>
          <a:stretch>
            <a:fillRect/>
          </a:stretch>
        </p:blipFill>
        <p:spPr>
          <a:xfrm>
            <a:off x="502920" y="1938528"/>
            <a:ext cx="228600" cy="228600"/>
          </a:xfrm>
          <a:prstGeom prst="rect">
            <a:avLst/>
          </a:prstGeom>
        </p:spPr>
      </p:pic>
      <p:sp>
        <p:nvSpPr>
          <p:cNvPr id="8" name="Text 5"/>
          <p:cNvSpPr/>
          <p:nvPr/>
        </p:nvSpPr>
        <p:spPr>
          <a:xfrm>
            <a:off x="804672" y="1911096"/>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Core DPaaS platform live</a:t>
            </a:r>
            <a:endParaRPr lang="en-US" sz="1100" dirty="0"/>
          </a:p>
        </p:txBody>
      </p:sp>
      <p:pic>
        <p:nvPicPr>
          <p:cNvPr id="9" name="Image 1" descr="preencoded.png"/>
          <p:cNvPicPr>
            <a:picLocks noChangeAspect="1"/>
          </p:cNvPicPr>
          <p:nvPr/>
        </p:nvPicPr>
        <p:blipFill>
          <a:blip r:embed="rId3"/>
          <a:stretch>
            <a:fillRect/>
          </a:stretch>
        </p:blipFill>
        <p:spPr>
          <a:xfrm>
            <a:off x="502920" y="2688336"/>
            <a:ext cx="228600" cy="228600"/>
          </a:xfrm>
          <a:prstGeom prst="rect">
            <a:avLst/>
          </a:prstGeom>
        </p:spPr>
      </p:pic>
      <p:sp>
        <p:nvSpPr>
          <p:cNvPr id="10" name="Text 6"/>
          <p:cNvSpPr/>
          <p:nvPr/>
        </p:nvSpPr>
        <p:spPr>
          <a:xfrm>
            <a:off x="804672" y="2660904"/>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ARCU data migration support</a:t>
            </a:r>
            <a:endParaRPr lang="en-US" sz="1100" dirty="0"/>
          </a:p>
        </p:txBody>
      </p:sp>
      <p:pic>
        <p:nvPicPr>
          <p:cNvPr id="11" name="Image 2" descr="preencoded.png"/>
          <p:cNvPicPr>
            <a:picLocks noChangeAspect="1"/>
          </p:cNvPicPr>
          <p:nvPr/>
        </p:nvPicPr>
        <p:blipFill>
          <a:blip r:embed="rId3"/>
          <a:stretch>
            <a:fillRect/>
          </a:stretch>
        </p:blipFill>
        <p:spPr>
          <a:xfrm>
            <a:off x="502920" y="3438144"/>
            <a:ext cx="228600" cy="228600"/>
          </a:xfrm>
          <a:prstGeom prst="rect">
            <a:avLst/>
          </a:prstGeom>
        </p:spPr>
      </p:pic>
      <p:sp>
        <p:nvSpPr>
          <p:cNvPr id="12" name="Text 7"/>
          <p:cNvSpPr/>
          <p:nvPr/>
        </p:nvSpPr>
        <p:spPr>
          <a:xfrm>
            <a:off x="804672" y="3410712"/>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360° Member View GA</a:t>
            </a:r>
            <a:endParaRPr lang="en-US" sz="1100" dirty="0"/>
          </a:p>
        </p:txBody>
      </p:sp>
      <p:sp>
        <p:nvSpPr>
          <p:cNvPr id="13" name="Shape 8"/>
          <p:cNvSpPr/>
          <p:nvPr/>
        </p:nvSpPr>
        <p:spPr>
          <a:xfrm>
            <a:off x="251460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14" name="Shape 9"/>
          <p:cNvSpPr/>
          <p:nvPr/>
        </p:nvSpPr>
        <p:spPr>
          <a:xfrm>
            <a:off x="2514600" y="1325880"/>
            <a:ext cx="1965960" cy="475488"/>
          </a:xfrm>
          <a:prstGeom prst="rect">
            <a:avLst/>
          </a:prstGeom>
          <a:solidFill>
            <a:srgbClr val="009B8D"/>
          </a:solidFill>
          <a:ln w="12700">
            <a:solidFill>
              <a:srgbClr val="333333"/>
            </a:solidFill>
            <a:prstDash val="solid"/>
          </a:ln>
        </p:spPr>
        <p:txBody>
          <a:bodyPr/>
          <a:lstStyle/>
          <a:p>
            <a:endParaRPr lang="en-US"/>
          </a:p>
        </p:txBody>
      </p:sp>
      <p:sp>
        <p:nvSpPr>
          <p:cNvPr id="15" name="Text 10"/>
          <p:cNvSpPr/>
          <p:nvPr/>
        </p:nvSpPr>
        <p:spPr>
          <a:xfrm>
            <a:off x="2514600" y="1325880"/>
            <a:ext cx="1965960"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H2 2026</a:t>
            </a:r>
            <a:endParaRPr lang="en-US" sz="1700" dirty="0"/>
          </a:p>
        </p:txBody>
      </p:sp>
      <p:pic>
        <p:nvPicPr>
          <p:cNvPr id="16" name="Image 3" descr="preencoded.png"/>
          <p:cNvPicPr>
            <a:picLocks noChangeAspect="1"/>
          </p:cNvPicPr>
          <p:nvPr/>
        </p:nvPicPr>
        <p:blipFill>
          <a:blip r:embed="rId3"/>
          <a:stretch>
            <a:fillRect/>
          </a:stretch>
        </p:blipFill>
        <p:spPr>
          <a:xfrm>
            <a:off x="2651760" y="1938528"/>
            <a:ext cx="228600" cy="228600"/>
          </a:xfrm>
          <a:prstGeom prst="rect">
            <a:avLst/>
          </a:prstGeom>
        </p:spPr>
      </p:pic>
      <p:sp>
        <p:nvSpPr>
          <p:cNvPr id="17" name="Text 11"/>
          <p:cNvSpPr/>
          <p:nvPr/>
        </p:nvSpPr>
        <p:spPr>
          <a:xfrm>
            <a:off x="2953512" y="1911096"/>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Expanded product connectors</a:t>
            </a:r>
            <a:endParaRPr lang="en-US" sz="1100" dirty="0"/>
          </a:p>
        </p:txBody>
      </p:sp>
      <p:pic>
        <p:nvPicPr>
          <p:cNvPr id="18" name="Image 4" descr="preencoded.png"/>
          <p:cNvPicPr>
            <a:picLocks noChangeAspect="1"/>
          </p:cNvPicPr>
          <p:nvPr/>
        </p:nvPicPr>
        <p:blipFill>
          <a:blip r:embed="rId3"/>
          <a:stretch>
            <a:fillRect/>
          </a:stretch>
        </p:blipFill>
        <p:spPr>
          <a:xfrm>
            <a:off x="2651760" y="2688336"/>
            <a:ext cx="228600" cy="228600"/>
          </a:xfrm>
          <a:prstGeom prst="rect">
            <a:avLst/>
          </a:prstGeom>
        </p:spPr>
      </p:pic>
      <p:sp>
        <p:nvSpPr>
          <p:cNvPr id="19" name="Text 12"/>
          <p:cNvSpPr/>
          <p:nvPr/>
        </p:nvSpPr>
        <p:spPr>
          <a:xfrm>
            <a:off x="2953512" y="2660904"/>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AI/ML model marketplace</a:t>
            </a:r>
            <a:endParaRPr lang="en-US" sz="1100" dirty="0"/>
          </a:p>
        </p:txBody>
      </p:sp>
      <p:pic>
        <p:nvPicPr>
          <p:cNvPr id="20" name="Image 5" descr="preencoded.png"/>
          <p:cNvPicPr>
            <a:picLocks noChangeAspect="1"/>
          </p:cNvPicPr>
          <p:nvPr/>
        </p:nvPicPr>
        <p:blipFill>
          <a:blip r:embed="rId3"/>
          <a:stretch>
            <a:fillRect/>
          </a:stretch>
        </p:blipFill>
        <p:spPr>
          <a:xfrm>
            <a:off x="2651760" y="3438144"/>
            <a:ext cx="228600" cy="228600"/>
          </a:xfrm>
          <a:prstGeom prst="rect">
            <a:avLst/>
          </a:prstGeom>
        </p:spPr>
      </p:pic>
      <p:sp>
        <p:nvSpPr>
          <p:cNvPr id="21" name="Text 13"/>
          <p:cNvSpPr/>
          <p:nvPr/>
        </p:nvSpPr>
        <p:spPr>
          <a:xfrm>
            <a:off x="2953512" y="3410712"/>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Enhanced self-service BI</a:t>
            </a:r>
            <a:endParaRPr lang="en-US" sz="1100" dirty="0"/>
          </a:p>
        </p:txBody>
      </p:sp>
      <p:sp>
        <p:nvSpPr>
          <p:cNvPr id="22" name="Shape 14"/>
          <p:cNvSpPr/>
          <p:nvPr/>
        </p:nvSpPr>
        <p:spPr>
          <a:xfrm>
            <a:off x="466344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23" name="Shape 15"/>
          <p:cNvSpPr/>
          <p:nvPr/>
        </p:nvSpPr>
        <p:spPr>
          <a:xfrm>
            <a:off x="4663440" y="1325880"/>
            <a:ext cx="1965960" cy="475488"/>
          </a:xfrm>
          <a:prstGeom prst="rect">
            <a:avLst/>
          </a:prstGeom>
          <a:solidFill>
            <a:srgbClr val="1B4A7A"/>
          </a:solidFill>
          <a:ln w="12700">
            <a:solidFill>
              <a:srgbClr val="333333"/>
            </a:solidFill>
            <a:prstDash val="solid"/>
          </a:ln>
        </p:spPr>
        <p:txBody>
          <a:bodyPr/>
          <a:lstStyle/>
          <a:p>
            <a:endParaRPr lang="en-US"/>
          </a:p>
        </p:txBody>
      </p:sp>
      <p:sp>
        <p:nvSpPr>
          <p:cNvPr id="24" name="Text 16"/>
          <p:cNvSpPr/>
          <p:nvPr/>
        </p:nvSpPr>
        <p:spPr>
          <a:xfrm>
            <a:off x="4663440" y="1325880"/>
            <a:ext cx="1965960"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2027</a:t>
            </a:r>
            <a:endParaRPr lang="en-US" sz="1700" dirty="0"/>
          </a:p>
        </p:txBody>
      </p:sp>
      <p:pic>
        <p:nvPicPr>
          <p:cNvPr id="25" name="Image 6" descr="preencoded.png"/>
          <p:cNvPicPr>
            <a:picLocks noChangeAspect="1"/>
          </p:cNvPicPr>
          <p:nvPr/>
        </p:nvPicPr>
        <p:blipFill>
          <a:blip r:embed="rId3"/>
          <a:stretch>
            <a:fillRect/>
          </a:stretch>
        </p:blipFill>
        <p:spPr>
          <a:xfrm>
            <a:off x="4800600" y="1938528"/>
            <a:ext cx="228600" cy="228600"/>
          </a:xfrm>
          <a:prstGeom prst="rect">
            <a:avLst/>
          </a:prstGeom>
        </p:spPr>
      </p:pic>
      <p:sp>
        <p:nvSpPr>
          <p:cNvPr id="26" name="Text 17"/>
          <p:cNvSpPr/>
          <p:nvPr/>
        </p:nvSpPr>
        <p:spPr>
          <a:xfrm>
            <a:off x="5102352" y="1911096"/>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Generative AI integrations</a:t>
            </a:r>
            <a:endParaRPr lang="en-US" sz="1100" dirty="0"/>
          </a:p>
        </p:txBody>
      </p:sp>
      <p:pic>
        <p:nvPicPr>
          <p:cNvPr id="27" name="Image 7" descr="preencoded.png"/>
          <p:cNvPicPr>
            <a:picLocks noChangeAspect="1"/>
          </p:cNvPicPr>
          <p:nvPr/>
        </p:nvPicPr>
        <p:blipFill>
          <a:blip r:embed="rId3"/>
          <a:stretch>
            <a:fillRect/>
          </a:stretch>
        </p:blipFill>
        <p:spPr>
          <a:xfrm>
            <a:off x="4800600" y="2688336"/>
            <a:ext cx="228600" cy="228600"/>
          </a:xfrm>
          <a:prstGeom prst="rect">
            <a:avLst/>
          </a:prstGeom>
        </p:spPr>
      </p:pic>
      <p:sp>
        <p:nvSpPr>
          <p:cNvPr id="28" name="Text 18"/>
          <p:cNvSpPr/>
          <p:nvPr/>
        </p:nvSpPr>
        <p:spPr>
          <a:xfrm>
            <a:off x="5102352" y="2660904"/>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Cross-institution benchmarking</a:t>
            </a:r>
            <a:endParaRPr lang="en-US" sz="1100" dirty="0"/>
          </a:p>
        </p:txBody>
      </p:sp>
      <p:pic>
        <p:nvPicPr>
          <p:cNvPr id="29" name="Image 8" descr="preencoded.png"/>
          <p:cNvPicPr>
            <a:picLocks noChangeAspect="1"/>
          </p:cNvPicPr>
          <p:nvPr/>
        </p:nvPicPr>
        <p:blipFill>
          <a:blip r:embed="rId3"/>
          <a:stretch>
            <a:fillRect/>
          </a:stretch>
        </p:blipFill>
        <p:spPr>
          <a:xfrm>
            <a:off x="4800600" y="3438144"/>
            <a:ext cx="228600" cy="228600"/>
          </a:xfrm>
          <a:prstGeom prst="rect">
            <a:avLst/>
          </a:prstGeom>
        </p:spPr>
      </p:pic>
      <p:sp>
        <p:nvSpPr>
          <p:cNvPr id="30" name="Text 19"/>
          <p:cNvSpPr/>
          <p:nvPr/>
        </p:nvSpPr>
        <p:spPr>
          <a:xfrm>
            <a:off x="5102352" y="3410712"/>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Real-time streaming analytics</a:t>
            </a:r>
            <a:endParaRPr lang="en-US" sz="1100" dirty="0"/>
          </a:p>
        </p:txBody>
      </p:sp>
      <p:sp>
        <p:nvSpPr>
          <p:cNvPr id="31" name="Shape 20"/>
          <p:cNvSpPr/>
          <p:nvPr/>
        </p:nvSpPr>
        <p:spPr>
          <a:xfrm>
            <a:off x="6812280" y="1325880"/>
            <a:ext cx="1965960" cy="3474720"/>
          </a:xfrm>
          <a:prstGeom prst="rect">
            <a:avLst/>
          </a:prstGeom>
          <a:solidFill>
            <a:srgbClr val="FFFFFF"/>
          </a:solidFill>
          <a:ln w="6350">
            <a:solidFill>
              <a:srgbClr val="E2EBF3"/>
            </a:solidFill>
            <a:prstDash val="solid"/>
          </a:ln>
          <a:effectLst>
            <a:outerShdw blurRad="63500" dist="25400" dir="8100000" algn="bl" rotWithShape="0">
              <a:srgbClr val="000000">
                <a:alpha val="8000"/>
              </a:srgbClr>
            </a:outerShdw>
          </a:effectLst>
        </p:spPr>
        <p:txBody>
          <a:bodyPr/>
          <a:lstStyle/>
          <a:p>
            <a:endParaRPr lang="en-US"/>
          </a:p>
        </p:txBody>
      </p:sp>
      <p:sp>
        <p:nvSpPr>
          <p:cNvPr id="32" name="Shape 21"/>
          <p:cNvSpPr/>
          <p:nvPr/>
        </p:nvSpPr>
        <p:spPr>
          <a:xfrm>
            <a:off x="6812280" y="1325880"/>
            <a:ext cx="1965960" cy="475488"/>
          </a:xfrm>
          <a:prstGeom prst="rect">
            <a:avLst/>
          </a:prstGeom>
          <a:solidFill>
            <a:srgbClr val="003057"/>
          </a:solidFill>
          <a:ln w="12700">
            <a:solidFill>
              <a:srgbClr val="333333"/>
            </a:solidFill>
            <a:prstDash val="solid"/>
          </a:ln>
        </p:spPr>
        <p:txBody>
          <a:bodyPr/>
          <a:lstStyle/>
          <a:p>
            <a:endParaRPr lang="en-US"/>
          </a:p>
        </p:txBody>
      </p:sp>
      <p:sp>
        <p:nvSpPr>
          <p:cNvPr id="33" name="Text 22"/>
          <p:cNvSpPr/>
          <p:nvPr/>
        </p:nvSpPr>
        <p:spPr>
          <a:xfrm>
            <a:off x="6812280" y="1325880"/>
            <a:ext cx="1965960" cy="475488"/>
          </a:xfrm>
          <a:prstGeom prst="rect">
            <a:avLst/>
          </a:prstGeom>
          <a:noFill/>
          <a:ln/>
        </p:spPr>
        <p:txBody>
          <a:bodyPr wrap="square" lIns="0" tIns="0" rIns="0" bIns="0" rtlCol="0" anchor="ctr"/>
          <a:lstStyle/>
          <a:p>
            <a:pPr marL="0" indent="0" algn="ctr">
              <a:buNone/>
            </a:pPr>
            <a:r>
              <a:rPr lang="en-US" sz="1700" b="1" dirty="0">
                <a:solidFill>
                  <a:srgbClr val="FFFFFF"/>
                </a:solidFill>
                <a:latin typeface="Calibri" pitchFamily="34" charset="0"/>
                <a:ea typeface="Calibri" pitchFamily="34" charset="-122"/>
                <a:cs typeface="Calibri" pitchFamily="34" charset="-120"/>
              </a:rPr>
              <a:t>Beyond</a:t>
            </a:r>
            <a:endParaRPr lang="en-US" sz="1700" dirty="0"/>
          </a:p>
        </p:txBody>
      </p:sp>
      <p:pic>
        <p:nvPicPr>
          <p:cNvPr id="34" name="Image 9" descr="preencoded.png"/>
          <p:cNvPicPr>
            <a:picLocks noChangeAspect="1"/>
          </p:cNvPicPr>
          <p:nvPr/>
        </p:nvPicPr>
        <p:blipFill>
          <a:blip r:embed="rId3"/>
          <a:stretch>
            <a:fillRect/>
          </a:stretch>
        </p:blipFill>
        <p:spPr>
          <a:xfrm>
            <a:off x="6949440" y="1938528"/>
            <a:ext cx="228600" cy="228600"/>
          </a:xfrm>
          <a:prstGeom prst="rect">
            <a:avLst/>
          </a:prstGeom>
        </p:spPr>
      </p:pic>
      <p:sp>
        <p:nvSpPr>
          <p:cNvPr id="35" name="Text 23"/>
          <p:cNvSpPr/>
          <p:nvPr/>
        </p:nvSpPr>
        <p:spPr>
          <a:xfrm>
            <a:off x="7251192" y="1911096"/>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Agentic data workflows</a:t>
            </a:r>
            <a:endParaRPr lang="en-US" sz="1100" dirty="0"/>
          </a:p>
        </p:txBody>
      </p:sp>
      <p:pic>
        <p:nvPicPr>
          <p:cNvPr id="36" name="Image 10" descr="preencoded.png"/>
          <p:cNvPicPr>
            <a:picLocks noChangeAspect="1"/>
          </p:cNvPicPr>
          <p:nvPr/>
        </p:nvPicPr>
        <p:blipFill>
          <a:blip r:embed="rId3"/>
          <a:stretch>
            <a:fillRect/>
          </a:stretch>
        </p:blipFill>
        <p:spPr>
          <a:xfrm>
            <a:off x="6949440" y="2688336"/>
            <a:ext cx="228600" cy="228600"/>
          </a:xfrm>
          <a:prstGeom prst="rect">
            <a:avLst/>
          </a:prstGeom>
        </p:spPr>
      </p:pic>
      <p:sp>
        <p:nvSpPr>
          <p:cNvPr id="37" name="Text 24"/>
          <p:cNvSpPr/>
          <p:nvPr/>
        </p:nvSpPr>
        <p:spPr>
          <a:xfrm>
            <a:off x="7251192" y="2660904"/>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Federated learning capabilities</a:t>
            </a:r>
            <a:endParaRPr lang="en-US" sz="1100" dirty="0"/>
          </a:p>
        </p:txBody>
      </p:sp>
      <p:pic>
        <p:nvPicPr>
          <p:cNvPr id="38" name="Image 11" descr="preencoded.png"/>
          <p:cNvPicPr>
            <a:picLocks noChangeAspect="1"/>
          </p:cNvPicPr>
          <p:nvPr/>
        </p:nvPicPr>
        <p:blipFill>
          <a:blip r:embed="rId3"/>
          <a:stretch>
            <a:fillRect/>
          </a:stretch>
        </p:blipFill>
        <p:spPr>
          <a:xfrm>
            <a:off x="6949440" y="3438144"/>
            <a:ext cx="228600" cy="228600"/>
          </a:xfrm>
          <a:prstGeom prst="rect">
            <a:avLst/>
          </a:prstGeom>
        </p:spPr>
      </p:pic>
      <p:sp>
        <p:nvSpPr>
          <p:cNvPr id="39" name="Text 25"/>
          <p:cNvSpPr/>
          <p:nvPr/>
        </p:nvSpPr>
        <p:spPr>
          <a:xfrm>
            <a:off x="7251192" y="3410712"/>
            <a:ext cx="1444752" cy="411480"/>
          </a:xfrm>
          <a:prstGeom prst="rect">
            <a:avLst/>
          </a:prstGeom>
          <a:noFill/>
          <a:ln/>
        </p:spPr>
        <p:txBody>
          <a:bodyPr wrap="square" lIns="0" tIns="0" rIns="0" bIns="0" rtlCol="0" anchor="ctr"/>
          <a:lstStyle/>
          <a:p>
            <a:pPr marL="0" indent="0">
              <a:buNone/>
            </a:pPr>
            <a:r>
              <a:rPr lang="en-US" sz="1100" dirty="0">
                <a:solidFill>
                  <a:srgbClr val="1A202C"/>
                </a:solidFill>
                <a:latin typeface="Calibri" pitchFamily="34" charset="0"/>
                <a:ea typeface="Calibri" pitchFamily="34" charset="-122"/>
                <a:cs typeface="Calibri" pitchFamily="34" charset="-120"/>
              </a:rPr>
              <a:t>Open data ecosystem APIs</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03057"/>
        </a:solidFill>
        <a:effectLst/>
      </p:bgPr>
    </p:bg>
    <p:spTree>
      <p:nvGrpSpPr>
        <p:cNvPr id="1" name=""/>
        <p:cNvGrpSpPr/>
        <p:nvPr/>
      </p:nvGrpSpPr>
      <p:grpSpPr>
        <a:xfrm>
          <a:off x="0" y="0"/>
          <a:ext cx="0" cy="0"/>
          <a:chOff x="0" y="0"/>
          <a:chExt cx="0" cy="0"/>
        </a:xfrm>
      </p:grpSpPr>
      <p:sp>
        <p:nvSpPr>
          <p:cNvPr id="2" name="Shape 0"/>
          <p:cNvSpPr/>
          <p:nvPr/>
        </p:nvSpPr>
        <p:spPr>
          <a:xfrm>
            <a:off x="6400800" y="0"/>
            <a:ext cx="2743200" cy="5143500"/>
          </a:xfrm>
          <a:prstGeom prst="rect">
            <a:avLst/>
          </a:prstGeom>
          <a:solidFill>
            <a:srgbClr val="1B4A7A"/>
          </a:solidFill>
          <a:ln w="12700">
            <a:solidFill>
              <a:srgbClr val="333333"/>
            </a:solidFill>
            <a:prstDash val="solid"/>
          </a:ln>
        </p:spPr>
        <p:txBody>
          <a:bodyPr/>
          <a:lstStyle/>
          <a:p>
            <a:endParaRPr lang="en-US"/>
          </a:p>
        </p:txBody>
      </p:sp>
      <p:sp>
        <p:nvSpPr>
          <p:cNvPr id="3" name="Shape 1"/>
          <p:cNvSpPr/>
          <p:nvPr/>
        </p:nvSpPr>
        <p:spPr>
          <a:xfrm>
            <a:off x="8046720" y="0"/>
            <a:ext cx="1097280" cy="5143500"/>
          </a:xfrm>
          <a:prstGeom prst="rect">
            <a:avLst/>
          </a:prstGeom>
          <a:solidFill>
            <a:srgbClr val="00A651">
              <a:alpha val="40000"/>
            </a:srgbClr>
          </a:solidFill>
          <a:ln w="12700">
            <a:solidFill>
              <a:srgbClr val="333333"/>
            </a:solidFill>
            <a:prstDash val="solid"/>
          </a:ln>
        </p:spPr>
        <p:txBody>
          <a:bodyPr/>
          <a:lstStyle/>
          <a:p>
            <a:endParaRPr lang="en-US"/>
          </a:p>
        </p:txBody>
      </p:sp>
      <p:sp>
        <p:nvSpPr>
          <p:cNvPr id="4" name="Shape 2"/>
          <p:cNvSpPr/>
          <p:nvPr/>
        </p:nvSpPr>
        <p:spPr>
          <a:xfrm>
            <a:off x="-914400" y="2743200"/>
            <a:ext cx="4572000" cy="4572000"/>
          </a:xfrm>
          <a:prstGeom prst="ellipse">
            <a:avLst/>
          </a:prstGeom>
          <a:solidFill>
            <a:srgbClr val="009B8D">
              <a:alpha val="12000"/>
            </a:srgbClr>
          </a:solidFill>
          <a:ln w="12700">
            <a:solidFill>
              <a:srgbClr val="333333"/>
            </a:solidFill>
            <a:prstDash val="solid"/>
          </a:ln>
        </p:spPr>
        <p:txBody>
          <a:bodyPr/>
          <a:lstStyle/>
          <a:p>
            <a:endParaRPr lang="en-US"/>
          </a:p>
        </p:txBody>
      </p:sp>
      <p:sp>
        <p:nvSpPr>
          <p:cNvPr id="5" name="Text 3"/>
          <p:cNvSpPr/>
          <p:nvPr/>
        </p:nvSpPr>
        <p:spPr>
          <a:xfrm>
            <a:off x="548640" y="640080"/>
            <a:ext cx="4572000" cy="320040"/>
          </a:xfrm>
          <a:prstGeom prst="rect">
            <a:avLst/>
          </a:prstGeom>
          <a:noFill/>
          <a:ln/>
        </p:spPr>
        <p:txBody>
          <a:bodyPr wrap="square" lIns="0" tIns="0" rIns="0" bIns="0" rtlCol="0" anchor="ctr"/>
          <a:lstStyle/>
          <a:p>
            <a:pPr marL="0" indent="0">
              <a:buNone/>
            </a:pPr>
            <a:r>
              <a:rPr lang="en-US" sz="1100" b="1" kern="0" spc="400" dirty="0">
                <a:solidFill>
                  <a:srgbClr val="00A651"/>
                </a:solidFill>
                <a:latin typeface="Calibri" pitchFamily="34" charset="0"/>
                <a:ea typeface="Calibri" pitchFamily="34" charset="-122"/>
                <a:cs typeface="Calibri" pitchFamily="34" charset="-120"/>
              </a:rPr>
              <a:t>JACK HENRY</a:t>
            </a:r>
            <a:endParaRPr lang="en-US" sz="1100" dirty="0"/>
          </a:p>
        </p:txBody>
      </p:sp>
      <p:sp>
        <p:nvSpPr>
          <p:cNvPr id="6" name="Text 4"/>
          <p:cNvSpPr/>
          <p:nvPr/>
        </p:nvSpPr>
        <p:spPr>
          <a:xfrm>
            <a:off x="548640" y="1051560"/>
            <a:ext cx="5029200" cy="1371600"/>
          </a:xfrm>
          <a:prstGeom prst="rect">
            <a:avLst/>
          </a:prstGeom>
          <a:noFill/>
          <a:ln/>
        </p:spPr>
        <p:txBody>
          <a:bodyPr wrap="square" lIns="0" tIns="0" rIns="0" bIns="0" rtlCol="0" anchor="t"/>
          <a:lstStyle/>
          <a:p>
            <a:pPr marL="0" indent="0">
              <a:buNone/>
            </a:pPr>
            <a:r>
              <a:rPr lang="en-US" sz="6400" b="1" dirty="0">
                <a:solidFill>
                  <a:srgbClr val="FFFFFF"/>
                </a:solidFill>
                <a:latin typeface="Calibri" pitchFamily="34" charset="0"/>
                <a:ea typeface="Calibri" pitchFamily="34" charset="-122"/>
                <a:cs typeface="Calibri" pitchFamily="34" charset="-120"/>
              </a:rPr>
              <a:t>Thank You.</a:t>
            </a:r>
            <a:endParaRPr lang="en-US" sz="6400" dirty="0"/>
          </a:p>
        </p:txBody>
      </p:sp>
      <p:sp>
        <p:nvSpPr>
          <p:cNvPr id="7" name="Text 5"/>
          <p:cNvSpPr/>
          <p:nvPr/>
        </p:nvSpPr>
        <p:spPr>
          <a:xfrm>
            <a:off x="548640" y="2423160"/>
            <a:ext cx="5029200" cy="457200"/>
          </a:xfrm>
          <a:prstGeom prst="rect">
            <a:avLst/>
          </a:prstGeom>
          <a:noFill/>
          <a:ln/>
        </p:spPr>
        <p:txBody>
          <a:bodyPr wrap="square" lIns="0" tIns="0" rIns="0" bIns="0" rtlCol="0" anchor="t"/>
          <a:lstStyle/>
          <a:p>
            <a:pPr marL="0" indent="0">
              <a:buNone/>
            </a:pPr>
            <a:r>
              <a:rPr lang="en-US" sz="2400" dirty="0">
                <a:solidFill>
                  <a:srgbClr val="00A651"/>
                </a:solidFill>
                <a:latin typeface="Calibri" pitchFamily="34" charset="0"/>
                <a:ea typeface="Calibri" pitchFamily="34" charset="-122"/>
                <a:cs typeface="Calibri" pitchFamily="34" charset="-120"/>
              </a:rPr>
              <a:t>Questions &amp; Discussion</a:t>
            </a:r>
            <a:endParaRPr lang="en-US" sz="2400" dirty="0"/>
          </a:p>
        </p:txBody>
      </p:sp>
      <p:sp>
        <p:nvSpPr>
          <p:cNvPr id="8" name="Shape 6"/>
          <p:cNvSpPr/>
          <p:nvPr/>
        </p:nvSpPr>
        <p:spPr>
          <a:xfrm>
            <a:off x="548640" y="3017520"/>
            <a:ext cx="5029200" cy="36576"/>
          </a:xfrm>
          <a:prstGeom prst="rect">
            <a:avLst/>
          </a:prstGeom>
          <a:solidFill>
            <a:srgbClr val="3A5A7A"/>
          </a:solidFill>
          <a:ln w="12700">
            <a:solidFill>
              <a:srgbClr val="333333"/>
            </a:solidFill>
            <a:prstDash val="solid"/>
          </a:ln>
        </p:spPr>
        <p:txBody>
          <a:bodyPr/>
          <a:lstStyle/>
          <a:p>
            <a:endParaRPr lang="en-US"/>
          </a:p>
        </p:txBody>
      </p:sp>
      <p:sp>
        <p:nvSpPr>
          <p:cNvPr id="9" name="Text 7"/>
          <p:cNvSpPr/>
          <p:nvPr/>
        </p:nvSpPr>
        <p:spPr>
          <a:xfrm>
            <a:off x="548640" y="3200400"/>
            <a:ext cx="5029200" cy="68580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Mike Ames</a:t>
            </a:r>
            <a:r>
              <a:rPr lang="en-US" sz="1200" dirty="0">
                <a:solidFill>
                  <a:srgbClr val="9ABDD8"/>
                </a:solidFill>
                <a:latin typeface="Calibri" pitchFamily="34" charset="0"/>
                <a:ea typeface="Calibri" pitchFamily="34" charset="-122"/>
                <a:cs typeface="Calibri" pitchFamily="34" charset="-120"/>
              </a:rPr>
              <a:t> — Director of Data Science
</a:t>
            </a:r>
            <a:r>
              <a:rPr lang="en-US" sz="1200" dirty="0">
                <a:solidFill>
                  <a:srgbClr val="00A651"/>
                </a:solidFill>
                <a:latin typeface="Calibri" pitchFamily="34" charset="0"/>
                <a:ea typeface="Calibri" pitchFamily="34" charset="-122"/>
                <a:cs typeface="Calibri" pitchFamily="34" charset="-120"/>
              </a:rPr>
              <a:t>michael.ames@jackhenry.com</a:t>
            </a:r>
            <a:endParaRPr lang="en-US" sz="1200" dirty="0"/>
          </a:p>
        </p:txBody>
      </p:sp>
      <p:sp>
        <p:nvSpPr>
          <p:cNvPr id="10" name="Text 8"/>
          <p:cNvSpPr/>
          <p:nvPr/>
        </p:nvSpPr>
        <p:spPr>
          <a:xfrm>
            <a:off x="548640" y="3950208"/>
            <a:ext cx="5029200" cy="685800"/>
          </a:xfrm>
          <a:prstGeom prst="rect">
            <a:avLst/>
          </a:prstGeom>
          <a:noFill/>
          <a:ln/>
        </p:spPr>
        <p:txBody>
          <a:bodyPr wrap="square" lIns="0" tIns="0" rIns="0" bIns="0" rtlCol="0" anchor="t"/>
          <a:lstStyle/>
          <a:p>
            <a:pPr marL="0" indent="0">
              <a:buNone/>
            </a:pPr>
            <a:r>
              <a:rPr lang="en-US" sz="1200" b="1" dirty="0">
                <a:solidFill>
                  <a:srgbClr val="FFFFFF"/>
                </a:solidFill>
                <a:latin typeface="Calibri" pitchFamily="34" charset="0"/>
                <a:ea typeface="Calibri" pitchFamily="34" charset="-122"/>
                <a:cs typeface="Calibri" pitchFamily="34" charset="-120"/>
              </a:rPr>
              <a:t>Elspeth Bloodgood</a:t>
            </a:r>
            <a:r>
              <a:rPr lang="en-US" sz="1200" dirty="0">
                <a:solidFill>
                  <a:srgbClr val="9ABDD8"/>
                </a:solidFill>
                <a:latin typeface="Calibri" pitchFamily="34" charset="0"/>
                <a:ea typeface="Calibri" pitchFamily="34" charset="-122"/>
                <a:cs typeface="Calibri" pitchFamily="34" charset="-120"/>
              </a:rPr>
              <a:t> — Senior Advisor, Data Governance
</a:t>
            </a:r>
            <a:r>
              <a:rPr lang="en-US" sz="1200" dirty="0">
                <a:solidFill>
                  <a:srgbClr val="00A651"/>
                </a:solidFill>
                <a:latin typeface="Calibri" pitchFamily="34" charset="0"/>
                <a:ea typeface="Calibri" pitchFamily="34" charset="-122"/>
                <a:cs typeface="Calibri" pitchFamily="34" charset="-120"/>
              </a:rPr>
              <a:t>elspeth.bloodgood@jackhenry.com</a:t>
            </a:r>
            <a:endParaRPr lang="en-US" sz="1200" dirty="0"/>
          </a:p>
        </p:txBody>
      </p:sp>
      <p:pic>
        <p:nvPicPr>
          <p:cNvPr id="11" name="Image 0" descr="preencoded.png"/>
          <p:cNvPicPr>
            <a:picLocks noChangeAspect="1"/>
          </p:cNvPicPr>
          <p:nvPr/>
        </p:nvPicPr>
        <p:blipFill>
          <a:blip r:embed="rId3">
            <a:alphaModFix amt="50000"/>
          </a:blip>
          <a:stretch>
            <a:fillRect/>
          </a:stretch>
        </p:blipFill>
        <p:spPr>
          <a:xfrm>
            <a:off x="6675120" y="914400"/>
            <a:ext cx="640080" cy="640080"/>
          </a:xfrm>
          <a:prstGeom prst="rect">
            <a:avLst/>
          </a:prstGeom>
        </p:spPr>
      </p:pic>
      <p:pic>
        <p:nvPicPr>
          <p:cNvPr id="12" name="Image 1" descr="preencoded.png"/>
          <p:cNvPicPr>
            <a:picLocks noChangeAspect="1"/>
          </p:cNvPicPr>
          <p:nvPr/>
        </p:nvPicPr>
        <p:blipFill>
          <a:blip r:embed="rId4">
            <a:alphaModFix amt="50000"/>
          </a:blip>
          <a:stretch>
            <a:fillRect/>
          </a:stretch>
        </p:blipFill>
        <p:spPr>
          <a:xfrm>
            <a:off x="6675120" y="2103120"/>
            <a:ext cx="640080" cy="640080"/>
          </a:xfrm>
          <a:prstGeom prst="rect">
            <a:avLst/>
          </a:prstGeom>
        </p:spPr>
      </p:pic>
      <p:pic>
        <p:nvPicPr>
          <p:cNvPr id="13" name="Image 2" descr="preencoded.png"/>
          <p:cNvPicPr>
            <a:picLocks noChangeAspect="1"/>
          </p:cNvPicPr>
          <p:nvPr/>
        </p:nvPicPr>
        <p:blipFill>
          <a:blip r:embed="rId5">
            <a:alphaModFix amt="50000"/>
          </a:blip>
          <a:stretch>
            <a:fillRect/>
          </a:stretch>
        </p:blipFill>
        <p:spPr>
          <a:xfrm>
            <a:off x="6675120" y="3291840"/>
            <a:ext cx="640080" cy="64008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1643</Words>
  <Application>Microsoft Macintosh PowerPoint</Application>
  <PresentationFormat>On-screen Show (16:9)</PresentationFormat>
  <Paragraphs>292</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JHBI: Redefining Enterprise Data Strategy</dc:title>
  <dc:subject>PptxGenJS Presentation</dc:subject>
  <dc:creator>Mike Ames, Elspeth Bloodgood</dc:creator>
  <cp:lastModifiedBy>Adam Ames</cp:lastModifiedBy>
  <cp:revision>2</cp:revision>
  <dcterms:created xsi:type="dcterms:W3CDTF">2026-03-09T19:42:00Z</dcterms:created>
  <dcterms:modified xsi:type="dcterms:W3CDTF">2026-03-09T19:43:30Z</dcterms:modified>
</cp:coreProperties>
</file>