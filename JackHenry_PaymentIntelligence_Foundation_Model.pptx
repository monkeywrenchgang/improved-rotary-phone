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265176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Intelligence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Model Architecture for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Intelligence Across Financial Institutions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1005840"/>
            <a:ext cx="1645920" cy="713232"/>
          </a:xfrm>
          <a:prstGeom prst="rect">
            <a:avLst/>
          </a:prstGeom>
          <a:solidFill>
            <a:srgbClr val="8B8FCF"/>
          </a:solidFill>
          <a:ln w="12700">
            <a:solidFill>
              <a:srgbClr val="8B8F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00584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810512"/>
            <a:ext cx="1645920" cy="713232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81051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2615184"/>
            <a:ext cx="1645920" cy="71323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261518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419856"/>
            <a:ext cx="1645920" cy="71323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41985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|  Confidential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Intelligence Is Fragmented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Builds Alone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Types · 8 Rails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1576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rail has distinct timing patterns, schemas, and lifecycle events — siloed in separate systems with no cross-rail 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Intelligence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71576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builds fraud and anomaly models from scratch using only their own limited transaction history.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029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&amp; Blind Spots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271576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rails and rare fraud patterns take months of local data to detect. The network already knows — you don't.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duplicated effort, inconsistent accuracy, and intelligence that stops at the FI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Collective Payment Intelligence Unlocks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Anomaly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timing deviations across all payment types instantly — patterns only visible at network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Fraud Signals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coordinated fraud spanning ACH, RTP, and wire simultaneously — invisible to single-rail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Forecasting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intraday liquidity needs from payment flow patterns trained across hundreds of FIs.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74320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697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Exception Prediction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063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settlement which payments are likely to return — T₆ prediction accuracy unavailable locally.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Rail Onboarding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pre-trained intelligence on day one when onboarding FedNow, RTP, or any new payment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54864" cy="77724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49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Fine-Tuning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intelligence adapted to each FI's unique payment mix, risk profile, and operational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FOR PAYMENTS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Once on Collective Data.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Each FI.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4114800" cy="6400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Backbone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model pre-trained on anonymized payment event sequences across all participating FIs.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universal physics of payment flows: timing patterns per rail, normal delta distributions, and behavioral fingerprints of legitimate vs. anomalous activity.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once. Shared by 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920240"/>
            <a:ext cx="41148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29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Fine-Tuned Head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54203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task-specific model built on top of the backbone — trained exclusively on each FI's own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 gets its own head for fraud detection, return prediction, or liquidity forecasting — calibrated to their specific payment mix and risk profile.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lives in the FI's environment. It never moves.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9080" y="32004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▶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IN 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Is a Temporal Event Graph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670048"/>
            <a:ext cx="822960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50592"/>
            <a:ext cx="411480" cy="411480"/>
          </a:xfrm>
          <a:prstGeom prst="ellipse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19072" y="2450592"/>
            <a:ext cx="411480" cy="41148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81912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9504" y="2450592"/>
            <a:ext cx="411480" cy="411480"/>
          </a:xfrm>
          <a:prstGeom prst="ellipse">
            <a:avLst/>
          </a:prstGeom>
          <a:solidFill>
            <a:srgbClr val="1A7FC1"/>
          </a:solidFill>
          <a:ln w="12700">
            <a:solidFill>
              <a:srgbClr val="1A7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52344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9936" y="245059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22776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30368" y="2450592"/>
            <a:ext cx="411480" cy="411480"/>
          </a:xfrm>
          <a:prstGeom prst="ellipse">
            <a:avLst/>
          </a:prstGeom>
          <a:solidFill>
            <a:srgbClr val="0A7A6A"/>
          </a:solidFill>
          <a:ln w="12700">
            <a:solidFill>
              <a:srgbClr val="0A7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3208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2450592"/>
            <a:ext cx="411480" cy="411480"/>
          </a:xfrm>
          <a:prstGeom prst="ellipse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71232" y="2450592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34072" y="283464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90672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61104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31536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22219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DF3DC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3977640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 sequence (Δ₁–Δ₆) is a timing fingerprint unique to each rail. A foundation model trained across thousands of FIs learns the normal distribution of these deltas per rail, making anomalous timing patterns instantly detectable — even on new payment types your models have never seen locally.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Working Together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50292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branches to Gold (BI) and Feature Store (ML) → Platinum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is the unified source. Gold serves analytics. The Feature Store / Science Layer serves foundation model training.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554480"/>
            <a:ext cx="2651760" cy="5029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121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+ Task Heads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49631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the Feature Store / Science Layer (de-identified, row-level event features). Fine-tuned heads deployed in each FI's Platinum layer.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intelligence. Private specialization.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5544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554480"/>
            <a:ext cx="2651760" cy="5029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1581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121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Participation Tiers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496312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· Federated · Observer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participates at their comfort level, with mathematical privacy guarantees and tiered value return.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BI and ML as Separate Downstream Branches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FDF3DC"/>
          </a:solidFill>
          <a:ln w="12700">
            <a:solidFill>
              <a:srgbClr val="E0D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1280160" cy="6583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28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83080" y="1371600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append-only. Rail-native schemas (NACHA, ISO 20022, FedNow, RTP). FI-specific KMS encryption. Tenant-partitioned. Full time-travel via Delta Lake / Iceberg.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841248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48256"/>
            <a:ext cx="1280160" cy="658368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482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50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83080" y="2093976"/>
            <a:ext cx="6903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payment event model — all 18 types normalized. Entity resolution, T₀–T₆ delta computation, cross-rail features. FI identifier preserved. Source of truth for all downstream.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752344"/>
            <a:ext cx="5440680" cy="45720"/>
          </a:xfrm>
          <a:prstGeom prst="rect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752344"/>
            <a:ext cx="45720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752344"/>
            <a:ext cx="45720" cy="164592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BI Analytics Branch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2724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Science Branch  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4023360" cy="960120"/>
          </a:xfrm>
          <a:prstGeom prst="rect">
            <a:avLst/>
          </a:prstGeom>
          <a:solidFill>
            <a:srgbClr val="FFFBE6"/>
          </a:solidFill>
          <a:ln w="12700">
            <a:solidFill>
              <a:srgbClr val="E0C8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62656"/>
            <a:ext cx="1280160" cy="9601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626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95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3008376"/>
            <a:ext cx="2496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BI-ready metrics, rail performance analytics, settlement stats, exception rates. FI-attributed. Feeds Platinum BI dashboards. NOT used for ML training.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16552" y="3017520"/>
            <a:ext cx="54864" cy="8503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9704" y="2962656"/>
            <a:ext cx="4288536" cy="960120"/>
          </a:xfrm>
          <a:prstGeom prst="rect">
            <a:avLst/>
          </a:prstGeom>
          <a:solidFill>
            <a:srgbClr val="E8F5F9"/>
          </a:solidFill>
          <a:ln w="12700">
            <a:solidFill>
              <a:srgbClr val="A0C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9704" y="2962656"/>
            <a:ext cx="1417320" cy="9601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29626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9704" y="3584448"/>
            <a:ext cx="1417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Layer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3008376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row-level event features. DP-noised. Versioned training datasets for foundation model backbone. Point-in-time correct. No FI identifiers retained.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86784"/>
            <a:ext cx="8412480" cy="914400"/>
          </a:xfrm>
          <a:prstGeom prst="rect">
            <a:avLst/>
          </a:prstGeom>
          <a:solidFill>
            <a:srgbClr val="EEEEFF"/>
          </a:solidFill>
          <a:ln w="12700">
            <a:solidFill>
              <a:srgbClr val="C8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986784"/>
            <a:ext cx="1280160" cy="914400"/>
          </a:xfrm>
          <a:prstGeom prst="rect">
            <a:avLst/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867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553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Sovereign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83080" y="4032504"/>
            <a:ext cx="6903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fine-tuned model weights (from Feature Store backbone training), inference endpoints, FI-specific BI dashboards (from Gold), full-context payment views. FI-controlled. Never shared.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94690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feeds two independent branches: Gold (BI analytics) and the Feature Store (ML training). Separate pipelines, separate privacy contracts, separate consumers.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Anonymized Data to Per-FI Intelligence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4206240" cy="4572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Backbone Pre-Training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Feature Store / Science Layer — de-identified, row-level event features from Silver; DP-noised; versioned training datasets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masked event prediction — given T₀–T₃ of a payment, predict T₄–T₅ deltas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838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cross-rail timing physics with no FI-identifiable 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1513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Backbone weights — the shared intelligence foundation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554480"/>
            <a:ext cx="4206240" cy="4572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5727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Per-FI Fine-Tuning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FI-specific Platinum data exclusively — never shared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816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lightweight head on frozen (or partially-frozen) backbone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4838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 enable efficient head updates when backbone is retrained quarterly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41513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FI-specific fraud, return, and anomaly models in Platinum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Participate.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participates at their comfort level. Mathematics — not policy — enforces the boundaries.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2651760" cy="2926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920240"/>
            <a:ext cx="26517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behavioral data contributed to Feature Store / Science Layer. Maximum backbone accuracy. Highest value return.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584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Contribute: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behavioral embeddings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416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backbone + priority fine-tuning + highest model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2651760" cy="2926080"/>
          </a:xfrm>
          <a:prstGeom prst="rect">
            <a:avLst/>
          </a:prstGeom>
          <a:solidFill>
            <a:srgbClr val="1A2A4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944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DP-noised gradients leave your environment. Data never transmitted. Strong backbone contribution.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84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Contribute: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Differential-private gradient updates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4416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backbone + fine-tuning + strong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920240"/>
            <a:ext cx="2651760" cy="2926080"/>
          </a:xfrm>
          <a:prstGeom prst="rect">
            <a:avLst/>
          </a:prstGeom>
          <a:solidFill>
            <a:srgbClr val="1A2A4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920240"/>
            <a:ext cx="265176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423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29443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access only. Zero data sharing. Benefit from network intelligence without contributing.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584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Contribute: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read-only participant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4416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backbone (no personalized fine-tuning)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5C35"/>
          </a:solidFill>
          <a:ln w="12700">
            <a:solidFill>
              <a:srgbClr val="1A5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F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868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" y="16002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E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participation.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E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collective intelligence.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" y="2514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7889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seeking maximum model accuracy who are willing to contribute de-identified event feature vectors to the shared Feature Store under Jack Henry's Data Processing Agreement.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868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→ Feature Store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2344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row-level event feature vectors flow from the FI's Silver partition to the shared Feature Store / Science Layer. Direct identifiers removed. DP noise applied at the transform boundary.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1892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Training Contribution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2585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data feeds centralized backbone pre-training. Contributor FIs carry the highest weight — their payment patterns are most richly represented in the model.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990088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29169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Fine-Tuning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2826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backbone is deployed to the FI's Platinum environment. Task-specific heads are fine-tuned exclusively on FI-local Platinum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014216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9410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Backbone Updates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30682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backbone is retrained quarterly, Contributors receive LoRA-adapter updates first, maintaining the freshest intelligence ahead of other tiers.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F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868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" y="16002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do the work.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6974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with strict data sovereignty requirements, regulatory constraints on data sharing, or privacy-sensitive customer bases — who still want network intelligence benefits.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41832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868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2344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trains locally on the FI's own Bronze/Silver data. No data moves — only computation happens inside the FI's environment.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1892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Gradient Computation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2585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updates are computed using Differentially Private SGD. Gaussian noise is injected, parameterized by (ε, δ) — a mathematical privacy guarantee.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990088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29169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Aggregation (SMPC)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32826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Noised gradients are encrypted. Secure Multi-Party Computation aggregates them — the aggregation server sees only the sum, never individual FI gradients.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014216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9410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Updated, Data Never Shared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30682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aggregated gradient updates the backbone. No FI transaction data ever exists outside the FI boundary. Privacy budget (ε) is logged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A1A7A"/>
          </a:solidFill>
          <a:ln w="12700">
            <a:solidFill>
              <a:srgbClr val="4A1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868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" y="16002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contribution.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benefit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C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" y="2560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8346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evaluating the platform, operating under extreme data restrictions, or seeking a no-risk entry point before committing to Federated or Contributor tier.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5486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8686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Backbone Access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23444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model backbone — trained across all Contributor and Federated FIs — is available for deployment in your Platinum environment.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984248"/>
            <a:ext cx="5486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8928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Platinum-Hosted Inference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225856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backbone against your own payment events for anomaly scoring, timing analysis, and exception prediction. All computation stays in your environment.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008376"/>
            <a:ext cx="5486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29169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Fine-Tuning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01568" y="328269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contributing data, the backbone cannot be fine-tuned to your specific patterns. Accuracy is strong but not FI-specialized.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4032504"/>
            <a:ext cx="54864" cy="7132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39410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Upgrade Path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430682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is designed as an on-ramp. Usage patterns can quantify exactly what accuracy lift you'd gain by moving to Federated or Contributor tier.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Isolation, Not Contractual Promises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934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Data Isolation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data is encrypted with FI-specific KMS keys. The platform cannot access plaintext without explicit FI authorization. No policy claim — cryptography.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60934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Privacy (DP)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93852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provides a mathematical bound: for any adversary with unlimited compute, inferring a specific transaction is bounded by e^ε. Auditable. Provable.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7249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Inversion Defense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noise combined with Secure Aggregation (SMPC) closes gradient inversion attacks. The aggregation server sees only the encrypted sum — never individual contributions.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670048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72491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Cross-FI Data Pathway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054096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contains no pathway by which FI-B can read FI-A data. This is structural — not a policy that can be violated. Platinum layers are physically isolated.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85616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0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Privacy Budget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16966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 receives a real-time privacy accounting dashboard showing cumulative ε expenditure. FIs set a maximum ε threshold — participation halts automatically if exceeded.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785616"/>
            <a:ext cx="39776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840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Attestation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audit of the federated training implementation and DP calibration. Same trust model FIs use for SOC 2 — verifiable by your security team.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Platinum Layer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data. Your models. Your sovereign space.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13716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Fine-Tuned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fraud, return, and anomaly detection models live here. Trained on your data. Jack Henry has no access unless you explicitly grant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54864" cy="13716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202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Served Locally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 runs inside your Platinum environment. No payment data travels to Jack Henry for scoring. Decisions happen at your boundary.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31920" cy="13716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54864" cy="13716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Payment Views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payment views with FI identifiers restored — the de-identification applied in Gold is reversed. For your eyes only.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3931920" cy="13716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337560"/>
            <a:ext cx="54864" cy="137160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29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BI Dashboards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performance analytics, exception rates, timing distributions, and model performance metrics — all filtered to your institution.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is above the platform boundary. Jack Henry provides infrastructure. You own the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Tier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88036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813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81328"/>
            <a:ext cx="173736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F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74920" y="1481328"/>
            <a:ext cx="173736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1481328"/>
            <a:ext cx="1737360" cy="384048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14813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2880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86537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backbone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865376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865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1865376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865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865376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865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12848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2128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fine-tuned head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21284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221284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221284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"/>
            <a:ext cx="2880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5603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anomaly detection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2560320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2560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accuracy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2560320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2560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2560320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2560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accuracy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2907792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290779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exception prediction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37560" y="290779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74920" y="290779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12280" y="290779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85432" y="29077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255264"/>
            <a:ext cx="2880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255264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payment intelligence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37560" y="3255264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10712" y="32552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74920" y="3255264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48072" y="32552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12280" y="3255264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85432" y="32552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3602736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360273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FI boundary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37560" y="360273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10712" y="36027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Anon. embeddings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074920" y="360273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48072" y="36027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12280" y="360273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85432" y="36027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3950208"/>
            <a:ext cx="2880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" y="395020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mechanism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337560" y="3950208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10712" y="3950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 + DPA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074920" y="3950208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48072" y="3950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DP (ε, δ)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812280" y="3950208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85432" y="3950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57200" y="4297680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42976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backbone updates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337560" y="429768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10712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074920" y="429768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48072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812280" y="429768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85432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57200" y="4645152"/>
            <a:ext cx="2880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" y="464515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privacy budget (ε) dashboard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337560" y="4645152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10712" y="4645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074920" y="4645152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48072" y="4645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812280" y="4645152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85432" y="4645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to Full Intelligence Fabric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193852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554480"/>
            <a:ext cx="1938528" cy="50292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5448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8013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8346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ingest all 18 payment types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normalization &amp; T₀–T₆ deltas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4930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pipeline (de-id + DP noise)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8221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infra per FI tenant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193852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554480"/>
            <a:ext cx="193852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55448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18013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8346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training from Feature 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validation &amp; evals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4930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 benchmarking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8221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 framework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0288" y="1554480"/>
            <a:ext cx="193852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1554480"/>
            <a:ext cx="1938528" cy="5029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155448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0288" y="18013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81728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Fine-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Launch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28346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fine-tuning pipeline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81728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return prediction heads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34930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serving in Platinum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81728" y="38221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tier FI onboarding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11696" y="1554480"/>
            <a:ext cx="193852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11696" y="1554480"/>
            <a:ext cx="1938528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1696" y="155448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18013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Q1–Y2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03136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03136" y="28346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(DP-SGD)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03136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aggregation (SMPC)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3136" y="34930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tier on-ramp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03136" y="38221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 dashboards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3255264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Effect of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Intelligence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 that joins — at any tier — strengthens the backbone for everyone.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560320" cy="18288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788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33101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71246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· Federated · Observer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you're comfortable.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697480"/>
            <a:ext cx="2560320" cy="18288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788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93008" y="33101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Assessment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371246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your accuracy lift before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commit to any tier.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697480"/>
            <a:ext cx="2560320" cy="1828800"/>
          </a:xfrm>
          <a:prstGeom prst="rect">
            <a:avLst/>
          </a:prstGeom>
          <a:solidFill>
            <a:srgbClr val="1A2A4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788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36208" y="33101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3712464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attestation package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your security team.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4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Deep-Dive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Medallion Layer Specifications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3319272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Differential Privacy Mechanics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621024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Federated Learning Protocol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922776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Time Delta Feature 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2452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LoRA Backbone Version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 Threat Model &amp; Security Guarantees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 ·  MEDALLION LAYER SPECIFICATIONS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 by Layer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43000" cy="64922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143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Delta Lake / Apache Iceberg — append-only, full time-travel. Partitioned by rail_type / ingestion_date / fi_tenant_id.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0" y="157734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Encryption: FI-specific AWS KMS / Azure Key Vault CMKs. Schema: rail-native (NACHA, ISO 20022, Fedwire, RTP JSON). No transformation.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7 years (regulatory minimum). Immutable cryptographic hash on ingest.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1143000" cy="649224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1143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Delta Lake with ACID — merge/upsert for late-arriving events. Schema: unified payment event model across all rails.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45920" y="230886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transforms: entity resolution (stable pseudonymous tokens), T₀–T₆ delta computation, canonical field mapping.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25146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identifier retained. Last layer with direct FI attribution. Source-of-truth for both downstream branches.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1143000" cy="6492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1143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83464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Aggregated, BI-ready metrics — rail performance, settlement stats, exception rates, throughput trends.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45920" y="304038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FI-attributed. Feeds per-FI Platinum BI dashboards. Rolled-up — NOT row-level event data.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324612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for ML training. No behavioral feature vectors. Kept separate to preserve clean privacy contract.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1143000" cy="649224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1143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De-identified, row-level event feature vectors. DP noise applied at Silver → Feature Store boundary.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45920" y="37719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point-in-time correct training datasets. No FI identifiers retained. Foundation model training source.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45920" y="397764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MLflow experiment tracking, Feast feature registry. Backbone training reproducibility guaranteed by version tags.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1143000" cy="649224"/>
          </a:xfrm>
          <a:prstGeom prst="rect">
            <a:avLst/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97680"/>
            <a:ext cx="1143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429768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Per-FI isolated compute (VPC / dedicated tenant). Fine-tuned weights, inference endpoints, FI BI dashboards.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45920" y="450342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FI-controlled. Jack Henry has no default access. Explicit FI authorization required for any access.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45920" y="470916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lifecycle: LoRA adapter updates on backbone retraining (quarterly). FI approves before applying to their models.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 ·  DIFFERENTIAL PRIVACY MECHANICS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Mathematical Privacy Guarantees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914400"/>
          </a:xfrm>
          <a:prstGeom prst="rect">
            <a:avLst/>
          </a:prstGeom>
          <a:solidFill>
            <a:srgbClr val="EEF5FF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(ε, δ)-DP Guarantee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mechanism M satisfies (ε, δ)-DP if for any two neighboring datasets D and D' (differing by one FI transaction) and any output set S: Pr[M(D) ∈ S] ≤ eᵉ · Pr[M(D') ∈ S] + δ. An adversary with unlimited compute cannot determine with confidence greater than eᵉ whether any individual transaction was in the training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42032"/>
            <a:ext cx="39319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15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per-example gradient is clipped to bound sensitivity, then Gaussian noise is injected before aggregation. The model trains on noised gradients — raw transactions never leave the FI.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42032"/>
            <a:ext cx="39319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6151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 (ε)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9443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training round consumes a portion of the privacy budget. Rényi DP (RDP) accounting enables tight composition across multiple rounds — far more efficient than basic (ε, δ) for continuous retraining.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39319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ε Setting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788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1 is strong privacy (some utility cost). ε = 10 is weaker (higher utility). Most production deployments target ε ∈ [3, 8]. The FI sets their max ε threshold — the system halts if exceeded.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776472"/>
            <a:ext cx="39319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Inversion Resistance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1788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noise combined with SMPC makes reconstruction of training transactions computationally infeasible. An adversary intercepting gradients gains essentially zero information about individual payments.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  ·  FEDERATED LEARNING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That Keeps Transaction Data Local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874520" cy="10058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Broadcast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v_t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FI nodes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066544"/>
            <a:ext cx="68580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600200"/>
            <a:ext cx="1874520" cy="10058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Local training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 Bronze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066544"/>
            <a:ext cx="68580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00200"/>
            <a:ext cx="1874520" cy="10058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DP-noised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∇L_i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2066544"/>
            <a:ext cx="685800" cy="45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600200"/>
            <a:ext cx="1874520" cy="1005840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60020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SecAgg: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∑∇L_i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834640"/>
            <a:ext cx="4114800" cy="566928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8346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backbone: v_{t+1} = v_t − η · ∑∇L_i   →   repeat next round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935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Heterogeneity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87705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have different payment mix distributions. Standard FedAvg degrades on non-IID data. We use FedProx or SCAFFOLD for robust convergence across heterogeneous FI distributions.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54787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5935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877056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round: broadcast (50MB), local training (FI compute), gradient compression (TopK sparsification: 10-100x upload reduction), SecAgg, aggregation. Target: weekly rounds.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5254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3982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68172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FIs initialize with the pre-trained backbone. Empirical studies suggest 30-90 days of local transaction history to reach parity accuracy with established member FIs.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35254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43982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Accounting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68172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Rényi DP composition across T rounds: ε_total ≈ σ² · T / n². FI sets max ε; system computes max allowable rounds before budget exhaustion and halts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  ·  TIME DELTA FEATURE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Payment Event Graphs Become Model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37160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508760"/>
            <a:ext cx="173736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508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08760"/>
            <a:ext cx="237744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Range (per rail)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508760"/>
            <a:ext cx="265176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Signal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13716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562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= T₁−T₀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1856232"/>
            <a:ext cx="17373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8562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→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1856232"/>
            <a:ext cx="23774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8562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ACH: ~2s  |  RTP: ~50ms  |  Wire: ~30s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1856232"/>
            <a:ext cx="26517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8562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validation on fast rail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258568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585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 = T₂−T₁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225856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22585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→ rail ingest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2258568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2585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Rail-specific; ACH batch windows 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225856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2585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outside batch window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660904"/>
            <a:ext cx="13716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609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Δ₃ = T₃−T₂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737360" y="2660904"/>
            <a:ext cx="17373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6609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clearing/ack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2660904"/>
            <a:ext cx="23774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6609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RTP: ~1s  |  ACH: 2–48 hrs  |  Wire: &lt;1hr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2660904"/>
            <a:ext cx="26517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66090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timeout or counterparty delay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063240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0632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Δ₄ = T₄−T₃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306324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30632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→ settlement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3063240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0632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FedNow: instant  |  ACH: same/next day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52160" y="3063240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30632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lag → liquidity stress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465576"/>
            <a:ext cx="137160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4655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Δ₅ = T₅−T₄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737360" y="3465576"/>
            <a:ext cx="17373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346557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→ destination post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0" y="3465576"/>
            <a:ext cx="237744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34655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&lt;30s on modern rails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52160" y="3465576"/>
            <a:ext cx="265176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97880" y="346557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delay → system anomaly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67912"/>
            <a:ext cx="1371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6791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Δ₆ (if present)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737360" y="386791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38679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return/exception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74720" y="3867912"/>
            <a:ext cx="23774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38679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return window: 2 days (R-codes)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52160" y="3867912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97880" y="386791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return → fraud indicator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tuple per event: (event_type, rail_id, direction_flag, normalized_delta, amount_bucket, counterparty_pseudonymous_hash). No PII transmitted.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  ·  LoRA BACKBONE VERSION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Backbone Updates Without Full Re-Fine-Tuning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868680"/>
          </a:xfrm>
          <a:prstGeom prst="rect">
            <a:avLst/>
          </a:prstGeom>
          <a:solidFill>
            <a:srgbClr val="EEF5FF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27048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When the backbone is retrained quarterly, each FI's fine-tuned head may need updating — but full re-fine-tuning is expensive. LoRA (Low-Rank Adaptation) solves this by representing the backbone delta as low-rank matrices (ΔW = BA where B is d×r and A is r×k, r &lt;&lt; min(d,k)), reducing trainable parameters by 100–1000x and enabling updates in minutes.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87168"/>
            <a:ext cx="54864" cy="1188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LoRA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 ΔW = BA where B (d×r) and A (r×k) are low-rank matrices. For a typical backbone layer this reduces trainable parameters by 100-1000x with minimal accuracy loss.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48716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487168"/>
            <a:ext cx="54864" cy="1188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60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Delta Propagation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backbone v_{t+1} is released, the LoRA delta between v_t and v_{t+1} is computed. Each FI's Platinum applies this delta to their existing head. Update time: minutes, not days.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6732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67328"/>
            <a:ext cx="54864" cy="1188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Approval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not applied automatically. Platinum queues the LoRA delta, validates on an FI-specific held-out test set, and presents accuracy comparison. The FI controls the update.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67328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767328"/>
            <a:ext cx="54864" cy="1188720"/>
          </a:xfrm>
          <a:prstGeom prst="rect">
            <a:avLst/>
          </a:prstGeom>
          <a:solidFill>
            <a:srgbClr val="C8972A"/>
          </a:solidFill>
          <a:ln w="12700">
            <a:solidFill>
              <a:srgbClr val="C89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Composition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20624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missing a quarterly update can receive cumulative deltas: Δv_1 + Δv_2 is composable and applicable in a single pass, maintaining full accuracy without step-by-step updates.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  ·  THREAT MODEL &amp; SECURITY GUARANTEES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Vectors and Mitigations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78308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508760"/>
            <a:ext cx="201168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508760"/>
            <a:ext cx="324612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5087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508760"/>
            <a:ext cx="1051560" cy="347472"/>
          </a:xfrm>
          <a:prstGeom prst="rect">
            <a:avLst/>
          </a:prstGeom>
          <a:solidFill>
            <a:srgbClr val="1B3A6E"/>
          </a:solidFill>
          <a:ln w="12700">
            <a:solidFill>
              <a:srgbClr val="1B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5087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1783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5623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Inversion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1856232"/>
            <a:ext cx="20116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8562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training data from intercepted gradients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60520" y="1856232"/>
            <a:ext cx="32461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85623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noise + clipping makes reconstruction infeasible within ε bound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856232"/>
            <a:ext cx="105156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85623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86584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8658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Aggregator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238658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23865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controls central server; reads individual FI gradients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2386584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38658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SecAgg (SMPC): server sees only encrypted sum — never individual contributions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2386584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386584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16936"/>
            <a:ext cx="1783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1693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48840" y="2916936"/>
            <a:ext cx="20116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29169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if a specific transaction was in training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60520" y="2916936"/>
            <a:ext cx="32461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guarantee: adversary advantage bounded by eᵉ − 1. ε ≤ 3 provides near-zero advantage.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2916936"/>
            <a:ext cx="105156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91693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44728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4728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Inversion via Backbone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48840" y="344728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34472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FI-specific patterns from shared backbone weights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60520" y="3447288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344728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de-identification ensures backbone encodes behavioral patterns, not FI-specific features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3447288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3447288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977640"/>
            <a:ext cx="17830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9776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Environment Breach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48840" y="3977640"/>
            <a:ext cx="20116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9776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compromises FI's own Platinum infrastructure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60520" y="3977640"/>
            <a:ext cx="32461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397764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FI's own security controls apply. Blast radius limited to that FI only — no cross-FI exposure.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06640" y="3977640"/>
            <a:ext cx="105156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2360" y="3977640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Owned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507992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50799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FI Gradient Poisoning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48840" y="450799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0" y="450799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 submits adversarial gradients to corrupt backbone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60520" y="4507992"/>
            <a:ext cx="3246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0" y="450799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Byzantine-tolerant FedAvg variants + anomaly detection on gradient norms before aggregation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06640" y="4507992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450799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Intelligence at Scale</dc:title>
  <dc:subject>PptxGenJS Presentation</dc:subject>
  <dc:creator>Jack Henry &amp; Associates</dc:creator>
  <cp:lastModifiedBy>Jack Henry &amp; Associates</cp:lastModifiedBy>
  <cp:revision>1</cp:revision>
  <dcterms:created xsi:type="dcterms:W3CDTF">2026-03-04T20:39:34Z</dcterms:created>
  <dcterms:modified xsi:type="dcterms:W3CDTF">2026-03-04T20:39:34Z</dcterms:modified>
</cp:coreProperties>
</file>