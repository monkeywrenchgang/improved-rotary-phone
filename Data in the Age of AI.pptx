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343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64008" cy="2103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 ·  DATA STRATEGY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13232" y="1719072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 the Age of AI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13232" y="29443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9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Community Financial Institutions Compete and Win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13232" y="3593592"/>
            <a:ext cx="4572000" cy="27432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3813048"/>
            <a:ext cx="8321040" cy="1005840"/>
          </a:xfrm>
          <a:prstGeom prst="rect">
            <a:avLst/>
          </a:prstGeom>
          <a:solidFill>
            <a:srgbClr val="081626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385876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institutions that win in the next decade won't necessarily be the biggest — they'll be the ones that turn their data into intelligence faster than everyone else."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COMPETITIVE REALITY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competition is no longer just banks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64008" cy="658368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335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627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architectures &amp; real-time data pipelines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6400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" y="2112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Tech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" y="2404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finance, behavioral data at scale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Neobanks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" y="3182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legacy, real-time customer insights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61188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611880"/>
            <a:ext cx="6400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1208" y="36667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Networks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" y="3959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transaction intelligence end-to-end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822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battlefield is shifting:</a:t>
            </a:r>
            <a:endParaRPr lang="en-US" sz="13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80160"/>
          <a:ext cx="3977640" cy="2852928"/>
        </p:xfrm>
        <a:graphic>
          <a:graphicData uri="http://schemas.openxmlformats.org/drawingml/2006/table">
            <a:tbl>
              <a:tblPr/>
              <a:tblGrid>
                <a:gridCol w="199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Banking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Era Banking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Warehouses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Platforms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Decisioning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Reactive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320040" y="4617720"/>
            <a:ext cx="850392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8640" y="46177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The competitive battlefield is shifting from products → to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IS THE NEW CORE BANKING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474720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65376"/>
            <a:ext cx="3474720" cy="566928"/>
          </a:xfrm>
          <a:prstGeom prst="rect">
            <a:avLst/>
          </a:prstGeom>
          <a:solidFill>
            <a:srgbClr val="7E8DA0"/>
          </a:solidFill>
          <a:ln w="12700">
            <a:solidFill>
              <a:srgbClr val="7E8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474720" cy="5669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60520" y="2194560"/>
            <a:ext cx="822960" cy="8229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605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8046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Stack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0" y="1170432"/>
            <a:ext cx="3474720" cy="566928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117043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173736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</a:rPr>
              <a:t>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1865376"/>
            <a:ext cx="347472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0" y="18653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2432304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</a:rPr>
              <a:t>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2560320"/>
            <a:ext cx="34747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0" y="25603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3127248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</a:rPr>
              <a:t>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0" y="3255264"/>
            <a:ext cx="34747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12080" y="325526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4160520"/>
            <a:ext cx="8503920" cy="329184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416052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enables:  Fraud Detection  ·  Credit Risk  ·  Personalization  ·  Financial Wellness  ·  Real-Time Payments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4617720"/>
            <a:ext cx="8503920" cy="402336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46177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Shift:  The data layer is becoming the control point — institutions that own it will own innovation.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MATURITY CURVE FOR FINANCIAL INSTITUTIONS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8046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Example — </a:t>
            </a: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customer shows deposit outflow signals  →  </a:t>
            </a:r>
            <a:r>
              <a:rPr lang="en-US" sz="115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trigger personalized retention offer  →  </a:t>
            </a: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system acts before customer ever thinks about leaving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8600" y="3200400"/>
            <a:ext cx="1481328" cy="5029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325526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" y="377647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40507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65960" y="2761488"/>
            <a:ext cx="1481328" cy="9418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65960" y="281635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65960" y="377647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40507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it happen?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03320" y="2322576"/>
            <a:ext cx="1481328" cy="1380744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03320" y="23774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03320" y="377647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40507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happen?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40680" y="1883664"/>
            <a:ext cx="1481328" cy="18196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40680" y="193852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40680" y="377647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40507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do?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78040" y="1444752"/>
            <a:ext cx="1481328" cy="2258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78040" y="14996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78040" y="377647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40507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real time.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4480560"/>
            <a:ext cx="3703320" cy="320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8600" y="4462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Most community FIs are here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FLIPPING THE NARRATIVE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589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094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banks have scale.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FIs have something more powerful: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 +  Proximity  +  Context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2834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 contextual data advantages. A community bank with the right AI platform can know their customer better than a megabank ever could.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3584448"/>
            <a:ext cx="2743200" cy="129844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3584448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3675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Business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2245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SMB context big banks can't replicate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3584448"/>
            <a:ext cx="2743200" cy="129844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3584448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3675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Spending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42245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 economic signals invisible at scale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584448"/>
            <a:ext cx="2743200" cy="129844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3584448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55080" y="3675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42245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relationships &amp; supply chain cash signals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NETWORK EFFECTS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powerful data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run feedback loops.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286000" cy="530352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048256"/>
            <a:ext cx="228600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04825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2578608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06624"/>
            <a:ext cx="228600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70662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323697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364992"/>
            <a:ext cx="228600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3649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" y="3895344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023360"/>
            <a:ext cx="2286000" cy="530352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40233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" y="4681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 Feedback improves model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17520" y="914400"/>
            <a:ext cx="5806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017520" y="914400"/>
            <a:ext cx="5806440" cy="402336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54680" y="914400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PREVENTION IN ACTION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148132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4612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94760" y="15087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activity triggers an unusual behavioral pattern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46120" y="210312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4612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94760" y="21305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anomaly in transaction graph in &lt; 100ms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272491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4612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94760" y="275234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automatically blocks the suspicious transaction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46120" y="3346704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4612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94760" y="33741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notified; outcome is captured as feedback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46120" y="3968496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46120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94760" y="39959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updates — next detection is faster and more accurate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" y="4617720"/>
            <a:ext cx="850392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" y="46177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Institutions that learn fastest from their data will compound their competitive advantage.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FINTECH PLAYBOOK: DATA-FIRST, NOT PRODUCT-FIRST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64008" cy="1417320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978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5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" y="1408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Advantage: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600200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network data across millions of merchants enables pricing, risk scoring, and credit products.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6868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868680"/>
            <a:ext cx="64008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18888" y="978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18888" y="1408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Advantage: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18888" y="1600200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ecosystem data — revenue, foot traffic, payroll — creates a full business financial profile.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2578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Chime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" y="30083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Advantage: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3200400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spending data + early wage access creates flywheel of loyalty and financial insights.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246888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17720" y="246888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8888" y="2578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PayPal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18888" y="30083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Advantage: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18888" y="3200400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fraud intelligence graph across 400M+ users — every transaction improves risk detection.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859536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11480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companies compete not on banking products — but on data intelligence. The question for community FIs: how do you build your own data moat?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ASSET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7094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financial institutions are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rich — but insight poor.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2724912" cy="111556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72491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Networks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63347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velocity &amp; merchant patterns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2103120"/>
            <a:ext cx="2724912" cy="111556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82112" y="2103120"/>
            <a:ext cx="272491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9272" y="21945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9272" y="263347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lifecycle &amp; spending signals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9904" y="2103120"/>
            <a:ext cx="2724912" cy="111556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9904" y="2103120"/>
            <a:ext cx="272491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27064" y="21945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Lifecycle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27064" y="263347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Application, performance &amp; default risk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401568"/>
            <a:ext cx="2724912" cy="111556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401568"/>
            <a:ext cx="272491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49300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Signals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93192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patterns &amp; network anomalies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82112" y="3401568"/>
            <a:ext cx="2724912" cy="111556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82112" y="3401568"/>
            <a:ext cx="272491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19272" y="349300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Cashflow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19272" y="393192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health &amp; growth indicators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9904" y="3401568"/>
            <a:ext cx="2724912" cy="111556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89904" y="3401568"/>
            <a:ext cx="272491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27064" y="349300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Insights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27064" y="393192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economic pulse &amp; sector trends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RISE OF THE FINANCIAL DATA GRAPH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and risk are network problems — not just transaction problems. Financial relationships matter.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98448"/>
            <a:ext cx="1417320" cy="804672"/>
          </a:xfrm>
          <a:prstGeom prst="ellipse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298448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1700784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65960" y="1298448"/>
            <a:ext cx="1417320" cy="8046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65960" y="1298448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700784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03320" y="1298448"/>
            <a:ext cx="1417320" cy="8046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03320" y="1298448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1700784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40680" y="1298448"/>
            <a:ext cx="1417320" cy="8046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40680" y="1298448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700784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78040" y="1298448"/>
            <a:ext cx="1417320" cy="80467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78040" y="1298448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340864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340864"/>
            <a:ext cx="64008" cy="10515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24323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" y="277977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coordinated fraud networks across linked accounts, devices, and merchants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2340864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17720" y="2340864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8888" y="24323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Accounts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18888" y="277977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money laundering chains through behavioral graph analysis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575304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575304"/>
            <a:ext cx="6400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" y="36667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Identity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" y="401421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fabricated identities by finding impossible relationship patterns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3575304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17720" y="3575304"/>
            <a:ext cx="64008" cy="1051560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18888" y="36667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Network Analysis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18888" y="401421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payment corridors and detect anomalous flows of funds in real time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INTELLIGENCE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used to run in batch cycles. AI operates in milliseconds.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023360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Batch Analytics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reporting cycles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fraud batch runs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5292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credit reviews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7413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model updates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89534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risk management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23444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234440"/>
            <a:ext cx="40233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83480" y="1234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Real-Time Intelligence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181051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Prediction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in &lt; 100ms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33172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categorization instantly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85292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credit risk adjustment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37413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financial wellness insights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89534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model improvement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33672" y="2651760"/>
            <a:ext cx="676656" cy="67665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33672" y="265176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YOUR BANK HAD A...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Economic Radar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payment network data to see what others can't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212848"/>
            <a:ext cx="4206240" cy="1188720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2212848"/>
            <a:ext cx="4206240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Economic Slowdowns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26700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merchant revenue &amp; reduced consumer spending in specific zip codes — weeks before it shows in national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2212848"/>
            <a:ext cx="4206240" cy="1188720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2212848"/>
            <a:ext cx="4206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2304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Distress Signals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26700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cash flow patterns, payment delays, and inventory changes that predict business stress ahead of loan defaults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4206240" cy="1188720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584448"/>
            <a:ext cx="4206240" cy="45720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675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Cluster Detection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" y="40416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fraud patterns appearing in your transaction graph before they become systemic — act before losses compound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584448"/>
            <a:ext cx="4206240" cy="1188720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3584448"/>
            <a:ext cx="42062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675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40416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payment flows reveal supply chain stress in your commercial clients' ecosystems before they report it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Financial Institutions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4846320" cy="56692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Financial Assistants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personalized guidance for every customer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846320" cy="56692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2951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Fraud Prevention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systems that block threats in milliseconds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07792"/>
            <a:ext cx="4846320" cy="56692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907792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9626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Financial Wellness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2186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customer needs before they arise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575304"/>
            <a:ext cx="4846320" cy="56692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575304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630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Credit Decisions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credit at the point of need, not the branch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242816"/>
            <a:ext cx="4846320" cy="56692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4242816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Self-Optimizing Operations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45537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efficiency that compounds over 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32120" y="1572768"/>
            <a:ext cx="3291840" cy="3337560"/>
          </a:xfrm>
          <a:prstGeom prst="rect">
            <a:avLst/>
          </a:prstGeom>
          <a:solidFill>
            <a:srgbClr val="0F2240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32120" y="1572768"/>
            <a:ext cx="3291840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77840" y="157276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SCENARIO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20299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a customer's travel spending spike on Friday afternoon.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fraud sensitivity for travel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3172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travel credit product instantly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36941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FX savings on upcoming trip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421538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customer risk profile in real time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FOR COMMUNITY FIs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1600200" cy="621792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841248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536192"/>
            <a:ext cx="1417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65960" y="841248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65960" y="841248"/>
            <a:ext cx="160020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65960" y="841248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57400" y="1536192"/>
            <a:ext cx="1417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03320" y="841248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03320" y="841248"/>
            <a:ext cx="16002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03320" y="841248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94760" y="1536192"/>
            <a:ext cx="1417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40680" y="841248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40680" y="841248"/>
            <a:ext cx="160020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40680" y="841248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532120" y="1536192"/>
            <a:ext cx="1417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78040" y="841248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78040" y="841248"/>
            <a:ext cx="1600200" cy="6217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78040" y="841248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269480" y="1536192"/>
            <a:ext cx="1417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Services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108960"/>
            <a:ext cx="86868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200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is Becoming the Fourth Balance Sheet Asset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8680" y="3703320"/>
            <a:ext cx="1691640" cy="7315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" y="37033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34640" y="3703320"/>
            <a:ext cx="1691640" cy="7315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34640" y="37033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3703320"/>
            <a:ext cx="1691640" cy="7315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37033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3703320"/>
            <a:ext cx="169164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66560" y="37033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Intelligence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80960" y="3794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↑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 STRATEGIC DECISIONS EVERY FI MUST MAKE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64008" cy="694944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20624" cy="420624"/>
          </a:xfrm>
          <a:prstGeom prst="ellipse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93268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data to a board-level priority — not an IT project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83480" y="960120"/>
            <a:ext cx="18288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38928" y="899160"/>
            <a:ext cx="804672" cy="210312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38928" y="89916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→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38928" y="1188720"/>
            <a:ext cx="3730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is Jack Henry's native data intelligence platform — already embedded in the ecosystem you run on. No custom build. Board-ready dashboards from day one.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64592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1645920"/>
            <a:ext cx="64008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1783080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17099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data layer — unify all payment rails into one source of truth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983480" y="1737360"/>
            <a:ext cx="18288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38928" y="1737360"/>
            <a:ext cx="804672" cy="2103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38928" y="173736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→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38928" y="1965960"/>
            <a:ext cx="3611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unifies 7 rails — ACH, Wire, Card, Zelle, RTP/FedNow, Check/RDC, Bill Pay — into a single governed Raw → Silver → Gold data layer with &lt;5-min CDC latency.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42316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2423160"/>
            <a:ext cx="64008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2560320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248716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AI model: what to build, buy, and partner 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983480" y="2514600"/>
            <a:ext cx="18288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38928" y="2514600"/>
            <a:ext cx="804672" cy="2103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38928" y="251460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→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38928" y="2743200"/>
            <a:ext cx="3611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is purpose-built by Jack Henry for Jack Henry clients. PCI DSS Level 1, SOC 2, and NACHA compliant out of the box — no data science team required.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20040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3200400"/>
            <a:ext cx="64008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333756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" y="326440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first 2–3 use cases ruthlessly and master them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983480" y="3291840"/>
            <a:ext cx="18288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138928" y="3291840"/>
            <a:ext cx="804672" cy="210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38928" y="329184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→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38928" y="3520440"/>
            <a:ext cx="3611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Crimes Defender (real-time fraud) is your fastest beachhead — live in weeks across 300+ FI consortium. Credit risk and customer analytics follow with the same data foundation.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97764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4320" y="3977640"/>
            <a:ext cx="64008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4114800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05840" y="404164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AI with model risk and explainability from day one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983480" y="4069080"/>
            <a:ext cx="18288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138928" y="4069080"/>
            <a:ext cx="804672" cy="2103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138928" y="406908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→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38928" y="4297680"/>
            <a:ext cx="3611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JHBI's compliance stack covers GLBA, NACHA, ECOA, CCPA, and GDPR. Every decision is logged, tokenized at source, and audit-ready for your next exam.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4709160"/>
            <a:ext cx="859536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2920" y="47091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CEO and board decisions — not IT projects. JHBI gives FI leadership the confidence to make them.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Payment Data Platform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656832" y="256032"/>
            <a:ext cx="2194560" cy="274320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93408" y="256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180M+ 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26680" y="256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txns/day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56832" y="585216"/>
            <a:ext cx="2194560" cy="274320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93408" y="5852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min 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26680" y="5852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latency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56832" y="914400"/>
            <a:ext cx="2194560" cy="274320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93408" y="914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rails 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26680" y="914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1261872"/>
            <a:ext cx="1691640" cy="3218688"/>
          </a:xfrm>
          <a:prstGeom prst="rect">
            <a:avLst/>
          </a:prstGeom>
          <a:solidFill>
            <a:srgbClr val="1A3A6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1261872"/>
            <a:ext cx="1691640" cy="64008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" y="1399032"/>
            <a:ext cx="1545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2084832"/>
            <a:ext cx="1472184" cy="18288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2311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iPay (ACH, Wire)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" y="26060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(Card)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" y="298094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Payrailz (RTP, P2P)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33558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(Check/RDC)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" y="37307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 (Bill Pay)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" y="41056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Wires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7472" y="44805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Tap2Local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56816" y="2670048"/>
            <a:ext cx="18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130552" y="1261872"/>
            <a:ext cx="1691640" cy="3218688"/>
          </a:xfrm>
          <a:prstGeom prst="rect">
            <a:avLst/>
          </a:prstGeom>
          <a:solidFill>
            <a:srgbClr val="0E2035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30552" y="1261872"/>
            <a:ext cx="1691640" cy="6400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03704" y="1399032"/>
            <a:ext cx="1545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240280" y="2084832"/>
            <a:ext cx="1472184" cy="182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221992" y="22311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source mapping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21992" y="26060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rail-specific tables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221992" y="298094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~180M records/day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21992" y="33558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metadata fields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221992" y="37307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retained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31336" y="2670048"/>
            <a:ext cx="18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005072" y="1261872"/>
            <a:ext cx="1691640" cy="3218688"/>
          </a:xfrm>
          <a:prstGeom prst="rect">
            <a:avLst/>
          </a:prstGeom>
          <a:solidFill>
            <a:srgbClr val="0A2A30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005072" y="1261872"/>
            <a:ext cx="16916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078224" y="1399032"/>
            <a:ext cx="1545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114800" y="2084832"/>
            <a:ext cx="1472184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096512" y="22311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schema (1 table)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096512" y="26060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rail-specific fields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096512" y="298094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PCI/PII tokenized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096512" y="33558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_tenant_id RLS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096512" y="37307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705856" y="2670048"/>
            <a:ext cx="18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5879592" y="1261872"/>
            <a:ext cx="1691640" cy="3218688"/>
          </a:xfrm>
          <a:prstGeom prst="rect">
            <a:avLst/>
          </a:prstGeom>
          <a:solidFill>
            <a:srgbClr val="1A2A10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879592" y="1261872"/>
            <a:ext cx="16916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952744" y="1399032"/>
            <a:ext cx="1545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989320" y="2084832"/>
            <a:ext cx="1472184" cy="182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971032" y="22311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Pre-aggregated analytics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971032" y="26060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benchmarks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971032" y="298094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ML-ready feature sets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971032" y="33558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query &lt;500ms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971032" y="37307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retention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827264" y="1261872"/>
            <a:ext cx="1783080" cy="3218688"/>
          </a:xfrm>
          <a:prstGeom prst="rect">
            <a:avLst/>
          </a:prstGeom>
          <a:solidFill>
            <a:srgbClr val="1A0F2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827264" y="1261872"/>
            <a:ext cx="17830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900416" y="1399032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936992" y="2029968"/>
            <a:ext cx="1417320" cy="182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900416" y="2194560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Crimes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900416" y="2651760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900416" y="3108960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900416" y="3566160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900416" y="4023360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Data-as-a-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616952" y="267004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256032" y="4590288"/>
            <a:ext cx="8631936" cy="38404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20040" y="459028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row-level security  ·  PCI DSS Level 1  ·  SOC 2  ·  NACHA  ·  GLBA  ·  300+ FIs — growing toward 9,000 Jack Henry clients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HERE: THE HIGH-ROI BEACHHEADS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60520" cy="4754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896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Crimes Defender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82112" y="950976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live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36245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30–60%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" y="18562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fraud losses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47088" y="13624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 across all 7 payment rails with &lt;5-min CDC latency. Behavioral anomaly detection and cross-FI consortium fraud signals — no other community bank vendor has this network.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47088" y="2176272"/>
            <a:ext cx="24688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75104" y="217627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JHBI's Financial Crimes Defender: 180M txns/day, live across 300+ FIs.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84124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841248"/>
            <a:ext cx="416052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37176" y="896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Consortium Benchmarking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16952" y="950976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access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18888" y="136245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18888" y="18562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in your benchmark peer group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81928" y="13624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cross-FI analytics let you compare deposit behavior, payment mix, fraud rates, and product penetration against peers — a capability no single FI could build alone.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81928" y="2176272"/>
            <a:ext cx="24688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9944" y="217627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JHBI's network data is your unfair advantage. Benchmarks are live now.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7889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2788920"/>
            <a:ext cx="4160520" cy="475488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2336" y="28437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Reporting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82112" y="2898648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" y="331012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5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84048" y="380390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reporting effort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847088" y="33101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NACHA exception processing, BSA/AML monitoring, GLBA data governance, and ECOA-ready adverse action explanations — all drawn from the same unified payment data layer.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47088" y="4123944"/>
            <a:ext cx="24688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975104" y="412394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turns compliance from a cost center into a byproduct of good data.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7889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2788920"/>
            <a:ext cx="41605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37176" y="28437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Analytics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16952" y="2898648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18888" y="331012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days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818888" y="380390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warning on deposit risk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81928" y="33101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analysis, churn signals, and financial wellness scores derived from transaction patterns across all 7 payment rails. Personalized insights at the account level — not the segment.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81928" y="4123944"/>
            <a:ext cx="24688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09944" y="412394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turns 180M daily transactions into customer relationship intelligence.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617720"/>
            <a:ext cx="850392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46177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future capabilities — Financial Crimes Defender and consortium benchmarking are live today across 300+ FIs in the Jack Henry network.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HUMAN-AI OPERATING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replace the banker — it makes every banker dramatically more effective.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2633472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63347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2801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20240" y="1335024"/>
            <a:ext cx="877824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0240" y="133502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02336" y="183794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JHBI Surfaces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Signal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2336" y="2523744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processes 180M+ transactions/day across 7 payment rails with &lt;5-min CDC latency — flagging fraud, compliance triggers, churn risk, and growth signals in the Gold layer.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71800" y="2359152"/>
            <a:ext cx="237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27832" y="1261872"/>
            <a:ext cx="2633472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27832" y="1261872"/>
            <a:ext cx="2633472" cy="5029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12801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73752" y="1335024"/>
            <a:ext cx="8778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73752" y="133502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55848" y="183794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Validates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3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Decides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55848" y="2523744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banker reviews the signal with full context and plain-language explanation. They make the final call — always. Judgment stays with your team. JHBI provides the insight; you provide the relationship.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25312" y="2359152"/>
            <a:ext cx="237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81344" y="1261872"/>
            <a:ext cx="2633472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81344" y="1261872"/>
            <a:ext cx="2633472" cy="502920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91072" y="12801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827264" y="1335024"/>
            <a:ext cx="877824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27264" y="133502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09360" y="183794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 Feeds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5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Network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09360" y="2523744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feeds back into JHBI's Gold layer. Approved or denied, flagged or cleared — each outcome improves predictions across the entire 300+ FI network, making every participant smarter.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840480"/>
            <a:ext cx="2029968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388620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Level 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14223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numbers tokenized at source — never stored in plaintext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23160" y="3840480"/>
            <a:ext cx="2029968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514600" y="388620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514600" y="414223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audited data security and availability controls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3840480"/>
            <a:ext cx="2029968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388620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NACHA / GLBA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63440" y="414223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rule compliance and consumer data privacy built in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20840" y="3840480"/>
            <a:ext cx="2029968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12280" y="388620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 / CCPA / GDPR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12280" y="414223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action explainability and data rights built into every layer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617720"/>
            <a:ext cx="850392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46177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isn't a limitation — it's your regulatory advantage. JHBI makes compliance the byproduct of good AI, not an afterthought.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ROADMAP WITH JHBI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Months to Competitive Advantage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88920" cy="349300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88920" cy="713232"/>
          </a:xfrm>
          <a:prstGeom prst="rect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4081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✓ COMPLETE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6824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1408176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Available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connects to your Jack Henry core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68833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ACH, Wire, and Card rails unified (Raw → Silver)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18211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Crimes Defender live for fraud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67588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RLS and PCI tokenization active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1696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50-FI consortium benchmarks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371600"/>
            <a:ext cx="2788920" cy="349300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46120" y="1371600"/>
            <a:ext cx="278892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55848" y="14081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▶ IN PROGRESS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55848" y="16824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7720" y="1408176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Q3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21945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Zelle, RTP, and FedNow rails added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268833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analytics tables go live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318211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 automation active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367588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signal feeds available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41696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peer group grows to 150+ FIs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1371600"/>
            <a:ext cx="2788920" cy="3493008"/>
          </a:xfrm>
          <a:prstGeom prst="rect">
            <a:avLst/>
          </a:prstGeom>
          <a:solidFill>
            <a:srgbClr val="0F2240"/>
          </a:solidFill>
          <a:ln w="12700">
            <a:solidFill>
              <a:srgbClr val="1B5FA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278892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27648" y="14081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○ AHEAD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27648" y="16824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89520" y="1408176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Onward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21945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7-rail unified analytics in Gold layer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268833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benchmarking vs 300+ FIs live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55080" y="318211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fraud and customer models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367588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Data-as-a-service revenue streams open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55080" y="41696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competitors are still building Phase 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already built and deployed. The question is whether you act before your competitors do.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64008" cy="4160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5029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AHEAD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" y="96012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banking won't be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defined by who has the most branches.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237744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will be defined by who learns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fastest from their data.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4672" y="370332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Treat data as infrastructure, not a reporting tool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AI responsibly to amplify human judgment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Learn faster than your competitors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Innovate on customer intelligence, not just products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2132</Words>
  <Application>Microsoft Macintosh PowerPoint</Application>
  <PresentationFormat>On-screen Show (16:9)</PresentationFormat>
  <Paragraphs>398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in the Age of AI</dc:title>
  <dc:subject>PptxGenJS Presentation</dc:subject>
  <dc:creator>JHBI</dc:creator>
  <cp:lastModifiedBy>Adam Ames</cp:lastModifiedBy>
  <cp:revision>2</cp:revision>
  <dcterms:created xsi:type="dcterms:W3CDTF">2026-03-09T20:40:50Z</dcterms:created>
  <dcterms:modified xsi:type="dcterms:W3CDTF">2026-03-09T20:54:17Z</dcterms:modified>
</cp:coreProperties>
</file>