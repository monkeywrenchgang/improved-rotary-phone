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Architecture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Payment Events to Real-Time Fraud 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2926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3977640"/>
            <a:ext cx="2926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+ LoRA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3977640"/>
            <a:ext cx="2926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Monitoring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75520" y="1097280"/>
            <a:ext cx="2011680" cy="6583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0" y="1097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52760" y="1755648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1920240"/>
            <a:ext cx="2011680" cy="6583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9202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52760" y="2578608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2743200"/>
            <a:ext cx="20116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7432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652760" y="3401568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3566160"/>
            <a:ext cx="2011680" cy="65836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35661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52760" y="4224528"/>
            <a:ext cx="73152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4389120"/>
            <a:ext cx="201168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4389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64922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Payment Intelligence Platform  ·  Technical Series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PIPELINE  ·  END TO 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from Raw Event to Scored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463040" cy="1920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rail events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9656" y="2468880"/>
            <a:ext cx="11887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1911096" y="2395728"/>
            <a:ext cx="100584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02536" y="1600200"/>
            <a:ext cx="1463040" cy="19202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02536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02536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 + deltas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02152" y="2468880"/>
            <a:ext cx="11887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3593592" y="2395728"/>
            <a:ext cx="100584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5032" y="1600200"/>
            <a:ext cx="1463040" cy="19202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85032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85032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85032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58184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 + DP noise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vecs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84648" y="2468880"/>
            <a:ext cx="11887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5276088" y="2395728"/>
            <a:ext cx="100584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67528" y="1600200"/>
            <a:ext cx="1463040" cy="192024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67528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67528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67528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67144" y="2468880"/>
            <a:ext cx="11887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5400000">
            <a:off x="6958584" y="2395728"/>
            <a:ext cx="100584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0024" y="1600200"/>
            <a:ext cx="1463040" cy="192024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050024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0024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0024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50024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23176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heads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fraud model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549640" y="2468880"/>
            <a:ext cx="11887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8641080" y="2395728"/>
            <a:ext cx="100584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32520" y="1600200"/>
            <a:ext cx="1463040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732520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32520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73252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805672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&lt;20ms inference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232136" y="2468880"/>
            <a:ext cx="118872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10323576" y="2395728"/>
            <a:ext cx="100584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15016" y="1600200"/>
            <a:ext cx="1463040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415016" y="1600200"/>
            <a:ext cx="146304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15016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415016" y="1892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10415016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488168" y="2770632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+ perf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triggers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0040" y="3749040"/>
            <a:ext cx="114757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822192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FI analyst labels → retraining trigger → Feature Store version bump → backbone/head update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187952"/>
            <a:ext cx="36576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4187952"/>
            <a:ext cx="201168" cy="56692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4224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9436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1–5 · Offline · Hours to days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51960" y="4187952"/>
            <a:ext cx="36576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51960" y="4187952"/>
            <a:ext cx="20116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4224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2628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Online · Sub-20ms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183880" y="4187952"/>
            <a:ext cx="36576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83880" y="4187952"/>
            <a:ext cx="20116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58200" y="4224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time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45820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Continuous · Always-on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 ·  RAW TO SCIENCE ZONE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Transformations Before ML Sees Any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value. Each boundary adds privacy protection.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1521440" cy="1417320"/>
          </a:xfrm>
          <a:prstGeom prst="rect">
            <a:avLst/>
          </a:prstGeom>
          <a:solidFill>
            <a:srgbClr val="FEF3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54480"/>
            <a:ext cx="1325880" cy="14173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645920"/>
            <a:ext cx="9921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Rail-native. Immutable. FI-encrypted.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83080" y="20116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NACHA, ISO 20022, Fedwire, RTP, FedNow — stored exactly as received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with cryptographic hash on every record. No modification ever.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44144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rail_type / date / fi_tenant_id. FI-specific KMS keys.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244144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yet. Bronze is the audit layer — the source of truth for everything.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7608" y="2990088"/>
            <a:ext cx="182880" cy="100584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5907024" y="3081528"/>
            <a:ext cx="384048" cy="146304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27248"/>
            <a:ext cx="115214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27248"/>
            <a:ext cx="1325880" cy="1417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2724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9959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83080" y="3218688"/>
            <a:ext cx="9921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rail types → 1 canonical schema. FI identifier intact.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58444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maps originators/counterparties to stable pseudonymous tokens across rails.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58444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T₀–T₆ delta computation: 6 time intervals extracted per payment event.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401421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merge/upsert handles late-arriving settlement/return events (up to 2 days late).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401421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layer with FI attribution. Silver feeds both Gold (BI) and Feature Store (ML).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07608" y="4562856"/>
            <a:ext cx="182880" cy="100584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5907024" y="4654296"/>
            <a:ext cx="384048" cy="146304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700016"/>
            <a:ext cx="11521440" cy="1417320"/>
          </a:xfrm>
          <a:prstGeom prst="rect">
            <a:avLst/>
          </a:prstGeom>
          <a:solidFill>
            <a:srgbClr val="E8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700016"/>
            <a:ext cx="1325880" cy="14173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00016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556869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Layer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83080" y="4791456"/>
            <a:ext cx="9921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De-identified. DP-noised. Versioned. Model-ready.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83080" y="515721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identifiers stripped. Pseudonymous tokens re-keyed. No FI label retained.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15721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noise injected at boundary: ε ∈ [3,8] per FI preference, using DP-SGD batch noise.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83080" y="558698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row-level feature vectors (one per payment) — not aggregates, not summaries.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558698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versioned: every training run references a named dataset snapshot.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·  TOKENIZING A PAYMENT EVENT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Becomes a Structured Token Sequence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fields per event token. No PII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1521440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ACH Debit · $47,250 · Originator → Counterparty CPTY-7f3a · 2024-03-12 09:47:02 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11521440" cy="3200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848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Field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0848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2084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Encodes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424160" y="20848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04872"/>
            <a:ext cx="11521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41448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4414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ACH_DEBIT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244144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+ direction context (18 payment types)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424160" y="2514600"/>
            <a:ext cx="100584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2514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16936"/>
            <a:ext cx="1152144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53512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rail_identifier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9535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"ach_nacha_v23"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295351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rail-specific timing physics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24160" y="3026664"/>
            <a:ext cx="100584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0" y="3026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11521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465576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direction_flag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46557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346557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originator vs destination behavior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424160" y="3538728"/>
            <a:ext cx="10058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3538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941064"/>
            <a:ext cx="1152144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7764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normalized_Δ₁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9776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 (σ=1.0 scaled)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397764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T₁−T₀: validation speed anomaly signal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24160" y="4050792"/>
            <a:ext cx="100584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0" y="4050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453128"/>
            <a:ext cx="11521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489704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amount_bucket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0" y="448970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BUCKET_9 ($40K-$60K)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77840" y="448970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bucketing — removes exact amount PII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424160" y="4562856"/>
            <a:ext cx="100584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0" y="4562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965192"/>
            <a:ext cx="1152144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5001768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counterparty_hash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0" y="50017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"cpty_7f3a_v2"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77840" y="500176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pseudonymous token — no real identity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424160" y="5074920"/>
            <a:ext cx="10058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24160" y="5074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5614416"/>
            <a:ext cx="115214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6692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token_seq = [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91640" y="5669280"/>
            <a:ext cx="8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"ACH_DEBIT", "ach_nacha_v23", "ORIG", 0.82, "BUCKET_9", "cpty_7f3a_v2"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607040" y="566928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 ·  TRANSFORMER BACKBONE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Event Prediction: Learning Payment Physics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T₀–T₃ of a payment, predict the remaining delta sequence (T₄–T₆).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3167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SEQUENCE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34747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72768"/>
            <a:ext cx="640080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7276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938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Δ₁=0.82s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34747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640080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7744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450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Δ₂=1.2s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34747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82112"/>
            <a:ext cx="640080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8211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255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Ingest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547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Δ₃=11.2h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86784"/>
            <a:ext cx="34747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86784"/>
            <a:ext cx="640080" cy="71323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8678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059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352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1316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BACKBONE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1572768"/>
            <a:ext cx="4114800" cy="331012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1755648"/>
            <a:ext cx="37124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1792224"/>
            <a:ext cx="35295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202996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d=512 vector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15968" y="2359152"/>
            <a:ext cx="37124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2395728"/>
            <a:ext cx="35295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07408" y="263347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position bias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15968" y="2962656"/>
            <a:ext cx="37124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2999232"/>
            <a:ext cx="35295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8 Transformer Layers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07408" y="3236976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(h=8)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15968" y="3566160"/>
            <a:ext cx="37124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7408" y="3602736"/>
            <a:ext cx="35295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 + FFN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07408" y="3840480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per position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15968" y="4169664"/>
            <a:ext cx="37124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4206240"/>
            <a:ext cx="35295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07408" y="444398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d=512 per event position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49640" y="13167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PREDICTIONS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49640" y="1975104"/>
            <a:ext cx="352044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549640" y="1975104"/>
            <a:ext cx="6400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1975104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81160" y="20482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81160" y="234086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Δ₄ ~ 6.2h ?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9640" y="2779776"/>
            <a:ext cx="352044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549640" y="2779776"/>
            <a:ext cx="64008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49640" y="277977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81160" y="285292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Dest. Posting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81160" y="3145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Δ₅ ~ 28s ?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49640" y="3584448"/>
            <a:ext cx="352044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549640" y="3584448"/>
            <a:ext cx="64008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9640" y="358444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281160" y="36576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Event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281160" y="395020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P(return)=0.91?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794760" y="3127248"/>
            <a:ext cx="201168" cy="914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5400000">
            <a:off x="3950208" y="3054096"/>
            <a:ext cx="201168" cy="256032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0" y="3127248"/>
            <a:ext cx="201168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5400000">
            <a:off x="8385048" y="3054096"/>
            <a:ext cx="201168" cy="256032"/>
          </a:xfrm>
          <a:prstGeom prst="triangl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5074920"/>
            <a:ext cx="11521440" cy="402336"/>
          </a:xfrm>
          <a:prstGeom prst="rect">
            <a:avLst/>
          </a:prstGeom>
          <a:solidFill>
            <a:srgbClr val="FDF3DC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074920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objective: Cross-entropy loss on masked delta predictions across all payment types and rails. 40M+ payments/quarter across Contributor + Federated FIs.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 ·  LOW-RANK ADAPTATION (LoRA)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Per-FI Specialization Without Full Retraining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reduces per-FI trainable parameters by ~96% vs. full fine-tuning.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512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653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weight: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W₀ ∈ ℝ^(d×k)         d=k=768 (each layer)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512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066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update (rank r):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ΔW = B × A            B ∈ ℝ^(d×r),  A ∈ ℝ^(r×k)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493008"/>
            <a:ext cx="512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478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becomes: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0390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(W₀ + ΔW)x  =  W₀x + BAx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334256"/>
            <a:ext cx="5120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38912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 &lt;&lt; d,k: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8  →  params: 768×8 + 8×768 = 12,288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full layer: 768×768 = 589,824  (96% reduction)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508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874520"/>
            <a:ext cx="3017520" cy="155448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874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2286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(768×768)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724912"/>
            <a:ext cx="2651760" cy="201168"/>
          </a:xfrm>
          <a:prstGeom prst="rect">
            <a:avLst/>
          </a:prstGeom>
          <a:solidFill>
            <a:srgbClr val="1E3450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7249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NO GRADIENT UPDATES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418320" y="1874520"/>
            <a:ext cx="1371600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1832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768×8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27249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TRAINABLE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881360" y="1874520"/>
            <a:ext cx="1188720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0" y="1874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881360" y="2377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8×768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206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TRAINING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498848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498848"/>
            <a:ext cx="2743200" cy="36576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517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Freeze backbone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910328"/>
            <a:ext cx="2560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weights locked.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B, A trained.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72384" y="5084064"/>
            <a:ext cx="12801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3154680" y="5010912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4498848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46120" y="4498848"/>
            <a:ext cx="2743200" cy="36576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4517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FI labeled data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4910328"/>
            <a:ext cx="2560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fraud labels.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500–5,000 examples.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98464" y="5084064"/>
            <a:ext cx="12801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5400000">
            <a:off x="6080760" y="5010912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4498848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4498848"/>
            <a:ext cx="2743200" cy="36576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4517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LoRA training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63640" y="4910328"/>
            <a:ext cx="2560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12,288 params/layer.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924544" y="5084064"/>
            <a:ext cx="128016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9006840" y="5010912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98280" y="4498848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098280" y="4498848"/>
            <a:ext cx="2743200" cy="36576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720" y="4517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Quarterly update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189720" y="4910328"/>
            <a:ext cx="2560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backbone → new 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delta shipped.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HEAD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Classifier on a Deep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does the heavy lifting. The head specializes.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530352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91056"/>
            <a:ext cx="512064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(Science Layer)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78543"/>
            <a:ext cx="512064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event feature vectors from Silver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35808" y="2194560"/>
            <a:ext cx="14630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2971800" y="2276856"/>
            <a:ext cx="274320" cy="137160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14016"/>
            <a:ext cx="5303520" cy="56692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468880"/>
            <a:ext cx="5120640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08819"/>
            <a:ext cx="5120640" cy="238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token_seq → dense d=512 representation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35808" y="2980944"/>
            <a:ext cx="14630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2971800" y="3063240"/>
            <a:ext cx="274320" cy="137160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5303520" cy="658368"/>
          </a:xfrm>
          <a:prstGeom prst="rect">
            <a:avLst/>
          </a:prstGeom>
          <a:solidFill>
            <a:srgbClr val="2A2A6A"/>
          </a:solidFill>
          <a:ln w="12700">
            <a:solidFill>
              <a:srgbClr val="2A2A6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255264"/>
            <a:ext cx="512064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Backbone (Frozen)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542751"/>
            <a:ext cx="512064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layers · learned cross-rail payment dynamics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35808" y="3858768"/>
            <a:ext cx="14630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971800" y="3941064"/>
            <a:ext cx="274320" cy="137160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78224"/>
            <a:ext cx="5303520" cy="56692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33088"/>
            <a:ext cx="5120640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→ Context Vector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73027"/>
            <a:ext cx="5120640" cy="238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d=512 summary embedding for the payment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35808" y="4645152"/>
            <a:ext cx="14630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971800" y="4727448"/>
            <a:ext cx="274320" cy="137160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864608"/>
            <a:ext cx="530352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919472"/>
            <a:ext cx="5120640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159411"/>
            <a:ext cx="5120640" cy="238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fine-tuning (B×A), 12K params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35808" y="5431536"/>
            <a:ext cx="14630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2971800" y="5513832"/>
            <a:ext cx="274320" cy="137160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650992"/>
            <a:ext cx="53035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5705856"/>
            <a:ext cx="5120640" cy="3233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974324"/>
            <a:ext cx="5120640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Linear(512→128) → ReLU → Linear(128→1) → Sigmoid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35808" y="6272784"/>
            <a:ext cx="146304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0800000">
            <a:off x="2971800" y="6355080"/>
            <a:ext cx="274320" cy="137160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6492240"/>
            <a:ext cx="53035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6547104"/>
            <a:ext cx="5120640" cy="3423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  P(fraud|payment)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834591"/>
            <a:ext cx="5120640" cy="27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→ 1.0  ·  Calibrated against FI base 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15087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1828800"/>
            <a:ext cx="56692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18836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212140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fraud labels from Platinum (never shared). Typically 500–10,000 labeled examples.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542032"/>
            <a:ext cx="56692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59689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sources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283464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cases, R-code returns (R08 stop payment, R29 unauthorized), manual analyst decisions.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255264"/>
            <a:ext cx="56692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331012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55080" y="354787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~0.01–0.05%. Addressed via focal loss weighting and stratified sampling.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3968496"/>
            <a:ext cx="56692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402336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55080" y="426110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(top-K alerts reviewed daily), AUC-PR, and F1 at FI-chosen decision threshold.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4681728"/>
            <a:ext cx="56692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473659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55080" y="4974336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applied post-training. Score outputs reflect true posterior probability P(fraud).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54406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5715000"/>
            <a:ext cx="1325880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57150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0.00–0.30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6007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644384" y="5715000"/>
            <a:ext cx="132588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44384" y="57150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0.30–0.65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644384" y="6007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monitor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070848" y="5715000"/>
            <a:ext cx="132588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70848" y="57150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0.65–0.85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070848" y="6007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queue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497312" y="5715000"/>
            <a:ext cx="132588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97312" y="57150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0.85–1.00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497312" y="6007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Auto-hold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 ·  SUB-20MS INFERENCE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Zero-Copy, Always-On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payment event to scored decision in under 20 milliseconds.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084832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4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411480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Arrives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72384"/>
            <a:ext cx="19019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event published to Kafka / Kinesis. Bronze write happens async — does not block scoring.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95728" y="2907792"/>
            <a:ext cx="118872" cy="914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482596" y="2834640"/>
            <a:ext cx="91440" cy="256032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1572768"/>
            <a:ext cx="2084832" cy="2834640"/>
          </a:xfrm>
          <a:prstGeom prst="rect">
            <a:avLst/>
          </a:prstGeom>
          <a:solidFill>
            <a:srgbClr val="0C5A73"/>
          </a:solidFill>
          <a:ln w="12700">
            <a:solidFill>
              <a:srgbClr val="1E34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1664208"/>
            <a:ext cx="411480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36392" y="1682496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2–4ms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2148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33472" y="26517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33472" y="3072384"/>
            <a:ext cx="19019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Silver-style transforms applied in streaming context (Flink / Spark Structured Streaming). Delta computation on latest event graph state.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907792"/>
            <a:ext cx="118872" cy="914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4750308" y="2834640"/>
            <a:ext cx="91440" cy="256032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1572768"/>
            <a:ext cx="2084832" cy="2834640"/>
          </a:xfrm>
          <a:prstGeom prst="rect">
            <a:avLst/>
          </a:prstGeom>
          <a:solidFill>
            <a:srgbClr val="1A1A4A"/>
          </a:solidFill>
          <a:ln w="12700">
            <a:solidFill>
              <a:srgbClr val="1E34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01184" y="1664208"/>
            <a:ext cx="411480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04104" y="1682496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8–12ms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9744" y="2148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01184" y="26517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Embedding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01184" y="3072384"/>
            <a:ext cx="19019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passed to backbone (ONNX-exported, TorchServe). Returns d=512 [CLS] embedding. Batch=1 optimized path.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31152" y="2907792"/>
            <a:ext cx="118872" cy="914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7018020" y="2834640"/>
            <a:ext cx="91440" cy="256032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77456" y="1572768"/>
            <a:ext cx="2084832" cy="2834640"/>
          </a:xfrm>
          <a:prstGeom prst="rect">
            <a:avLst/>
          </a:prstGeom>
          <a:solidFill>
            <a:srgbClr val="5B21B6"/>
          </a:solidFill>
          <a:ln w="12700">
            <a:solidFill>
              <a:srgbClr val="1E34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68896" y="1664208"/>
            <a:ext cx="411480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71816" y="1682496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2–3ms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77456" y="2148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68896" y="26517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Inference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68896" y="3072384"/>
            <a:ext cx="19019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fraud head applies LoRA adapter + classification head. Returns P(fraud) and calibrated score.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98864" y="2907792"/>
            <a:ext cx="118872" cy="914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9285732" y="2834640"/>
            <a:ext cx="91440" cy="256032"/>
          </a:xfrm>
          <a:prstGeom prst="triangl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45168" y="1572768"/>
            <a:ext cx="2084832" cy="2834640"/>
          </a:xfrm>
          <a:prstGeom prst="rect">
            <a:avLst/>
          </a:prstGeom>
          <a:solidFill>
            <a:srgbClr val="7C3AED"/>
          </a:solidFill>
          <a:ln w="12700">
            <a:solidFill>
              <a:srgbClr val="1E34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36608" y="1664208"/>
            <a:ext cx="411480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36608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939528" y="1682496"/>
            <a:ext cx="1399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1–2ms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345168" y="21488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436608" y="26517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+ Route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436608" y="3072384"/>
            <a:ext cx="19019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computed from cached head weights (precomputed background). Score + top-3 features sent to FI decision system.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526280"/>
            <a:ext cx="115214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52628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Total end-to-end latency: 13–22ms  ·  P99 &lt; 30ms  ·  No hot paths blocked by scoring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74320" y="5120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828800" y="5102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ONNX Runtime inference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828800" y="53583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TorchServe model server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0" y="5102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 / Kinesis event bus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0" y="53583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Flink streaming feature pipeline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0" y="5102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Redis feature cache (hot features)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9600" y="53583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Prometheus + Grafana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SCORING  &amp;  MODEL MONITORING  ·  ALWAYS-ON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Real-Time: Overnight Analysis and Drift Defense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3898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SCORING PIPELINE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673352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81051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full-portfolio scan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08483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from the past 24h scored in batch. Lookback windows of 7/30/90 days for behavioral drift scoring.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risk aggregation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79806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and counterparty risk scores aggregated across all payments. Network-level fraud ring detection.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23697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735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stress scoring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51129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settlement exposure forecasts generated from overnight payment flow patterns. Fed to treasury dashboards.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9502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anomaly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22452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anomalous payment patterns surfaced to FI analysts as a daily digest. Explainability included per payment.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70001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label collection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9377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actions (confirm/clear) on prior day's alerts written back to Platinum as training labels for next retraining cycle.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1389888"/>
            <a:ext cx="5715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673352"/>
            <a:ext cx="5715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828800"/>
            <a:ext cx="16459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86537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0848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KL Divergence on Δ distributions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2494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KL &gt; 0.15 on any rail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652760" y="1975104"/>
            <a:ext cx="10058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52760" y="1975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17920" y="2542032"/>
            <a:ext cx="16459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5786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279806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PSI on fraud score distribution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296265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PSI &gt; 0.2 month-over-month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652760" y="2688336"/>
            <a:ext cx="10058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52760" y="26883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17920" y="3255264"/>
            <a:ext cx="16459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29184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Degradation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51129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AUC-PR drop on labeled holdout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367588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AUC drops &gt; 3pp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652760" y="3401568"/>
            <a:ext cx="10058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52760" y="34015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3968496"/>
            <a:ext cx="16459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00507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Skew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22452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Schema match + null rates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92240" y="43891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Null rate &gt; 5% on key fields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652760" y="4114800"/>
            <a:ext cx="10058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52760" y="4114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17920" y="4681728"/>
            <a:ext cx="16459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71830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Drift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49377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Analyst confirm/clear ratio shift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92240" y="51023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Ratio shift &gt; 20%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652760" y="4828032"/>
            <a:ext cx="10058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52760" y="4828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5440680"/>
            <a:ext cx="557784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557784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policy: CRITICAL → immediate trigger · WARN (2+) → next quarterly cycle · All thresholds FI-configurable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WALKTHROUGH  ·  THE SUSPICIOUS ACH PAYMENT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 Payment Arrives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1521440" cy="132588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PAYMENT EVENT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536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Debit (NACHA CCD)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5361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40680" y="1536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Community Bank (FI-A)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38160" y="15361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81160" y="1536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$47,250.00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ORIG-a91e (pseudonymous)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CPTY-7f3a (first appearance)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3816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8116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2024-03-12  09:47:02 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6243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TIMELINE (observed so far)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1828800" cy="24688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44368"/>
            <a:ext cx="18288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334670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" y="36027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09:47:02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192" y="38496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4151376"/>
            <a:ext cx="1682496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41513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3192" y="4453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submitted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57984" y="3995928"/>
            <a:ext cx="82296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2212848" y="3922776"/>
            <a:ext cx="73152" cy="164592"/>
          </a:xfrm>
          <a:prstGeom prst="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2944368"/>
            <a:ext cx="1828800" cy="246888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58568" y="2944368"/>
            <a:ext cx="1828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31720" y="334670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36027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09:47:02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38496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Δ₁ = 0.82s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31720" y="4151376"/>
            <a:ext cx="1682496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41513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31720" y="4453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fast for ACH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96512" y="3995928"/>
            <a:ext cx="82296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4151376" y="3922776"/>
            <a:ext cx="73152" cy="164592"/>
          </a:xfrm>
          <a:prstGeom prst="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97096" y="2944368"/>
            <a:ext cx="1828800" cy="24688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97096" y="2944368"/>
            <a:ext cx="18288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97096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270248" y="334670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Ingest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70248" y="36027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09:47:04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270248" y="38496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Δ₂ = 2.1s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70248" y="4151376"/>
            <a:ext cx="1682496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70248" y="41513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270248" y="4453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ACH batch entry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3995928"/>
            <a:ext cx="82296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6089904" y="3922776"/>
            <a:ext cx="73152" cy="164592"/>
          </a:xfrm>
          <a:prstGeom prst="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35624" y="2944368"/>
            <a:ext cx="1828800" cy="24688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35624" y="2944368"/>
            <a:ext cx="18288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35624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08776" y="334670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08776" y="36027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20:55:12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08776" y="38496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Δ₃ = 11.2h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08776" y="4151376"/>
            <a:ext cx="1682496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8776" y="41513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08776" y="4453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same-day clearing window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73568" y="3995928"/>
            <a:ext cx="82296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5400000">
            <a:off x="8028432" y="3922776"/>
            <a:ext cx="73152" cy="164592"/>
          </a:xfrm>
          <a:prstGeom prst="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74152" y="2944368"/>
            <a:ext cx="182880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074152" y="2944368"/>
            <a:ext cx="182880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74152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T₄?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147304" y="334670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147304" y="36027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147304" y="38496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Δ₄ = ???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147304" y="4151376"/>
            <a:ext cx="1682496" cy="237744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47304" y="41513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147304" y="4453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predicted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912096" y="3995928"/>
            <a:ext cx="82296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400000">
            <a:off x="9966960" y="3922776"/>
            <a:ext cx="73152" cy="164592"/>
          </a:xfrm>
          <a:prstGeom prst="triangl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12680" y="2944368"/>
            <a:ext cx="182880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0012680" y="2944368"/>
            <a:ext cx="182880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12680" y="2944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T₆?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0085832" y="334670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risk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085832" y="36027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0085832" y="38496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P(return) = ???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085832" y="4151376"/>
            <a:ext cx="1682496" cy="237744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085832" y="41513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085832" y="445312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R08/R29 risk unknown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WALKTHROUGH  ·  STEP 2: MODEL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a Score, Not a Rule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658368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vector extracted from this payment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payment_token = ["ACH_DEBIT", "ach_nacha", "ORIG", 0.82, "BUCKET_9", "CPTY_NEW"]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Δ_sequence   = [0.82s, 2.1s, 11.2h, TBD, TBD]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0" y="1170432"/>
            <a:ext cx="4663440" cy="4754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3258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755648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7223760" y="34290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 ·  AUTO-HOLD TRIGGERED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3858768"/>
            <a:ext cx="3931920" cy="457200"/>
          </a:xfrm>
          <a:prstGeom prst="rect">
            <a:avLst/>
          </a:prstGeom>
          <a:solidFill>
            <a:srgbClr val="1E345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8587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0.85 → Auto-hold queue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440740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P(fraud) · Base rate: 0.023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23760" y="4736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latency: 17ms total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BACKBONE SAW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33472"/>
            <a:ext cx="6583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633472"/>
            <a:ext cx="20116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67919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 = 0.82s is a 3.2σ outlier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9260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validation typically takes 1.8–3.5s. Sub-1s validation is rare and associated with automated/scripted submissions in the backbone's training distribution.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6583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91840"/>
            <a:ext cx="20116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3756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CPTY-7f3a is unknown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5844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has never appeared in this FI's Silver data. The backbone's entity embedding falls into the 'new counterparty' cluster, which has elevated fraud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950208"/>
            <a:ext cx="6583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50208"/>
            <a:ext cx="20116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995928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 in BUCKET_9 is anomalous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424281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ORIG-a91e has 98% of prior payments in BUCKET_4-6 ($1K-$10K). This amount is a 5.1σ outlier for this originator.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608576"/>
            <a:ext cx="6583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608576"/>
            <a:ext cx="20116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65429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Δ₃ = 11.2h is slightly fast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490118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ACH clearing usually completes in 12–14h from this originator's batch group. Slightly fast — minor signal, low weight.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WALKTHROUGH  ·  STEP 3: EXPLANATION  (SHAP WATERFALL)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Model Return 0.91?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54680" y="1234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Contribution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4692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 (prior)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645920"/>
            <a:ext cx="161778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2178" y="16459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46920" y="1645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084832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30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 = 0.82s  (fast ACH validation)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6458" y="2176272"/>
            <a:ext cx="2180492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2671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46920" y="21762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2615184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609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counterparty CPTY-7f3a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96951" y="2706624"/>
            <a:ext cx="1983545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6215" y="270662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+0.282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46920" y="270662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145536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912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BUCKET_9 ($47K)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80495" y="3236976"/>
            <a:ext cx="1322363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48578" y="32369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+0.188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46920" y="32369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3675888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216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Δ₃ = 11.2h  (slightly fast clear)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02858" y="3767328"/>
            <a:ext cx="379828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28406" y="37673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+0.054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46920" y="37673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54680" y="4206240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Rail: ACH (vs. RTP baseline)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82686" y="4297680"/>
            <a:ext cx="288388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16794" y="42976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+0.041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46920" y="42976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54680" y="4736592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823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Δ₂ = 2.1s  (normal)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471074" y="4828032"/>
            <a:ext cx="56271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73065" y="482803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46920" y="48280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54680" y="5266944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53126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fraud score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54680" y="5358384"/>
            <a:ext cx="640080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46920" y="53583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154680" y="5797296"/>
            <a:ext cx="6400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5852160"/>
            <a:ext cx="115214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 (fast validation) and new counterparty together contribute +0.59 — over 65% of the score above baseline. Combined with a high-value anomaly (+0.19), the model is confident this payment matches the fraud pattern learned across all Contributor and Federated FIs.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WALKTHROUGH  ·  STEP 4: FROM SCORE TO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0.91 → Auto-Hold → Analyst → Feedback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loop: every decision improves the next prediction.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783080" cy="2331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2340864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0.91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724912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FI threshold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0.85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39696" y="2788920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249424" y="2706624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691640"/>
            <a:ext cx="1783080" cy="2331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⏸️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04872" y="2340864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Held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04872" y="2724912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ACH entry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but flagged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51376" y="2788920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4261104" y="2706624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691640"/>
            <a:ext cx="1783080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4340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16552" y="2340864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Alert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16552" y="2724912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top-3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fraud queue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2788920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6272784" y="2706624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691640"/>
            <a:ext cx="1783080" cy="23317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28232" y="2340864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28232" y="2724912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clears.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view full event graph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74736" y="2788920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8284464" y="2706624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1691640"/>
            <a:ext cx="1783080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6676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439912" y="2340864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39912" y="2724912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written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(fraud/clear)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186416" y="2788920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10296144" y="2706624"/>
            <a:ext cx="91440" cy="256032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78440" y="1691640"/>
            <a:ext cx="1783080" cy="23317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378440" y="1783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451592" y="2340864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Trigger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451592" y="2724912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queued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fine-tune cycle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160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LEARNING LOOP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48056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480560"/>
            <a:ext cx="4114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48056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" y="45354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occurs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" y="47548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enters system. Feature extraction runs synchronously.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51960" y="448056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51960" y="4480560"/>
            <a:ext cx="4114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1960" y="448056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754880" y="45354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generated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47548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embedding + fraud head → P(fraud) in &lt;20ms.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83880" y="448056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83880" y="4480560"/>
            <a:ext cx="4114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83880" y="448056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686800" y="45354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routed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86800" y="47548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/ soft-monitor / analyst queue / auto-hold based on FI thresholds.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5230368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5230368"/>
            <a:ext cx="4114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523036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22960" y="52852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acts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960" y="5504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clears. Action is the ground truth label for future training.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51960" y="5230368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51960" y="5230368"/>
            <a:ext cx="4114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51960" y="523036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754880" y="52852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captured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754880" y="5504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Platinum training dataset. Versioned. Ready for next fine-tune cycle.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183880" y="5230368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83880" y="5230368"/>
            <a:ext cx="41148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83880" y="523036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686800" y="52852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686800" y="5504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quarterly fine-tune incorporates new labels. AUC improves. False positives fall.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INTELLIGENCE  ·  THREE FEATURE NAMESPACES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Network Knows That the Transaction Can't See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features expose fraud rings, mule networks, and community-level risk invisible to per-payment models.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3767328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3767328" cy="373075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176272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Per-Payment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2552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WHEN a payment behaves strangely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58444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T₀–T₆ delta sequence (Δ₁–Δ₆)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995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bucket (ordinal)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34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+ direction flag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72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speed anomaly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5047488"/>
            <a:ext cx="356616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08406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see: who else this entity pays, how connected they are, what community they belong 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70248" y="1600200"/>
            <a:ext cx="3767328" cy="5029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70248" y="2103120"/>
            <a:ext cx="3767328" cy="3730752"/>
          </a:xfrm>
          <a:prstGeom prst="rect">
            <a:avLst/>
          </a:prstGeom>
          <a:solidFill>
            <a:srgbClr val="E8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70248" y="2176272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361688" y="26974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61688" y="32552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HOW this entity has behaved historically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53128" y="358444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36576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delta distribution baseline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3995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bucket history (this entity)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07408" y="4334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usage pattern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07408" y="4672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return / exception 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61688" y="5047488"/>
            <a:ext cx="356616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508406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see: cross-FI entity risk, network position, how this entity connects to bad actors at other FIs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0456" y="1600200"/>
            <a:ext cx="3767328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1896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0456" y="2103120"/>
            <a:ext cx="3767328" cy="373075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0456" y="2176272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🕸️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311896" y="26974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Signal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11896" y="32552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WHERE this entity sits in the network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03336" y="3584448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36576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prevalence tier (cross-FI)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57616" y="3995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velocity percentile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57616" y="4334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fraud proximity bucket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57616" y="4672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risk tier + cross-community flag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11896" y="5047488"/>
            <a:ext cx="3566160" cy="694944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03336" y="508406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solution: raw graph topology never exposed — only pre-computed, bucketed, de-identified signals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069080" y="329184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019288" y="329184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SIGNAL NAMESPACE  ·  GRAPH FEATURES WITHOUT EXPOSING THE GRAPH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Bucketed Signals. No Raw Topology Exposed.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centrally from de-identified Silver. Only the derived score enters the Feature Store.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81912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81912"/>
            <a:ext cx="201168" cy="822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55064"/>
            <a:ext cx="822960" cy="23774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550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72768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counterparty_prevalence_tier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1947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UNSEEN  ·  RARE  ·  KNOWN  ·  ESTABLISHED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77840" y="1655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1636776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widely has this counterparty token appeared across ALL consenting FIs' Silver data?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207568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2057400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counterparty on a large-value ACH is categorically different from ESTABLISHED. Signal without revealing which FIs have seen it.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87168"/>
            <a:ext cx="20116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560320"/>
            <a:ext cx="8229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603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0–9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72768" y="2551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originator_velocity_pct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2852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Decile bucket (P0–P9) of counterparty graph expansion rate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2560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542032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this originator adding new counterparty tokens vs. the population distribution over rolling 30/90 days?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29809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2962656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 recruitment shows up as P9 velocity — mule accounts expanding their counterparty graph rapidly before the attack.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392424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392424"/>
            <a:ext cx="20116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465576"/>
            <a:ext cx="82296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655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572768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network_fraud_proximity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72768" y="37581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 ·  ONE_HOP  ·  TWO_HOP  ·  DISTANT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34655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3447288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distance from this entity's token to a confirmed fraud node in the consortium graph.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3886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3867912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known fraud without revealing who the fraud node is or which FI flagged them.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297680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97680"/>
            <a:ext cx="201168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370832"/>
            <a:ext cx="82296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708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572768" y="4361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community_risk_tier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72768" y="4663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·  MEDIUM  ·  HIGH  ·  ELEVATED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77840" y="4370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46520" y="4352544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of the community this entity belongs to, derived from community's historical fraud prevalence rate.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77840" y="47914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46520" y="4773168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 form tight communities. The tier captures community-level activation before individual payment signals appear.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5202936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5202936"/>
            <a:ext cx="201168" cy="82296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5276088"/>
            <a:ext cx="822960" cy="237744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27608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572768" y="5266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cross_community_flag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572768" y="5568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·  false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77840" y="5276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46520" y="5257800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payment cross a community boundary? Originator and counterparty in different community clusters?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77840" y="56967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5678424"/>
            <a:ext cx="5257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legitimate high-value payments are within established communities. Cross-community + unknown counterparty = fraud ring activation pattern.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6099048"/>
            <a:ext cx="11521440" cy="4572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126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signal access by tier: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74720" y="6153912"/>
            <a:ext cx="8229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6153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389120" y="6153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5-signal namespace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17920" y="6153912"/>
            <a:ext cx="822960" cy="256032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6153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132320" y="6153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signals (no proximity)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961120" y="6153912"/>
            <a:ext cx="8229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61120" y="6153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875520" y="61539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tier only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INTELLIGENCE  ·  CONSORTIUM SIGNALS IN THE SHAP WATERFALL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Score: Temporal + Entity + Consortium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knew before the timing did. Consortium signals added +0.22 to the fraud score.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126187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Contribution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1261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1152144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ENTITY FEATURES  (Namespaces 1 &amp; 2)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9280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 (population prior)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1920240"/>
            <a:ext cx="14389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5002" y="192024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241280" y="19202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49424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9514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 = 0.82s  (fast ACH validation)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50138" y="2322576"/>
            <a:ext cx="1939491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4492" y="2322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241280" y="23225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BUCKET_9  ($47K outlier)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89628" y="2724912"/>
            <a:ext cx="1176207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0699" y="27249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+0.188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241280" y="27249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054096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998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Δ₃ = 11.2h  (slightly fast clearing)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65835" y="3127248"/>
            <a:ext cx="337847" cy="2377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58546" y="31272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+0.054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241280" y="3127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0.575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456432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0215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Rail: ACH  (vs. RTP baseline)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03682" y="3529584"/>
            <a:ext cx="256513" cy="237744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5059" y="35295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+0.041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241280" y="35295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858768"/>
            <a:ext cx="11521440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5876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NETWORK SIGNALS  (Namespace 3)  ·  Added +0.22 above temporal baseline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133088"/>
            <a:ext cx="115214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17880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counterparty_prevalence_tier = UNSEEN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60195" y="4206240"/>
            <a:ext cx="88841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3471" y="420624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+0.142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241280" y="42062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0.758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4535424"/>
            <a:ext cx="115214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58114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cross_community_flag = true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948607" y="4608576"/>
            <a:ext cx="538052" cy="23774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41523" y="4608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+0.086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241280" y="46085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937760"/>
            <a:ext cx="115214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983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network_fraud_proximity = ONE_HOP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486659" y="5010912"/>
            <a:ext cx="425437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0" y="50109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+0.068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241280" y="50109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5340096"/>
            <a:ext cx="115214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53858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community_risk_tier = HIGH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912096" y="5413248"/>
            <a:ext cx="150154" cy="2377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17114" y="54132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241280" y="5413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5742432"/>
            <a:ext cx="115214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578815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originator_velocity_pct = P7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062250" y="5815584"/>
            <a:ext cx="87590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04704" y="58155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+0.014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241280" y="58155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040" y="6144768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619048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Δ₂ = 2.1s  (normal rail ingest)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149840" y="6217920"/>
            <a:ext cx="50051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54755" y="62179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-0.008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241280" y="621792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6547104"/>
            <a:ext cx="115214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659282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fraud score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206240" y="6620256"/>
            <a:ext cx="5893549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241280" y="66202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0040" y="7004304"/>
            <a:ext cx="1152144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7004304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signals alone add +0.22 (UNSEEN counterparty +0.14, cross-community +0.09, ONE_HOP fraud proximity +0.07). Score rises from 0.72 → 0.94 once graph intelligence is included. The network knew the risk before the transaction completed.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MODEL LIBRARY  ·  WHAT ELSE THE BACKBONE CAN POWER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Foundation Model. Ten Task Heads.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backbone's payment event embeddings are reusable across every FI intelligence use case.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64208"/>
            <a:ext cx="2212848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73736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737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Fraud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8094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P(fraud) on ACH debit events. Primary walkthrough use case.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42616" y="166420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2616" y="1664208"/>
            <a:ext cx="2212848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5768" y="173736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737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42616" y="21214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34056" y="263347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 Fraud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34056" y="298094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RTP/FedNow decision. Tighter threshold, lighter head, higher precision requirement.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65192" y="166420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1664208"/>
            <a:ext cx="221284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38344" y="173736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1737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65192" y="21214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56632" y="263347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Expansion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56632" y="298094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household clusters from payment patterns. Target generational wealth flows moving to external FIs. HIS score per entity.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87768" y="166420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87768" y="1664208"/>
            <a:ext cx="221284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173736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1737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87768" y="21214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🕸️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79208" y="263347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79208" y="298094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risk score for mule activity. Graph velocity + community features dominate. Batch.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10344" y="166420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10344" y="1664208"/>
            <a:ext cx="2212848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83496" y="173736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83496" y="1737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610344" y="21214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701784" y="263347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01784" y="298094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payment volume → P(churn in 90 days). Delta sequence degradation as leading indicator.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81304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813048"/>
            <a:ext cx="2212848" cy="41148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3192" y="388620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" y="3886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0040" y="427024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11480" y="478231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Stress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11480" y="512978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intraday net settlement exposure. Morning payment flow → afternoon funding gap forecast.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42616" y="381304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642616" y="3813048"/>
            <a:ext cx="2212848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15768" y="388620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15768" y="3886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642616" y="427024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🆕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2734056" y="478231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Identity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734056" y="512978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 payment pattern vs. synthetic ID behavioral signature. Enrollment-time scoring.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65192" y="381304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965192" y="3813048"/>
            <a:ext cx="2212848" cy="4114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38344" y="388620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38344" y="3886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65192" y="427024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💤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056632" y="478231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Reactivation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056632" y="512978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account suddenly receiving large/frequent payments. Characteristic delta signature.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87768" y="381304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87768" y="3813048"/>
            <a:ext cx="2212848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60920" y="388620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60920" y="3886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287768" y="427024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7379208" y="478231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Anomaly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379208" y="512978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Large-value wire outlier detection. Amount + timing + counterparty novelty against wire history.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610344" y="3813048"/>
            <a:ext cx="221284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610344" y="3813048"/>
            <a:ext cx="221284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83496" y="3886200"/>
            <a:ext cx="7315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83496" y="3886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9610344" y="427024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9701784" y="478231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Risk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701784" y="512978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risk tier for each counterparty entity. Consortium graph prevalence + fraud proximity.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DEEP DIVES  ·  CHURN PREDICTION  &amp;  LIQUIDITY STRESS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Fraud: Intelligence Across the Payments Lifecycle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" cy="51206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984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 decline as a leading indicator of customer churn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993392"/>
            <a:ext cx="521208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48256"/>
            <a:ext cx="4956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286000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payment volume, increasing payment gaps (Δ between consecutive originations growing), migration of payment types away from FI rails (ACH volume drops as customer moves to competitor).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278892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43784"/>
            <a:ext cx="4956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3081528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of weekly payment volume (last 6 periods). Delta-between-transactions growing week-over-week. Rail diversity score (how many rails is this customer using at this FI?). New counterparty introduction rate declining.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" y="3584448"/>
            <a:ext cx="521208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39312"/>
            <a:ext cx="4956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architecture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877056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head: P(volume decline &gt;40% in next 90 days). Or classification: P(churn = account closure or &gt;80% volume loss in 90 days). Trained on Platinum labeled examples (FI-specific churn history).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437997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434840"/>
            <a:ext cx="4956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lift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4672584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originator_velocity_pct can signal that an originator is increasing payment volume at OTHER FIs — the customer isn't declining, they're migrating. Consortium signal catches the silent defection before it shows up in FI-local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5175504"/>
            <a:ext cx="521208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230368"/>
            <a:ext cx="4956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5468112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churn risk score per business customer. Feeds CRM for proactive retention outreach. Batch job — not real-time.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298448"/>
            <a:ext cx="201168" cy="512064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1298448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STRESS FORECASTING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9672" y="166420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net settlement exposure predicted from morning payment flow 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19672" y="1993392"/>
            <a:ext cx="55321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048256"/>
            <a:ext cx="5276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47688" y="2286000"/>
            <a:ext cx="5276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payment origination patterns (first 2–3 hours) strongly predict afternoon/EOD net settlement position. The backbone has learned these temporal correlations across all rails and FI sizes.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19672" y="2788920"/>
            <a:ext cx="5532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2843784"/>
            <a:ext cx="5276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47688" y="3081528"/>
            <a:ext cx="5276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T₀–T₄ delta distributions for the current business day (partial sequence). Rail-level net debit/credit running totals. Counterparty concentration (top-3 counterparties as % of morning volume).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19672" y="3584448"/>
            <a:ext cx="55321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3639312"/>
            <a:ext cx="5276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architecture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47688" y="3877056"/>
            <a:ext cx="5276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head: predicted net settlement exposure (signed, in $M) at EOD. Confidence interval output (P10/P50/P90). Trained on historical intraday sequences with end-of-day actuals as labels.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19672" y="4379976"/>
            <a:ext cx="5532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4434840"/>
            <a:ext cx="5276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lift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47688" y="4672584"/>
            <a:ext cx="5276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morning flow velocity helps detect correlated settlement stress across FIs on the same rail. If multiple FIs in a community are seeing elevated outbound ACH, the consortium signal amplifies the prediction before it hits Fed settlement.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19672" y="5175504"/>
            <a:ext cx="55321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47688" y="5230368"/>
            <a:ext cx="5276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47688" y="5468112"/>
            <a:ext cx="5276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forecast updated through business day. Dashboard in Platinum BI. Feeds pre-funding triggers and daylight overdraft monitoring. Real-time batch (every 15 min).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1298448"/>
            <a:ext cx="36576" cy="5120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RELIABILITY  ·  SCORE CALIBRATION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Scores = True Probabilities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sigmoid output is not a probability. Platt scaling maps model scores to reliable risk estimates.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34924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Platt Scaling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304288"/>
            <a:ext cx="105156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304288"/>
            <a:ext cx="1014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Pre-training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9344" y="235915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+ task head trained with focal loss on Feature Store data. Final layer applies sigmoid. Raw output f(x) ∈ [0,1] but is NOT a calibrated probability.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17520"/>
            <a:ext cx="105156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017520"/>
            <a:ext cx="1014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Calibration Set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9344" y="307238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set of labeled events (10–15% of confirmed FI labels) reserved exclusively for calibration. This data is NEVER used during training or fine-tuning.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30752"/>
            <a:ext cx="105156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730752"/>
            <a:ext cx="1014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Platt 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9344" y="37856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regression: P(fraud) = σ(A · f(x) + B). A and B minimize NLL on the calibration set. Takes seconds. Result: any f(x) maps to a true posterior probability.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443984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443984"/>
            <a:ext cx="1051560" cy="6583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443984"/>
            <a:ext cx="1014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Per-Head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9344" y="449884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head (ACH fraud, churn, liquidity, mule detection…) gets its own A, B pair. Class imbalance and score distributions differ significantly across heads.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5157216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5157216"/>
            <a:ext cx="1051560" cy="65836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5157216"/>
            <a:ext cx="10149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Platinum Tier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09344" y="5212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Platinum data triggers per-FI recalibration. A large commercial FI may see 3× the base fraud rate of the consortium average — Platt parameters must reflect local reality.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1828800"/>
            <a:ext cx="5349240" cy="38404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82880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Calibration Looks Like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230428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Fraud Head — Actual fraud rates by predicted score bucket (hold-out evaluation set)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651760"/>
            <a:ext cx="128016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265176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0" y="2651760"/>
            <a:ext cx="164592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7536" y="265176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Uncalibrated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26880" y="2651760"/>
            <a:ext cx="164592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63456" y="265176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Post-Platt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Rate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972800" y="2651760"/>
            <a:ext cx="77724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09376" y="2651760"/>
            <a:ext cx="722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3090672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3090672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80960" y="309067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7536" y="309067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26880" y="309067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63456" y="309067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972800" y="3090672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09376" y="3090672"/>
            <a:ext cx="722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3493008"/>
            <a:ext cx="12801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349300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– 0.4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80960" y="3493008"/>
            <a:ext cx="16459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17536" y="3493008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326880" y="3493008"/>
            <a:ext cx="16459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63456" y="3493008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972800" y="3493008"/>
            <a:ext cx="777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09376" y="3493008"/>
            <a:ext cx="722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0" y="389534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37376" y="389534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– 0.6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80960" y="389534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17536" y="3895344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326880" y="389534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63456" y="3895344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972800" y="3895344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09376" y="3895344"/>
            <a:ext cx="722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0" y="4297680"/>
            <a:ext cx="128016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37376" y="429768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– 0.8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680960" y="4297680"/>
            <a:ext cx="16459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17536" y="429768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326880" y="4297680"/>
            <a:ext cx="164592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63456" y="429768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972800" y="4297680"/>
            <a:ext cx="777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009376" y="4297680"/>
            <a:ext cx="722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00800" y="470001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37376" y="4700016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– 1.0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680960" y="470001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17536" y="4700016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326880" y="470001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63456" y="4700016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972800" y="4700016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009376" y="4700016"/>
            <a:ext cx="722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+4.6%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400800" y="5138928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Uncalibrated scores systematically underestimate fraud probability in high-score buckets (overconfident model). Thresholds set on raw scores will under-hold high-risk transactions.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400800" y="5614416"/>
            <a:ext cx="5349240" cy="56692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92240" y="5614416"/>
            <a:ext cx="5166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(Expected Calibration Error) computed per head on each scoring cycle. Alert threshold ECE &gt; 0.03. Triggered recalibration runs automatically from latest Platinum-labeled data — no model retraining required.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HEAD ARCHITECTURE  ·  DATA + FEATURE REQUIREMENTS PER HEAD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Head Needs to Operate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namespace dependencies, label sources, inference mode, and minimum consortium tier per task head.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82880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Head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76272" y="1783080"/>
            <a:ext cx="201168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78308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Namespaces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24528" y="1783080"/>
            <a:ext cx="187452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178308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Source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132588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78308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79792" y="1783080"/>
            <a:ext cx="160020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78308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Consortium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07424" y="1783080"/>
            <a:ext cx="164592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783080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780776" y="1783080"/>
            <a:ext cx="109728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26496" y="1783080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Output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231136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231136"/>
            <a:ext cx="10972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3113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Fraud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76272" y="2231136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12848" y="2231136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 + NS3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24528" y="2231136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1104" y="2231136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dispute flags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26480" y="2231136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2231136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79792" y="2231136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2231136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07424" y="223113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2231136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780776" y="2231136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17352" y="223113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P(fraud) 0–1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651760"/>
            <a:ext cx="18288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2651760"/>
            <a:ext cx="10972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6517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 Fraud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76272" y="2651760"/>
            <a:ext cx="20116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12848" y="265176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 + NS3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24528" y="2651760"/>
            <a:ext cx="18745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61104" y="265176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FedNow/RTP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2651760"/>
            <a:ext cx="13258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53912" y="2651760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79792" y="2651760"/>
            <a:ext cx="16002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6368" y="2651760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07424" y="2651760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0" y="2651760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780776" y="2651760"/>
            <a:ext cx="10972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17352" y="265176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P(fraud) 0–1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3072384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3072384"/>
            <a:ext cx="109728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0723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Expansion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76272" y="3072384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12848" y="3072384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 + NS3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24528" y="3072384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61104" y="3072384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closures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advisor tags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26480" y="3072384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53912" y="3072384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479792" y="3072384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16368" y="3072384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107424" y="3072384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0" y="3072384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WM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780776" y="3072384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817352" y="3072384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0–1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3493008"/>
            <a:ext cx="18288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3493008"/>
            <a:ext cx="10972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34930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76272" y="3493008"/>
            <a:ext cx="20116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12848" y="349300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NS2 + NS3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224528" y="3493008"/>
            <a:ext cx="18745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61104" y="3493008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filings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BSA flags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26480" y="3493008"/>
            <a:ext cx="13258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53912" y="3493008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479792" y="3493008"/>
            <a:ext cx="16002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16368" y="3493008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107424" y="3493008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144000" y="3493008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/ AML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0780776" y="3493008"/>
            <a:ext cx="10972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817352" y="349300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score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20040" y="3913632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0040" y="3913632"/>
            <a:ext cx="109728" cy="402336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39136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176272" y="391363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12848" y="391363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224528" y="3913632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61104" y="3913632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closures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vol decline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126480" y="3913632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53912" y="3913632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479792" y="3913632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16368" y="3913632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9107424" y="391363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44000" y="391363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0780776" y="3913632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817352" y="3913632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P(churn 90d)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" y="4334256"/>
            <a:ext cx="18288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0040" y="4334256"/>
            <a:ext cx="109728" cy="402336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43342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Stress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176272" y="4334256"/>
            <a:ext cx="20116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12848" y="4334256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 + NS3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224528" y="4334256"/>
            <a:ext cx="18745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61104" y="4334256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net settlement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126480" y="4334256"/>
            <a:ext cx="13258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53912" y="4334256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479792" y="4334256"/>
            <a:ext cx="16002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16368" y="4334256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9107424" y="4334256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144000" y="4334256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0780776" y="4334256"/>
            <a:ext cx="10972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817352" y="433425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exp. $M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320040" y="475488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0040" y="4754880"/>
            <a:ext cx="109728" cy="4023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57200" y="47548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Identity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176272" y="4754880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12848" y="4754880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NS2 + NS3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224528" y="4754880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261104" y="47548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fraud flags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loss events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126480" y="475488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153912" y="4754880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+ Batch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7479792" y="4754880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516368" y="4754880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9107424" y="475488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144000" y="4754880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10780776" y="4754880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817352" y="475488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Synth. score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320040" y="5175504"/>
            <a:ext cx="18288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20040" y="5175504"/>
            <a:ext cx="109728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57200" y="51755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Reactivation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2176272" y="5175504"/>
            <a:ext cx="20116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212848" y="5175504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224528" y="5175504"/>
            <a:ext cx="18745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261104" y="5175504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 logs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6126480" y="5175504"/>
            <a:ext cx="13258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153912" y="5175504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479792" y="5175504"/>
            <a:ext cx="16002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516368" y="5175504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9107424" y="5175504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144000" y="5175504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Ops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0780776" y="5175504"/>
            <a:ext cx="10972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817352" y="5175504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320040" y="5596128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20040" y="5596128"/>
            <a:ext cx="1097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57200" y="55961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Anomaly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2176272" y="5596128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212848" y="5596128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 + NS2 + NS3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4224528" y="5596128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5596128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disputes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recall events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126480" y="5596128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53912" y="5596128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&lt;30ms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7479792" y="5596128"/>
            <a:ext cx="1600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516368" y="5596128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9107424" y="559612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144000" y="5596128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Ops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10780776" y="5596128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817352" y="559612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20040" y="6016752"/>
            <a:ext cx="18288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20040" y="6016752"/>
            <a:ext cx="109728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7200" y="60167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Risk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2176272" y="6016752"/>
            <a:ext cx="20116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212848" y="601675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NS2 + NS3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4224528" y="6016752"/>
            <a:ext cx="18745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261104" y="6016752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events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charge-offs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6126480" y="6016752"/>
            <a:ext cx="13258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153912" y="6016752"/>
            <a:ext cx="1271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7479792" y="6016752"/>
            <a:ext cx="16002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7516368" y="6016752"/>
            <a:ext cx="1527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9107424" y="6016752"/>
            <a:ext cx="1645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144000" y="601675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Mgmt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10780776" y="6016752"/>
            <a:ext cx="10972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0817352" y="6016752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1–5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320040" y="6473952"/>
            <a:ext cx="11558016" cy="29260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11480" y="6473952"/>
            <a:ext cx="11375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NS1 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Per-Payment Temporal  </a:t>
            </a:r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NS2 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Behavioral  </a:t>
            </a:r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NS3 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Network Signals  </a:t>
            </a:r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Tier → 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&gt; Federated &gt; Observer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INTELLIGENCE  ·  GENERATIONAL WEALTH &amp; HOUSEHOLD EXPANSION HEAD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FI's Household Footprint Through Payment Signals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 reveals household relationships and wealth flows — before a competitor does.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1548872" cy="475488"/>
          </a:xfrm>
          <a:prstGeom prst="rect">
            <a:avLst/>
          </a:prstGeom>
          <a:solidFill>
            <a:srgbClr val="FDF3DC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 </a:t>
            </a:r>
            <a:pPr indent="0" marL="0">
              <a:buNone/>
            </a:pPr>
            <a:r>
              <a:rPr lang="en-US" sz="10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metadata and payment graph topology reveal household clusters — parents funding adult children, estate distributions, inter-generational gift transfers, family business payments. When those flows go to external accounts, it's a targeting signal for the FI's growth team.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956816"/>
            <a:ext cx="201168" cy="4864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5681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EXPANSION HEAD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wealth deflection detection + household relationship mapping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633472"/>
            <a:ext cx="5303520" cy="7223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88336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926080"/>
            <a:ext cx="5047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ACH to external accounts with shared surname tokens or residential address proximity (from memo/name fields). Round-amount periodic transfers (gift patterns). Estate signature: large one-time disbursement from an older originator to 2–5 distinct counterparties. P2P velocity to external FIs rising YoY.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3419856"/>
            <a:ext cx="53035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74720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712464"/>
            <a:ext cx="5047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cluster score: co-occurrence frequency of originator→counterparty pairs sharing address/name tokens in Silver. Gift velocity index (round-amount, non-business-hour ACH count). External FI concentration (% of ACH volume going to accounts not mapped to consortium FIs). Age-of-relationship proxy (weeks since first appearance of each counterparty).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4206240"/>
            <a:ext cx="5303520" cy="7223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61104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architecture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4498848"/>
            <a:ext cx="5047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Multi-output: (1) Household Influence Score (HIS, 0–1) — probability this entity is a household anchor with unmapped household members. (2) Expansion Opportunity Flag — binary signal that a new household member has appeared in payment flows. Trained on CRM household link confirmations as positive labels.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" y="4992624"/>
            <a:ext cx="53035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047488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lift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5285232"/>
            <a:ext cx="5047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counterparty_prevalence_tier = UNSEEN means a counterparty does not appear in any consortium FI's Silver data — almost certainly not an existing FI customer. UNSEEN + household cluster signal = high-confidence external household member. FI can target without exposing which FI holds the account.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5779008"/>
            <a:ext cx="5303520" cy="7223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833872"/>
            <a:ext cx="5047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use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6071616"/>
            <a:ext cx="5047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batch: ranked list of Household Expansion Opportunities delivered to growth / wealth management CRM. Fields: originator_id, estimated household size, HIS, external concentration %, most recent external transfer amount. Drives advisor outreach, trust &amp; estate referrals, and family plan onboarding campaigns.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956816"/>
            <a:ext cx="201168" cy="486460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1956816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TAXONOMY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65392" y="230428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payment graph topology reveals household structure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65392" y="2633472"/>
            <a:ext cx="5440680" cy="7223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2633472"/>
            <a:ext cx="457200" cy="722376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633472"/>
            <a:ext cx="4572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77456" y="267919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TOKEN MATCH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77456" y="29077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 or business name overlap in ACH originator/receiver name fields. Silver normalization extracts tokens; graph edge weight increases with match frequency.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65392" y="3419856"/>
            <a:ext cx="544068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5392" y="3419856"/>
            <a:ext cx="457200" cy="722376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3419856"/>
            <a:ext cx="4572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77456" y="346557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CLUSTER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77456" y="369417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ZIP+4 or city/state match between originator and counterparty ACH metadata. Especially strong for parent→child transfers at different addresses post-move.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65392" y="4206240"/>
            <a:ext cx="5440680" cy="7223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4206240"/>
            <a:ext cx="457200" cy="7223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4206240"/>
            <a:ext cx="4572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🎁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456" y="4251960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TRANSFER PATTERN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77456" y="44805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amounts ($500, $1,000, $2,500) at recurring intervals (monthly, quarterly, holidays). Non-business hours. Not commercial rail (wire, B2B ACH) — personal ACH.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65392" y="4992624"/>
            <a:ext cx="544068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4992624"/>
            <a:ext cx="457200" cy="72237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992624"/>
            <a:ext cx="4572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456" y="503834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DISTRIBUTION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77456" y="526694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originator → multiple counterparties in short window, each receiving distinct proportional shares. Amount bucket spike for originator with low prior velocity.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65392" y="5779008"/>
            <a:ext cx="5440680" cy="72237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65392" y="5779008"/>
            <a:ext cx="457200" cy="7223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5779008"/>
            <a:ext cx="4572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456" y="5824728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CONCENTRATION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077456" y="60533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share of originator's ACH volume flowing to UNSEEN consortium counterparties. Wealth migration signal — the FI is losing household wallet share.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80760" y="1956816"/>
            <a:ext cx="36576" cy="4864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SURFACE  ·  API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Endpoints. Prediction Separated from Explanation.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fraction of predictions ever need explanation. Keeping them separate lets the scoring path stay under 20ms.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3657600" cy="347472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Latency 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576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57984"/>
            <a:ext cx="343814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&lt;20ms p99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 ~80–150ms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path is never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SHAP compute.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19072"/>
            <a:ext cx="3657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Label Economics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36576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157984"/>
            <a:ext cx="343814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3–8% of predictions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get labeled.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confirmed label 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training signal.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719072"/>
            <a:ext cx="365760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Tenant Isolation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2103120"/>
            <a:ext cx="36576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157984"/>
            <a:ext cx="343814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calls scoped to fi_id.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weights, calibration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retention settings isolated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FI. No data leakage.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5669280" cy="347472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93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/v1/predict  ·  Submit a payment event. Returns score + routing decision. &lt;20ms p99.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95344"/>
            <a:ext cx="274320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" y="4206240"/>
            <a:ext cx="25968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"event_id":  "evt_8a2f...",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"fi_id":     "fi_firstcommunity",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"head":      "ach_fraud",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"payment":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"rail":           "ACH",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"amount_cents":   4725000,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"originator_id":  "ORIG-a91e",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"counterparty_id":"CPTY-7f3a"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9272" y="3895344"/>
            <a:ext cx="274320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200 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92424" y="4206240"/>
            <a:ext cx="25968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"prediction_id": "pred_4c9a...",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         0.942,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"calibrated":    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        "AUTO_HOLD",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"threshold_used": 0.85,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"latency_ms":     17,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"explainable":   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493008"/>
            <a:ext cx="565099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493008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/v1/explain  ·  Returns SHAP waterfall. Call on demand — not inline with /predict.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3895344"/>
            <a:ext cx="274320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73952" y="4206240"/>
            <a:ext cx="25968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"prediction_id": "pred_4c9a...",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"fi_id":    "fi_firstcommunity",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"top_k":   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17152" y="3895344"/>
            <a:ext cx="274320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08592" y="39502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200 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90304" y="4206240"/>
            <a:ext cx="25968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"base_value":  0.023,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"final_score": 0.942,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"features":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"name":"delta_1_seconds",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"value":0.82, "shap":+0.310,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"namespace":"temporal"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"name":"counterparty_prevalence_tier",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"value":"UNSEEN", "shap":+0.140,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"namespace":"consortium"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top_k 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SURFACE  ·  LABEL + RETRIEVE + DESIGN NOTES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+ Retrieving Predictions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capture is low-volume but high-value. Every analyst decision feeds the next model generation.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692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/v1/label  ·  Submit analyst decision. Queues event for next training cycle.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274320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860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" y="2523744"/>
            <a:ext cx="259689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"prediction_id": "pred_4c9a...",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"fi_id":      "fi_firstcommunity",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     "FRAUD_CONFIRMED",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FRAUD_CONFIRMED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CLEARED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UNRESOLVED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"analyst_id": "analyst_823",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"notes": "R29 unauthorized confirmed"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9272" y="2231136"/>
            <a:ext cx="274320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2860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202 Accepted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92424" y="2523744"/>
            <a:ext cx="259689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"label_id":   "lbl_7e3b...",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"QUEUED_FOR_TRAINING",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"training_cycle": "next_quarterly",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"calibration_eligible":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65099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28800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/v1/predictions/{prediction_id}  ·  Retrieve stored prediction.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2231136"/>
            <a:ext cx="274320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860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 + HEADERS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3952" y="2523744"/>
            <a:ext cx="259689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/v1/predictions/pred_4c9a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Headers: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X-FI-ID: fi_firstcommunity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query params: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?include_features=true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?include_label=true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17152" y="2231136"/>
            <a:ext cx="274320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22860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200 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90304" y="2523744"/>
            <a:ext cx="259689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"prediction_id": "pred_4c9a...",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         0.942,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        "AUTO_HOLD",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"label_status":   "FRAUD_CONFIRMED",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"head":           "ach_fraud",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"scored_at": "2024-03-12T09:47Z",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"retained_days":  90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2770632" cy="329184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864608"/>
            <a:ext cx="2624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/predict + /explain?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5230368"/>
            <a:ext cx="277063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285232"/>
            <a:ext cx="258775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skips all SHAP computation. /explain is triggered on demand — when analyst opens a case, or via configurable policy (e.g., explain all AUTO_HOLD with score &gt; 0.90). Saves 2–4ms per high-volume call.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4864608"/>
            <a:ext cx="277063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4864608"/>
            <a:ext cx="2624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pipeline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5230368"/>
            <a:ext cx="277063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5285232"/>
            <a:ext cx="258775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flow to Platinum-tier training data. calibration_eligible:true means the event will also be used to refit Platt A, B parameters — no model retraining needed to stay calibrated.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4864608"/>
            <a:ext cx="2770632" cy="329184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4864608"/>
            <a:ext cx="2624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selection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5230368"/>
            <a:ext cx="277063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285232"/>
            <a:ext cx="258775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/predict call specifies the "head" field. The same backbone embedding is used across all heads — only the final classifier changes. Multi-head scoring (ACH fraud + mule detection simultaneously) via batch endpoint.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0" y="4864608"/>
            <a:ext cx="2770632" cy="329184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7152" y="4864608"/>
            <a:ext cx="2624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+ compliance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0" y="5230368"/>
            <a:ext cx="277063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5285232"/>
            <a:ext cx="258775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retained_days is FI-configurable (default 90). Predictions and labels are stored in the FI's Platinum partition. GDPR-compliant deletion supported via DELETE /v1/predictions/{id}.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INTELLIGENCE  ·  OFAC &amp; SANCTIONS SCREENING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Matching Was Never Enough.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normalization + entity embeddings + graph proximity: a three-layer screen that cuts false positives while catching sanctions risk the SDN list hasn't formalized yet.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1548872" cy="457200"/>
          </a:xfrm>
          <a:prstGeom prst="rect">
            <a:avLst/>
          </a:prstGeom>
          <a:solidFill>
            <a:srgbClr val="FDF3DC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11365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buNone/>
            </a:pPr>
            <a:r>
              <a:rPr lang="en-US" sz="10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OFAC screening compares raw name strings against the SDN list. It misses transliterations (Arabic/Cyrillic/CJK variants), aliases, shell company chains, and entities that are NOT yet listed but exhibit the behavioral fingerprint of sanctioned actors. Embedding + graph layers close this gap.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3858768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37744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257860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Name Matching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52928"/>
            <a:ext cx="3858768" cy="274320"/>
          </a:xfrm>
          <a:prstGeom prst="rect">
            <a:avLst/>
          </a:prstGeom>
          <a:solidFill>
            <a:srgbClr val="FD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52928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every orthographic variant before any embedding lookup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45536"/>
            <a:ext cx="38587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18688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normalization (NFC/NFD) + diacritic stripping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621024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Transliteration: Arabic → Latin, Cyrillic → Latin, CJK → pinyin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expansion: SDN list includes known aliases — all aliases enter the candidate pool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425696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Jaro-Winkler ≥ 0.80 → candidate set (top-20 per name token)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828032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Token-set ratio for multi-word names (entity vs. individual)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5230368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fallback: Soundex / Double Metaphone for edge cases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5742432"/>
            <a:ext cx="3858768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742432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ranked candidate list with match_score 0–1 per SDN entry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2377440"/>
            <a:ext cx="3858768" cy="4572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37744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70832" y="257860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Embedding Similarity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2852928"/>
            <a:ext cx="3858768" cy="274320"/>
          </a:xfrm>
          <a:prstGeom prst="rect">
            <a:avLst/>
          </a:prstGeom>
          <a:solidFill>
            <a:srgbClr val="E8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852928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 vs. SDN entity embedding index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0" y="3145536"/>
            <a:ext cx="38587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218688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backbone produces 512-dim entity embedding from payment history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3621024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entity index: pre-computed embeddings for all ≈15K SDN entries + known proxies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4023360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approximate nearest-neighbor search — cosine similarity in embedding space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0" y="4425696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captures behavior, not just name: transaction velocity, rail mix, counterparty graph structure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4828032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unlisted shell company that behaves like a sanctioned entity scores high here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5230368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search: ~3–5ms for full 15K SDN entity index via FAISS IVF index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5742432"/>
            <a:ext cx="3858768" cy="38404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5742432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top-5 SDN embedding neighbors with cosine_sim score 0–1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2377440"/>
            <a:ext cx="385876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8472" y="237744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48472" y="257860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Proximity Score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75320" y="2852928"/>
            <a:ext cx="3858768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2852928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network hop distance to confirmed sanctioned nodes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75320" y="3145536"/>
            <a:ext cx="38587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3218688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entities added as special nodes in the consortium transaction graph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66760" y="3621024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from target entity token: DIRECT (shared transaction) / ONE_HOP / TWO_HOP / DISTANT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66760" y="4023360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50% rule: traverse ownership edges — if target entity is ≥50% owned by SDN node, auto-escalate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66760" y="4425696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company chains: multi-hop path detection (3–4 hops common in layered structures)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66760" y="4828032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banking coverage: wire counterparties checked against SDN graph nodes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66760" y="5230368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refresh: nightly from de-identified Silver — new confirmed sanctions trigger immediate re-index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275320" y="5742432"/>
            <a:ext cx="385876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5742432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proximity_tier (DIRECT/ONE_HOP/TWO_HOP/DISTANT) + shortest path length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INTELLIGENCE  ·  SCREENING PIPELINE &amp; ENSEMBLE 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Screening Pipeline: &lt;10ms End-to-End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steps run synchronously in the payment ingestion path. Total latency budget: &lt;10ms. Ensemble score is the only output that crosses the FI boundary.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658368" cy="914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1907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4128" y="1719072"/>
            <a:ext cx="89611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76479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Normalization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2996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NFC → diacritic strip → transliteration (ISO 233 / BGN-PCGN) → alias lookup in SDN alias table → token set construction for multi-token names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0" y="1719072"/>
            <a:ext cx="1965960" cy="914400"/>
          </a:xfrm>
          <a:prstGeom prst="rect">
            <a:avLst/>
          </a:prstGeom>
          <a:solidFill>
            <a:srgbClr val="92400E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13264" y="1773936"/>
            <a:ext cx="18562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Normalized name tokens + alias-expanded candidate list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65836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919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" y="315468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24128" y="2679192"/>
            <a:ext cx="89611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72491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 — Candidate 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99008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Jaro-Winkler ≥ 0.80 against all SDN name tokens. Token-set ratio for multi-word entities. Phonetic fallback (Double Metaphone) for names &lt; 0.80 Jaro-Winkler. Top-20 candidates ranked by fuzzy_score.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0" y="2679192"/>
            <a:ext cx="196596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2734056"/>
            <a:ext cx="18562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Candidate set [{sdn_id, fuzzy_score}, ...] max 20 entries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639312"/>
            <a:ext cx="658368" cy="9144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3931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411480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24128" y="3639312"/>
            <a:ext cx="89611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3685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Nearest-Neighbor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395020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entity embedding from Feature Store (512-dim). FAISS IVF-PQ index search over SDN embedding index (~15K entries). Top-5 nearest by cosine similarity. Embedding captures behavioral fingerprint — not name.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8400" y="3639312"/>
            <a:ext cx="1965960" cy="914400"/>
          </a:xfrm>
          <a:prstGeom prst="rect">
            <a:avLst/>
          </a:prstGeom>
          <a:solidFill>
            <a:srgbClr val="0D6E8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3264" y="3694176"/>
            <a:ext cx="18562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Top-5 [{sdn_id, cosine_sim, embedding_source}, ...]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599432"/>
            <a:ext cx="65836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9943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0040" y="507492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24128" y="4599432"/>
            <a:ext cx="89611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5568" y="464515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Proximity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5568" y="491032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from entity token in consortium graph toward SDN special nodes. Depth limit: 4 hops. Ownership edge traversal for 50% OFAC rule. Returns shortest path length + all intermediate nodes (de-identified tokens only).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58400" y="4599432"/>
            <a:ext cx="196596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13264" y="4654296"/>
            <a:ext cx="18562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proximity_tier (DIRECT/ONE_HOP/TWO_HOP/DISTANT) + hop_count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5559552"/>
            <a:ext cx="658368" cy="9144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555955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20040" y="603504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4128" y="5559552"/>
            <a:ext cx="89611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5568" y="560527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Score + Routing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15568" y="5870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ensemble: W₁ · fuzzy_score + W₂ · cosine_sim + W₃ · (1 / hop_count). Weights tuned on historical confirmed-hit set. Routing: AUTO_BLOCK ≥ 0.85 | REVIEW 0.50–0.85 | CLEAR &lt; 0.50.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058400" y="5559552"/>
            <a:ext cx="1965960" cy="914400"/>
          </a:xfrm>
          <a:prstGeom prst="rect">
            <a:avLst/>
          </a:prstGeom>
          <a:solidFill>
            <a:srgbClr val="1B3A6E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13264" y="5614416"/>
            <a:ext cx="18562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ofac_score 0–1, routing decision, top contributing evidence items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6492240"/>
            <a:ext cx="11704320" cy="2743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922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Ensemble:  </a:t>
            </a:r>
            <a:pPr indent="0" marL="0">
              <a:buNone/>
            </a:pPr>
            <a:r>
              <a:rPr lang="en-US" sz="1000" dirty="0">
                <a:solidFill>
                  <a:srgbClr val="C8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ofac_score = 0.35 · fuzzy_score  +  0.40 · max(cosine_sim)  +  0.25 · prox_score   where prox_score = 1.0 (DIRECT) | 0.7 (ONE_HOP) | 0.4 (TWO_HOP) | 0.1 (DISTANT)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INTELLIGENCE  ·  TRADITIONAL VS. THREE-LAYER SCREENING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Three-Layer Approach Wins on Every Metric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recall, lower false positive rates, OFAC 50% rule coverage, and full audit trail for regulators.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92608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8288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1828800"/>
            <a:ext cx="36576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828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Name-Only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58584" y="1828800"/>
            <a:ext cx="47548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31736" y="18288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Embedding + Fuzzy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317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Transliteration variants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2286000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232257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non-Latin scripts. 'محمد' vs 'Mohammed' vs 'Mohamad' → 3 separate name strings, often all missed.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58584" y="2286000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31736" y="2322576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transliteration normalizes all variants to canonical Latin form before matching. Same token pool regardless of script origin.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29260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9864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aliases &amp; AKAs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2852928"/>
            <a:ext cx="3657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288950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implementations only match primary name. Aliases buried in remarks field often ignored.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58584" y="2852928"/>
            <a:ext cx="47548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2889504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alias expansion: every AKA in the SDN entry enters the candidate pool. No alias is ever excluded from screening.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419856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6557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company chains (50% rule)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3419856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3456432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 graph. The 50% rule requires manual research — not enforced automatically at transaction time.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58584" y="3419856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1736" y="3456432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ownership edge traversal: if target entity is ≥50% owned by an SDN node (within 4 hops), auto-escalate. Enforced at ingestion.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986784"/>
            <a:ext cx="29260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032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proxies (unlisted entities)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73552" y="3986784"/>
            <a:ext cx="3657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402336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signal for entities NOT on the SDN list but operating like sanctioned actors. Miss until listed.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58584" y="3986784"/>
            <a:ext cx="47548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31736" y="402336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embedding: entity behavioral fingerprint compared against SDN embedding index. Score reflects similarity even before formal listing.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553712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59943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73552" y="4553712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4590288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High. Common names (e.g., 'Ali Hassan', 'Wang Wei') generate constant analyst noise. Typical FI: 1,000+ review queue per day.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58584" y="4553712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31736" y="4590288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graph convergence required for escalation. Name match alone without behavioral/proximity evidence → auto-clear. 60–80% FPR reduction demonstrated in pilot.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5120640"/>
            <a:ext cx="29260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1663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/ wire coverage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73552" y="5120640"/>
            <a:ext cx="365760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5157216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BIC/IBAN screening only. Beneficial owner of the counterparty bank rarely checked.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58584" y="5120640"/>
            <a:ext cx="47548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31736" y="5157216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checks beneficiary entity token against consortium network — catches indirect exposure through correspondent relationships.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5687568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57332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regulators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73552" y="5687568"/>
            <a:ext cx="3657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46704" y="5724144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decision = name string comparison score. Limited explainability.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58584" y="5687568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31736" y="5724144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record: fuzzy_score + embedding cosine_sim + graph path + ensemble weight justification. SHAP-compatible attribution.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6327648"/>
            <a:ext cx="11548872" cy="47548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6391656"/>
            <a:ext cx="29260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" y="6391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ofac_score ≥ 0.85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167128" y="63916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AUTO_BLOCK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794760" y="6391656"/>
            <a:ext cx="29260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42232" y="6391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– 0.85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58968" y="63916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ANALYST REVIEW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86600" y="6391656"/>
            <a:ext cx="2926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34072" y="6391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0.50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750808" y="63916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AUTO_CLEAR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104120" y="6391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Regulatory:  </a:t>
            </a:r>
            <a:pPr indent="0" marL="0">
              <a:buNone/>
            </a:pPr>
            <a:r>
              <a:rPr lang="en-US" sz="90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record (fuzzy_score, cosine_sim, proximity_tier, ensemble weights) stored per screening decision. Exportable for OFAC exam response. Thresholds configurable per FI with documented compliance justification.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Together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foundation model. Three feature namespaces. Ten task heads. Every FI intelligence use case.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3657600" cy="4114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19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58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T₀–T₆ deltas, amount buckets, rail flags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71576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originator behavioral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21868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64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Consortium: 5 bucketed network signals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2160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Store: de-id + DP-noised + versioned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70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raw graph never exposed — only scores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719072"/>
            <a:ext cx="3657600" cy="41148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719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21284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258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backbone (masked event prediction)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271576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fine-tuning: 96% parameter reduction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321868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264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task heads: fraud, churn, liquidity + more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372160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across all 3 namespaces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422452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270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calibration: Platt scaling per head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75320" y="1719072"/>
            <a:ext cx="3657600" cy="4114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1719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Loop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75320" y="221284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2258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&lt;20ms fraud scoring end-to-end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75320" y="271576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churn, liquidity, mule detection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75320" y="321868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264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5-dimensional drift detection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75320" y="372160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analyst labels → retraining cycle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75320" y="4224528"/>
            <a:ext cx="36576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270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graph: refreshed nightly from Silver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5212080"/>
            <a:ext cx="11155680" cy="54864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 → 3 feature namespaces → backbone embedding → 10 task heads → real-time scores + SHAP → analyst labels → smarter model tomorrow.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4360" y="592531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Payment Intelligence Platform  ·  ML Architecture Deep Dive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2026-03-05T01:54:18Z</dcterms:created>
  <dcterms:modified xsi:type="dcterms:W3CDTF">2026-03-05T01:54:18Z</dcterms:modified>
</cp:coreProperties>
</file>