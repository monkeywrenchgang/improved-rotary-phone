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1828800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10896"/>
            <a:ext cx="100584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91056" y="347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 ·  Shared 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Data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Initiatives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249424"/>
            <a:ext cx="2743200" cy="5029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shared data infrastructure that powers Jack Henry's next generation of products, analytics, and intelligence.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2688336" cy="274320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27248"/>
            <a:ext cx="73152" cy="2743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127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Lake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3127248"/>
            <a:ext cx="2688336" cy="274320"/>
          </a:xfrm>
          <a:prstGeom prst="rect">
            <a:avLst/>
          </a:prstGeom>
          <a:solidFill>
            <a:srgbClr val="1A306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3127248"/>
            <a:ext cx="73152" cy="274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3127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3127248"/>
            <a:ext cx="2688336" cy="274320"/>
          </a:xfrm>
          <a:prstGeom prst="rect">
            <a:avLst/>
          </a:prstGeom>
          <a:solidFill>
            <a:srgbClr val="1A306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3127248"/>
            <a:ext cx="73152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127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Management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2688336" cy="274320"/>
          </a:xfrm>
          <a:prstGeom prst="rect">
            <a:avLst/>
          </a:prstGeom>
          <a:solidFill>
            <a:srgbClr val="1A30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11296"/>
            <a:ext cx="73152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511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Services / PCI APIs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3511296"/>
            <a:ext cx="2688336" cy="274320"/>
          </a:xfrm>
          <a:prstGeom prst="rect">
            <a:avLst/>
          </a:prstGeom>
          <a:solidFill>
            <a:srgbClr val="1A306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3511296"/>
            <a:ext cx="73152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3511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Foundation Framework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3511296"/>
            <a:ext cx="2688336" cy="274320"/>
          </a:xfrm>
          <a:prstGeom prst="rect">
            <a:avLst/>
          </a:prstGeom>
          <a:solidFill>
            <a:srgbClr val="1A306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3511296"/>
            <a:ext cx="73152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511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JHKnow &amp; ARCU Migration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869180"/>
            <a:ext cx="9144000" cy="457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at a Glance — Shared Infrastructure Investments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interlocking initiatives that establish Jack Henry's shared data foundation for analytics, AI, and product intelligence.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97280"/>
            <a:ext cx="82296" cy="138988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207008"/>
            <a:ext cx="329184" cy="23774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188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Medallion Data Lake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14447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canonical data store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1664208"/>
            <a:ext cx="2468880" cy="18288"/>
          </a:xfrm>
          <a:prstGeom prst="rect">
            <a:avLst/>
          </a:prstGeom>
          <a:solidFill>
            <a:srgbClr val="DAEAF8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755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zones provide raw, enriched, and analysis-ready data across all Jack Henry product lines.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45536" y="109728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45536" y="1097280"/>
            <a:ext cx="82296" cy="13898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207008"/>
            <a:ext cx="329184" cy="23774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30752" y="1188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30752" y="14447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+ JHBI discovery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0128" y="1664208"/>
            <a:ext cx="2468880" cy="18288"/>
          </a:xfrm>
          <a:prstGeom prst="rect">
            <a:avLst/>
          </a:prstGeom>
          <a:solidFill>
            <a:srgbClr val="DAEAF8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755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metadata, lineage, and search across all DataHub pipelines and JHBI data sets.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097280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097280"/>
            <a:ext cx="82296" cy="13898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1207008"/>
            <a:ext cx="329184" cy="2377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20256" y="1188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Management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20256" y="14447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de-identified data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99632" y="1664208"/>
            <a:ext cx="2468880" cy="18288"/>
          </a:xfrm>
          <a:prstGeom prst="rect">
            <a:avLst/>
          </a:prstGeom>
          <a:solidFill>
            <a:srgbClr val="DAEAF8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755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development and QA teams to work with production-like data — without PII or PCI exposure.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63347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2633472"/>
            <a:ext cx="82296" cy="13898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" y="2743200"/>
            <a:ext cx="32918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274320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" y="27249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Services — PCI Tokenization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1248" y="298094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 infrastructure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0624" y="3200400"/>
            <a:ext cx="2468880" cy="18288"/>
          </a:xfrm>
          <a:prstGeom prst="rect">
            <a:avLst/>
          </a:prstGeom>
          <a:solidFill>
            <a:srgbClr val="DAEAF8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3291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PCI tokenization APIs that any Jack Henry team can integrate — one standard, no reinvention.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45536" y="263347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45536" y="2633472"/>
            <a:ext cx="82296" cy="1389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10128" y="2743200"/>
            <a:ext cx="329184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74320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30752" y="27249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Foundation Model Framework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730752" y="298094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— AI at scale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10128" y="3200400"/>
            <a:ext cx="2468880" cy="18288"/>
          </a:xfrm>
          <a:prstGeom prst="rect">
            <a:avLst/>
          </a:prstGeom>
          <a:solidFill>
            <a:srgbClr val="DAEAF8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291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lifecycle infrastructure: training, serving, monitoring, and governance for ML across JH.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35040" y="263347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35040" y="2633472"/>
            <a:ext cx="82296" cy="13898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99632" y="2743200"/>
            <a:ext cx="329184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274320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20256" y="272491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JHKnow &amp; ARCU Migration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620256" y="298094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JHBI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3200400"/>
            <a:ext cx="2468880" cy="18288"/>
          </a:xfrm>
          <a:prstGeom prst="rect">
            <a:avLst/>
          </a:prstGeom>
          <a:solidFill>
            <a:srgbClr val="DAEAF8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3291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migration of existing bank and credit union analytics clients onto the new JHBI platform.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Medallion Data Lake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4937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canonical multi-zone data lake that serves as the authoritative data source for all Jack Henry analytics, reporting, and AI workloads.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578608" cy="3200400"/>
          </a:xfrm>
          <a:prstGeom prst="rect">
            <a:avLst/>
          </a:prstGeom>
          <a:solidFill>
            <a:srgbClr val="1A3060"/>
          </a:solidFill>
          <a:ln w="19050">
            <a:solidFill>
              <a:srgbClr val="CD7F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14400"/>
            <a:ext cx="2578608" cy="42062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69264"/>
            <a:ext cx="1418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9692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426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Immutable replica of source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1847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Every transaction, event &amp; record preserved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22677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 event streaming (near real-time)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" y="268833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PII / PAN tokenized at ingestion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31089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Audit, replay &amp; reprocessing capability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352958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Foundation for all downstream zones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62656" y="914400"/>
            <a:ext cx="2578608" cy="3200400"/>
          </a:xfrm>
          <a:prstGeom prst="rect">
            <a:avLst/>
          </a:prstGeom>
          <a:solidFill>
            <a:srgbClr val="1A306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62656" y="914400"/>
            <a:ext cx="2578608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969264"/>
            <a:ext cx="1418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90672" y="9692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Zone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27248" y="1426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Cleansed, validated &amp; standardized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27248" y="1847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schema across all payment rails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27248" y="22677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Identity Resolution (Golden Record MDM)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27248" y="268833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Cross-system entity linkage applied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27248" y="31089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Pre-built canonical data models run here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27248" y="352958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3rd-party data joins (NCUA, FFIEC, etc.)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914400"/>
            <a:ext cx="2578608" cy="3200400"/>
          </a:xfrm>
          <a:prstGeom prst="rect">
            <a:avLst/>
          </a:prstGeom>
          <a:solidFill>
            <a:srgbClr val="1A306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914400"/>
            <a:ext cx="25786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97296" y="969264"/>
            <a:ext cx="1418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97296" y="9692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Zone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33872" y="142646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Purpose-built aggregations for 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1847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Subject-area data marts (payments, deposits)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33872" y="22677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Self-service portal &amp; BI tool ready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33872" y="268833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/ ML feature store feeds from here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33872" y="31089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OOTB dashboards &amp; scorecards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33872" y="352958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Re-aggregate anytime — detail preserved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88920" y="2487168"/>
            <a:ext cx="20116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95544" y="2487168"/>
            <a:ext cx="201168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631436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463143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Leverage:  Any JH team can read from Gold zone via governed APIs  ·  One ingest, many consumers  ·  No duplicate data pipelines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Data Catalog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discovery, lineage, and governance across all DataHub and JHBI data assets.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0233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15568"/>
            <a:ext cx="40233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Catalog Provides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1664208"/>
            <a:ext cx="54864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6420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Metadata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88366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data types, field-level documentation for every dataset in DataHub and JHBI.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2157984"/>
            <a:ext cx="54864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5798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Metadata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37744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Glossaries, business definitions, ownership, and stewardship — searchable by any team.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" y="2651760"/>
            <a:ext cx="54864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5176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87121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visibility — from source system ingestion through Bronze → Silver → Gold.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3145536"/>
            <a:ext cx="54864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4553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Metrics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36499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results, freshness indicators, and quality scores surfaced in the catalog entry.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3639312"/>
            <a:ext cx="54864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393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85876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across datasets, tables, columns, and business terms.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0624" y="4133088"/>
            <a:ext cx="54864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3308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35254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using what data, how often, and which assets are most relied upon.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98848" y="1115568"/>
            <a:ext cx="4389120" cy="1664208"/>
          </a:xfrm>
          <a:prstGeom prst="rect">
            <a:avLst/>
          </a:prstGeom>
          <a:solidFill>
            <a:srgbClr val="0A1C4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98848" y="1115568"/>
            <a:ext cx="438912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81728" y="1572768"/>
            <a:ext cx="603504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57276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76672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live pipelines — SilverLake, Banno, Payments, Wires, Sanctions &amp; more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81728" y="1938528"/>
            <a:ext cx="603504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193852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v1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376672" y="19385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Bill Pay, RTP/FedNow, Zelle, Risk &amp; Compliance data models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81728" y="2304288"/>
            <a:ext cx="603504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304288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76672" y="23042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(CPS), Deposits, Loans — added as JHBI roadmap expands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98848" y="2926080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98848" y="2926080"/>
            <a:ext cx="82296" cy="89611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3017520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Shared Services Teams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00016" y="3273552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building on DataHub or JHBI gets self-service discovery instead of hunting for tribal knowledge. The catalog reduces onboarding time and prevents redundant data work across squads.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98848" y="3950208"/>
            <a:ext cx="4389120" cy="713232"/>
          </a:xfrm>
          <a:prstGeom prst="rect">
            <a:avLst/>
          </a:prstGeom>
          <a:solidFill>
            <a:srgbClr val="0A1C4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98848" y="3950208"/>
            <a:ext cx="438912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81728" y="4279392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Lake  ·  DataHub Pipelines  ·  JHBI Self-Service Portal  ·  AI Smart Query  ·  Data Science Apps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Management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4937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development, QA, and data science teams to work with realistic, production-like data — without ever touching real PII or PCI.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950976"/>
            <a:ext cx="4114800" cy="2066544"/>
          </a:xfrm>
          <a:prstGeom prst="rect">
            <a:avLst/>
          </a:prstGeom>
          <a:solidFill>
            <a:srgbClr val="0E1F3B"/>
          </a:solidFill>
          <a:ln w="12700">
            <a:solidFill>
              <a:srgbClr val="E4585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50976"/>
            <a:ext cx="4114800" cy="54864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42646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Teams use synthetic data that doesn't reflect real patterns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7373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Sharing production data creates PII/PCI compliance 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204825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Test environments fail to catch real-world edge cases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235915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 manual data masking processes block sprint velocity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" y="267004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Inconsistent masking across teams leads to data leaks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950976"/>
            <a:ext cx="4114800" cy="2066544"/>
          </a:xfrm>
          <a:prstGeom prst="rect">
            <a:avLst/>
          </a:prstGeom>
          <a:solidFill>
            <a:srgbClr val="1A3060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950976"/>
            <a:ext cx="41148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TDM Solution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42646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De-identified copies of production data on demand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Referential integrity preserved — data behaves realistically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04825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PII/PCI stripped via consistent, auditable masking rules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35915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Self-service: teams provision test datasets in minutes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67004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Integrated with Medallion Bronze zone as the data source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31272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401568"/>
            <a:ext cx="2048256" cy="96926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401568"/>
            <a:ext cx="2048256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52958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78561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features against realistic data volumes and patterns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32304" y="3401568"/>
            <a:ext cx="2048256" cy="96926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32304" y="3401568"/>
            <a:ext cx="2048256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52958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378561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production bugs without compliance exposure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08576" y="3401568"/>
            <a:ext cx="2048256" cy="96926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3401568"/>
            <a:ext cx="2048256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52958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ML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378561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models on real data distributions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84848" y="3401568"/>
            <a:ext cx="2048256" cy="969264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84848" y="3401568"/>
            <a:ext cx="2048256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2864" y="352958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12864" y="378561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TDM service replaces ad-hoc masking across all squads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Common Services: PCI Tokenization APIs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reusable PCI tokenization infrastructure — one standard, consumed by any Jack Henry team.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6032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44475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tokenization service that replaces PAN data with tokens at the point of ingestion. Once tokenized, the same token is used consistently across all downstream consumers — no team needs to implement their own PCI controls.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231136"/>
            <a:ext cx="877824" cy="731520"/>
          </a:xfrm>
          <a:prstGeom prst="rect">
            <a:avLst/>
          </a:prstGeom>
          <a:solidFill>
            <a:srgbClr val="0A1C40"/>
          </a:solidFill>
          <a:ln w="12700">
            <a:solidFill>
              <a:srgbClr val="E4585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231136"/>
            <a:ext cx="877824" cy="45720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3225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PAN Data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" y="26700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payment source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33856" y="2569464"/>
            <a:ext cx="10972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2231136"/>
            <a:ext cx="877824" cy="731520"/>
          </a:xfrm>
          <a:prstGeom prst="rect">
            <a:avLst/>
          </a:prstGeom>
          <a:solidFill>
            <a:srgbClr val="0A1C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43584" y="2231136"/>
            <a:ext cx="877824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23225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API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98448" y="26700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service layer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21408" y="2569464"/>
            <a:ext cx="10972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31136" y="2231136"/>
            <a:ext cx="877824" cy="731520"/>
          </a:xfrm>
          <a:prstGeom prst="rect">
            <a:avLst/>
          </a:prstGeom>
          <a:solidFill>
            <a:srgbClr val="0A1C40"/>
          </a:solidFill>
          <a:ln w="12700">
            <a:solidFill>
              <a:srgbClr val="29A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31136" y="2231136"/>
            <a:ext cx="877824" cy="4572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3225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86000" y="26700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vault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08960" y="2569464"/>
            <a:ext cx="10972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2231136"/>
            <a:ext cx="877824" cy="731520"/>
          </a:xfrm>
          <a:prstGeom prst="rect">
            <a:avLst/>
          </a:prstGeom>
          <a:solidFill>
            <a:srgbClr val="0A1C4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231136"/>
            <a:ext cx="877824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3225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73552" y="26700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· TDM · ML · Apps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" y="3108960"/>
            <a:ext cx="4114800" cy="115214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108960"/>
            <a:ext cx="73152" cy="11521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18211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Scope Reduction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" y="3419856"/>
            <a:ext cx="3877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centralizing tokenization, each consuming team is removed from direct PCI scope. One team owns PCI compliance; all other teams consume tokens — dramatically reducing audit surface area and compliance overhead.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guarantee: the same PAN always maps to the same token across all systems, regardless of which team or service calls the API.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53712" y="111556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Capabilities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53712" y="1463040"/>
            <a:ext cx="43342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3712" y="1463040"/>
            <a:ext cx="640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70448" y="15361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PAN to a non-reversible token at ingestion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53712" y="1938528"/>
            <a:ext cx="43342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3712" y="1938528"/>
            <a:ext cx="640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Detokenize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70448" y="20116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PAN retrieval for authorized, scoped consumers only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53712" y="2414016"/>
            <a:ext cx="43342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53712" y="2414016"/>
            <a:ext cx="640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Tokenize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70448" y="24871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for historical data migration and TDM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53712" y="2889504"/>
            <a:ext cx="43342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53712" y="2889504"/>
            <a:ext cx="640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Lookup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70448" y="296265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token consistency — same card, same token everywhere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53712" y="3364992"/>
            <a:ext cx="43342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53712" y="3364992"/>
            <a:ext cx="640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API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70448" y="343814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history — who accessed what token and when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53712" y="3840480"/>
            <a:ext cx="43342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53712" y="3840480"/>
            <a:ext cx="64008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895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Health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70448" y="39136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rotation policies, and compliance status endpoints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164592"/>
            <a:ext cx="9144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29968" y="1371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Foundation Model Framework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29968" y="4937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lifecycle infrastructure — train once, govern centrally, deploy to any JH product. Eliminates duplicated ML work across squads.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914400"/>
            <a:ext cx="2926080" cy="1536192"/>
          </a:xfrm>
          <a:prstGeom prst="rect">
            <a:avLst/>
          </a:prstGeom>
          <a:solidFill>
            <a:srgbClr val="1A306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914400"/>
            <a:ext cx="29260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024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1316736"/>
            <a:ext cx="2688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ML capabilities at Jack Henry are siloed — each product team builds its own training pipelines, model stores, and serving infrastructure. The result is duplicated effort, inconsistent governance, and slow time-to-value.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Foundation Framework ends that. One shared platform; every team benefits.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914400"/>
            <a:ext cx="5468112" cy="566928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914400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005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00584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versioned feature registry — reuse features across models &amp; teams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01568" y="1554480"/>
            <a:ext cx="5468112" cy="566928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1554480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6459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compute for training jobs — GPU/CPU scheduling, experiment tracking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1568" y="2194560"/>
            <a:ext cx="5468112" cy="566928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194560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2860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228600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catalog of trained models, versions, lineage, and approval 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01568" y="2834640"/>
            <a:ext cx="5468112" cy="566928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01568" y="2834640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926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92608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inference endpoints, A/B testing, canary deployments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01568" y="3474720"/>
            <a:ext cx="5468112" cy="566928"/>
          </a:xfrm>
          <a:prstGeom prst="rect">
            <a:avLst/>
          </a:prstGeom>
          <a:solidFill>
            <a:srgbClr val="1A3060"/>
          </a:solidFill>
          <a:ln w="12700">
            <a:solidFill>
              <a:srgbClr val="2A48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3474720"/>
            <a:ext cx="64008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5661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Monitoring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56616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detection, explainability, fairness checks, and audit trails for all models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114800"/>
            <a:ext cx="8631936" cy="274320"/>
          </a:xfrm>
          <a:prstGeom prst="rect">
            <a:avLst/>
          </a:prstGeom>
          <a:solidFill>
            <a:srgbClr val="1A10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114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Foundation:  Trained on Gold zone data  ·  Features served from Silver  ·  Raw event replay from Bronze  ·  Results fed back into JHBI Data Science Apps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JHKnow &amp; ARCU Migration to JHBI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client-safe transition from legacy analytics platforms to the new Jack Henry Business Intelligence platform.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023360" cy="1078992"/>
          </a:xfrm>
          <a:prstGeom prst="rect">
            <a:avLst/>
          </a:prstGeom>
          <a:solidFill>
            <a:srgbClr val="0A1C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15568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243584"/>
            <a:ext cx="1097280" cy="310896"/>
          </a:xfrm>
          <a:prstGeom prst="rect">
            <a:avLst/>
          </a:prstGeom>
          <a:solidFill>
            <a:srgbClr val="3A4A60"/>
          </a:solidFill>
          <a:ln w="12700">
            <a:solidFill>
              <a:srgbClr val="506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43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JHKnow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14081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analytics platform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91056" y="1371600"/>
            <a:ext cx="310896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1280160"/>
            <a:ext cx="1188720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1280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28016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reports, transactions &amp; account data for banks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0624" y="1682496"/>
            <a:ext cx="1097280" cy="310896"/>
          </a:xfrm>
          <a:prstGeom prst="rect">
            <a:avLst/>
          </a:prstGeom>
          <a:solidFill>
            <a:srgbClr val="3A4A60"/>
          </a:solidFill>
          <a:ln w="12700">
            <a:solidFill>
              <a:srgbClr val="506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682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18470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 analytics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591056" y="1810512"/>
            <a:ext cx="310896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1719072"/>
            <a:ext cx="1188720" cy="2377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171907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union-specific analytics, NCUA reporting, member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2322576"/>
            <a:ext cx="40233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322576"/>
            <a:ext cx="82296" cy="9509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414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Clients Gain in JHBI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27066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Self-service portal &amp; data catalog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" y="28895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Smart Query (plain-language analytics)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" y="30723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Medallion architecture (all 3 zones)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13432" y="27066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/ Data Science applications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13432" y="28895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payments data (ACH, RTP, Zelle &amp; more)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3401568"/>
            <a:ext cx="4023360" cy="877824"/>
          </a:xfrm>
          <a:prstGeom prst="rect">
            <a:avLst/>
          </a:prstGeom>
          <a:solidFill>
            <a:srgbClr val="0A1C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401568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511296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Role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3749040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data pipelines, identity resolution, and Medallion infrastructure that JHBI sits on top of. Shared Services owns the foundation; JHBI teams own the product experience.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98848" y="1115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Phases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18304" y="1847088"/>
            <a:ext cx="54864" cy="475488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90288" y="1536192"/>
            <a:ext cx="329184" cy="329184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1527048"/>
            <a:ext cx="64008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1527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24144" y="1527048"/>
            <a:ext cx="1170432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4144" y="15270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Apr 2026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29200" y="1755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Design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0" y="19751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finalized, Medallion zones built, payment schema unified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8304" y="2633472"/>
            <a:ext cx="54864" cy="475488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90288" y="2322576"/>
            <a:ext cx="329184" cy="329184"/>
          </a:xfrm>
          <a:prstGeom prst="oval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0" y="2313432"/>
            <a:ext cx="64008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2313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724144" y="2313432"/>
            <a:ext cx="1170432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24144" y="23134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Jun 2026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29200" y="2542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Client Onboarding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0" y="2761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clients migrated, data validated, portal and catalog launched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18304" y="3419856"/>
            <a:ext cx="54864" cy="475488"/>
          </a:xfrm>
          <a:prstGeom prst="rect">
            <a:avLst/>
          </a:prstGeom>
          <a:solidFill>
            <a:srgbClr val="C8DFFB"/>
          </a:solidFill>
          <a:ln w="12700">
            <a:solidFill>
              <a:srgbClr val="C8DFF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90288" y="3108960"/>
            <a:ext cx="329184" cy="329184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0" y="3099816"/>
            <a:ext cx="64008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30998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724144" y="3099816"/>
            <a:ext cx="1170432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24144" y="309981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2920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029200" y="3547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Payments v1 GA — all FIs invited to migrate, support model live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90288" y="3895344"/>
            <a:ext cx="329184" cy="329184"/>
          </a:xfrm>
          <a:prstGeom prst="oval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3886200"/>
            <a:ext cx="640080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3886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724144" y="3886200"/>
            <a:ext cx="1170432" cy="20116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24144" y="3886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Ongoing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029200" y="41148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Parity Migration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029200" y="4334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Deposits, loans, and card coverage — full JHKnow/ARCU feature parity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" y="4937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initiatives are not independent — they form a layered, interdependent shared infrastructure stack.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188720" cy="658368"/>
          </a:xfrm>
          <a:prstGeom prst="rect">
            <a:avLst/>
          </a:prstGeom>
          <a:solidFill>
            <a:srgbClr val="0E1A3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64008" cy="65836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572768" y="914400"/>
            <a:ext cx="4297680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29A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914400"/>
            <a:ext cx="429768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0784" y="1005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Lake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00784" y="1261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Silver · Gold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80176" y="914400"/>
            <a:ext cx="2651760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29A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0176" y="914400"/>
            <a:ext cx="2651760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Tokenization APIs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08192" y="1261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Services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64208"/>
            <a:ext cx="1188720" cy="658368"/>
          </a:xfrm>
          <a:prstGeom prst="rect">
            <a:avLst/>
          </a:prstGeom>
          <a:solidFill>
            <a:srgbClr val="0E1A3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64208"/>
            <a:ext cx="64008" cy="6583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66420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LAYER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572768" y="1664208"/>
            <a:ext cx="4297680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2768" y="1664208"/>
            <a:ext cx="429768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0784" y="1755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Management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00784" y="2011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from Bronze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80176" y="1664208"/>
            <a:ext cx="2651760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1664208"/>
            <a:ext cx="265176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2011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layers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2414016"/>
            <a:ext cx="1188720" cy="658368"/>
          </a:xfrm>
          <a:prstGeom prst="rect">
            <a:avLst/>
          </a:prstGeom>
          <a:solidFill>
            <a:srgbClr val="0E1A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414016"/>
            <a:ext cx="64008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414016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72768" y="2414016"/>
            <a:ext cx="4297680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72768" y="2414016"/>
            <a:ext cx="42976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0784" y="2505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Foundation Framework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00784" y="2761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Gold + Silver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0176" y="2414016"/>
            <a:ext cx="2651760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0176" y="2414016"/>
            <a:ext cx="26517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2505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Platform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· OOTB · AI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3163824"/>
            <a:ext cx="1188720" cy="658368"/>
          </a:xfrm>
          <a:prstGeom prst="rect">
            <a:avLst/>
          </a:prstGeom>
          <a:solidFill>
            <a:srgbClr val="0E1A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163824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163824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LAYER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572768" y="3163824"/>
            <a:ext cx="2029968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72768" y="3163824"/>
            <a:ext cx="2029968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0784" y="32552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JHKnow Migration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700784" y="35112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12464" y="3163824"/>
            <a:ext cx="2029968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12464" y="3163824"/>
            <a:ext cx="2029968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32552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ARCU Migration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840480" y="35112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52160" y="3163824"/>
            <a:ext cx="2779776" cy="658368"/>
          </a:xfrm>
          <a:prstGeom prst="rect">
            <a:avLst/>
          </a:prstGeom>
          <a:solidFill>
            <a:srgbClr val="1A306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52160" y="3163824"/>
            <a:ext cx="2779776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0176" y="32552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JH Products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80176" y="351129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APIs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434840" y="1572768"/>
            <a:ext cx="54864" cy="9144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2322576"/>
            <a:ext cx="54864" cy="9144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4840" y="3072384"/>
            <a:ext cx="54864" cy="9144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631436"/>
            <a:ext cx="9144000" cy="256032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463143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Everything above Medallion Data Lake depends on it. Investing in the foundation multiplies the value of every other initiative.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2801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Shared Services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" y="5303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owns the foundation that makes all six initiatives work. Here's the remit.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688336" cy="2798064"/>
          </a:xfrm>
          <a:prstGeom prst="rect">
            <a:avLst/>
          </a:prstGeom>
          <a:solidFill>
            <a:srgbClr val="1A3060"/>
          </a:solidFill>
          <a:ln w="12700">
            <a:solidFill>
              <a:srgbClr val="29A8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2688336" cy="365760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926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Operate the 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38988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Own Medallion Data Lake (Bronze/Silver/Gold)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95681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 PCI Tokenization APIs as a shared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252374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Provide governed data access to consuming teams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30906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Maintain Bronze zone as the system of record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45536" y="914400"/>
            <a:ext cx="2688336" cy="2798064"/>
          </a:xfrm>
          <a:prstGeom prst="rect">
            <a:avLst/>
          </a:prstGeom>
          <a:solidFill>
            <a:srgbClr val="1A3060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914400"/>
            <a:ext cx="2688336" cy="365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96926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Other Teams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38988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Deliver Test Data Management as a self-service capability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95681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Own the Data Catalog — shared metadata &amp; governance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52374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Provide ML Foundation Framework to all squads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30906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Support teams migrating off JHKnow &amp; ARCU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914400"/>
            <a:ext cx="2688336" cy="2798064"/>
          </a:xfrm>
          <a:prstGeom prst="rect">
            <a:avLst/>
          </a:prstGeom>
          <a:solidFill>
            <a:srgbClr val="1A306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914400"/>
            <a:ext cx="2688336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96926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389888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ingest, many consumers — no duplication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9632" y="195681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Standards defined here propagate across JH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99632" y="252374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Compliance handled once, applied everywhere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9632" y="30906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Foundation work in FY27 unlocks FY28+ product velocity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803904"/>
            <a:ext cx="8631936" cy="694944"/>
          </a:xfrm>
          <a:prstGeom prst="rect">
            <a:avLst/>
          </a:prstGeom>
          <a:solidFill>
            <a:srgbClr val="0E1A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803904"/>
            <a:ext cx="863193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8953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" y="407822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 FY27 initiative owners &amp; team assignments   ·   2. Align on Data Lake architecture review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0624" y="426110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charter teams for TDM and PCI APIs   ·   4. Schedule per-initiative roadmap deep-dives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Foundation Model?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4937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large model pre-trained on broad data — then adapted for many specific tasks without rebuilding from scratch each time.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4206240" cy="877824"/>
          </a:xfrm>
          <a:prstGeom prst="rect">
            <a:avLst/>
          </a:prstGeom>
          <a:solidFill>
            <a:srgbClr val="1A306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32688"/>
            <a:ext cx="4206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801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 at scale on general data. Then adapt that base model for specific tasks — fraud scoring, churn prediction, smart query — using far less labeled data and compute than building each model from zero.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9202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 vs.  Foundation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81328" y="2194560"/>
            <a:ext cx="1371600" cy="201168"/>
          </a:xfrm>
          <a:prstGeom prst="rect">
            <a:avLst/>
          </a:prstGeom>
          <a:solidFill>
            <a:srgbClr val="3A1A1A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2194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0" y="2194560"/>
            <a:ext cx="1463040" cy="201168"/>
          </a:xfrm>
          <a:prstGeom prst="rect">
            <a:avLst/>
          </a:prstGeom>
          <a:solidFill>
            <a:srgbClr val="0E2430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2432304"/>
            <a:ext cx="4206240" cy="347472"/>
          </a:xfrm>
          <a:prstGeom prst="rect">
            <a:avLst/>
          </a:prstGeom>
          <a:solidFill>
            <a:srgbClr val="182A4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46888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81328" y="246888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task-specific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general corpus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834640"/>
            <a:ext cx="4206240" cy="347472"/>
          </a:xfrm>
          <a:prstGeom prst="rect">
            <a:avLst/>
          </a:prstGeom>
          <a:solidFill>
            <a:srgbClr val="1A2E48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871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81328" y="28712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task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608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many tasks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" y="3236976"/>
            <a:ext cx="4206240" cy="347472"/>
          </a:xfrm>
          <a:prstGeom prst="rect">
            <a:avLst/>
          </a:prstGeom>
          <a:solidFill>
            <a:srgbClr val="182A4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32735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81328" y="327355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feature work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fine-tuning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3639312"/>
            <a:ext cx="4206240" cy="347472"/>
          </a:xfrm>
          <a:prstGeom prst="rect">
            <a:avLst/>
          </a:prstGeom>
          <a:solidFill>
            <a:srgbClr val="1A2E48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36758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needed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481328" y="3675888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examples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26080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/ zero-shot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4041648"/>
            <a:ext cx="4206240" cy="347472"/>
          </a:xfrm>
          <a:prstGeom prst="rect">
            <a:avLst/>
          </a:prstGeom>
          <a:solidFill>
            <a:srgbClr val="182A4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407822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481328" y="40782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lifecycle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26080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platform, one lifecycle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26864" y="93268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26864" y="1243584"/>
            <a:ext cx="4261104" cy="950976"/>
          </a:xfrm>
          <a:prstGeom prst="rect">
            <a:avLst/>
          </a:prstGeom>
          <a:solidFill>
            <a:srgbClr val="0E1A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43584"/>
            <a:ext cx="4261104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1353312"/>
            <a:ext cx="274320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3533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38928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 —  Train on JH-Scale Data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73168" y="1664208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years of transactions, events, and behavioral signals from the Medallion Gold zone. Build a shared base model that captures deep patterns across all FIs and product lines — once, at shared cost.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29984" y="2194560"/>
            <a:ext cx="54864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26864" y="2304288"/>
            <a:ext cx="4261104" cy="950976"/>
          </a:xfrm>
          <a:prstGeom prst="rect">
            <a:avLst/>
          </a:prstGeom>
          <a:solidFill>
            <a:srgbClr val="0E1A30"/>
          </a:solidFill>
          <a:ln w="9525">
            <a:solidFill>
              <a:srgbClr val="29A8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2304288"/>
            <a:ext cx="4261104" cy="365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2414016"/>
            <a:ext cx="274320" cy="25603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38928" y="241401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 —  Adapt for a Specific Task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73168" y="2724912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team provides a small labeled dataset — hundreds or thousands of examples. The pre-trained base adapts quickly: fraud scoring, churn prediction, smart query. No cold start.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29984" y="3255264"/>
            <a:ext cx="54864" cy="1097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26864" y="3364992"/>
            <a:ext cx="4261104" cy="950976"/>
          </a:xfrm>
          <a:prstGeom prst="rect">
            <a:avLst/>
          </a:prstGeom>
          <a:solidFill>
            <a:srgbClr val="0E1A30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3364992"/>
            <a:ext cx="4261104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3168" y="3474720"/>
            <a:ext cx="2743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3474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38928" y="347472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—  Serve via Governed API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73168" y="3785616"/>
            <a:ext cx="3986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model is registered, versioned, and deployed through the ML Foundation serving layer — monitored for drift, fully auditable, and accessible to any JH team via API.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ML Service:  Classify  ·  Recommend  ·  Forecast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AutoML-powered shared capabilities for the three most common FI product intelligence tasks — automatic feature engineering, model ensembling, production-ready APIs.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2743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15568"/>
            <a:ext cx="2743200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207008"/>
            <a:ext cx="420624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070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122529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" y="16642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fraud? Will this customer churn?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" y="1938528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1938528"/>
            <a:ext cx="45720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98424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2064" y="218541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on ACH, wire, RTP, and card transactions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2336" y="2505456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2505456"/>
            <a:ext cx="45720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55117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064" y="275234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FIs or end-users likely to disengage within 90 days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2336" y="3072384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072384"/>
            <a:ext cx="45720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18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Triage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" y="331927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applications using transaction behavioral features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2336" y="3639312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" y="3639312"/>
            <a:ext cx="45720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6850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Alert Triage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" y="38862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compliance alerts as high/medium/low priority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45536" y="1115568"/>
            <a:ext cx="2743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45536" y="1115568"/>
            <a:ext cx="2743200" cy="47548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1207008"/>
            <a:ext cx="420624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12070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85616" y="122529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91840" y="16642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this user or banker do next?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1938528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91840" y="1938528"/>
            <a:ext cx="45720" cy="4937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198424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Cross-Sell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01568" y="218541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bill pay, RTP enrollment, savings tools to likely adopters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2505456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2505456"/>
            <a:ext cx="45720" cy="4937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255117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Next-Best-Action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01568" y="275234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highest-value engagement action in real time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91840" y="3072384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3072384"/>
            <a:ext cx="45720" cy="4937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3118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Personalization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01568" y="331927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JHBI portal widgets by relevance to each FI's profile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91840" y="3639312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3639312"/>
            <a:ext cx="45720" cy="493776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36850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Routing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01568" y="38862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exceptions to the right analyst based on pattern match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35040" y="1115568"/>
            <a:ext cx="2743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35040" y="1115568"/>
            <a:ext cx="274320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63056" y="1207008"/>
            <a:ext cx="420624" cy="274320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63056" y="12070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75120" y="122529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181344" y="16642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happen, and when?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81344" y="1938528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81344" y="1938528"/>
            <a:ext cx="45720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198424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91072" y="218541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ACH, wire, and RTP volumes for capacity planning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81344" y="2505456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81344" y="2505456"/>
            <a:ext cx="45720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255117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Forecasting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91072" y="275234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inflow/outflow patterns by product and time horizon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81344" y="3072384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81344" y="3072384"/>
            <a:ext cx="45720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91072" y="311810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Volume Trends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91072" y="331927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seasonal fraud spikes for proactive control adjustment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81344" y="3639312"/>
            <a:ext cx="2468880" cy="493776"/>
          </a:xfrm>
          <a:prstGeom prst="rect">
            <a:avLst/>
          </a:prstGeom>
          <a:solidFill>
            <a:srgbClr val="F5F7FB"/>
          </a:solidFill>
          <a:ln w="12700">
            <a:solidFill>
              <a:srgbClr val="DAEAF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81344" y="3639312"/>
            <a:ext cx="45720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91072" y="36850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Demand Forecast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291072" y="388620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auto-scaling and SLA management from predicted load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56032" y="4352544"/>
            <a:ext cx="8631936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6032" y="4352544"/>
            <a:ext cx="8631936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2336" y="44074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Engine: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481328" y="440740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feature engineering  ·  Model stacking &amp; ensembling  ·  Zero manual hyperparameter tuning  ·  Single API, three capability types  ·  Production-ready in days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2412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Feature Schema for Foundation Model Training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 families compose the input vector for every transaction record — from entity tokens to graph topology.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FY27 Initiatives  ·  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270662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15568"/>
            <a:ext cx="2706624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329184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86384" y="117043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1362456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sent 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618488"/>
            <a:ext cx="54864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token ID  —  stable numeric ID for embedding lookup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4048" y="1847088"/>
            <a:ext cx="54864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7830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type: checking / savings / business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2075688"/>
            <a:ext cx="54864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116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count: 30 / 90 / 180-day windows, by rail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84048" y="2304288"/>
            <a:ext cx="54864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402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destination count  (counterparty diversity)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45536" y="1115568"/>
            <a:ext cx="270662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45536" y="1115568"/>
            <a:ext cx="2706624" cy="384048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5264" y="1188720"/>
            <a:ext cx="329184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11887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75888" y="117043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75888" y="1362456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received 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73552" y="1618488"/>
            <a:ext cx="54864" cy="7315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15544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token ID  —  same stable-ID scheme as originator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73552" y="1847088"/>
            <a:ext cx="54864" cy="7315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17830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/ merchant category or FI type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73552" y="2075688"/>
            <a:ext cx="54864" cy="7315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20116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accepted by this destination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73552" y="2304288"/>
            <a:ext cx="54864" cy="73152"/>
          </a:xfrm>
          <a:prstGeom prst="rect">
            <a:avLst/>
          </a:prstGeom>
          <a:solidFill>
            <a:srgbClr val="29A8E0"/>
          </a:solidFill>
          <a:ln w="12700">
            <a:solidFill>
              <a:srgbClr val="29A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22402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In-frequency as destination  (popularity signal)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35040" y="1115568"/>
            <a:ext cx="270662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115568"/>
            <a:ext cx="270662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44768" y="1188720"/>
            <a:ext cx="329184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11887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565392" y="117043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&amp; Type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65392" y="1362456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traveled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63056" y="1618488"/>
            <a:ext cx="5486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15544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Rail: ACH · Wire · RTP · FedNow · Zelle · Card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63056" y="1847088"/>
            <a:ext cx="5486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17830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vs Debit · Push vs Pull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63056" y="2075688"/>
            <a:ext cx="5486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20116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vs standard · Individual vs batch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63056" y="2304288"/>
            <a:ext cx="5486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81928" y="22402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flag · Return / NOC code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6032" y="2615184"/>
            <a:ext cx="270662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6032" y="2615184"/>
            <a:ext cx="2706624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2688336"/>
            <a:ext cx="329184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6883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86384" y="26700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86384" y="2862072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84048" y="3118104"/>
            <a:ext cx="54864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0540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amount (USD)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84048" y="3346704"/>
            <a:ext cx="54864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32826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Log-normalized · Z-score vs originator 90d history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4048" y="3575304"/>
            <a:ext cx="54864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5112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rank vs rail baseline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84048" y="3803904"/>
            <a:ext cx="54864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37398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Rounded-amount flag · 30d rolling avg deviation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145536" y="2615184"/>
            <a:ext cx="270662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145536" y="2615184"/>
            <a:ext cx="2706624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55264" y="2688336"/>
            <a:ext cx="329184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55264" y="26883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675888" y="26700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Deltas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75888" y="2862072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often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73552" y="3118104"/>
            <a:ext cx="54864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92424" y="30540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since last TX  (same rail · same destination)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273552" y="3346704"/>
            <a:ext cx="54864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92424" y="32826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· day of week · month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273552" y="3575304"/>
            <a:ext cx="54864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92424" y="35112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Inter-arrival time mean + variance  (30d window)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73552" y="3803904"/>
            <a:ext cx="54864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92424" y="37398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velocity: 1-hr / 24-hr / 7-day TX count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035040" y="2615184"/>
            <a:ext cx="2706624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035040" y="2615184"/>
            <a:ext cx="2706624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44768" y="2688336"/>
            <a:ext cx="329184" cy="237744"/>
          </a:xfrm>
          <a:prstGeom prst="rect">
            <a:avLst/>
          </a:prstGeom>
          <a:solidFill>
            <a:srgbClr val="0A1C40"/>
          </a:solidFill>
          <a:ln w="12700">
            <a:solidFill>
              <a:srgbClr val="0A1C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44768" y="26883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GRF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565392" y="26700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Features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565392" y="2862072"/>
            <a:ext cx="2066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A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163056" y="3118104"/>
            <a:ext cx="54864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81928" y="30540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out-degree · destination in-degree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163056" y="3346704"/>
            <a:ext cx="54864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81928" y="32826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Org-dest pair frequency  (transaction edge weight)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163056" y="3575304"/>
            <a:ext cx="54864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81928" y="35112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cluster ID  (Louvain / label propagation)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63056" y="3803904"/>
            <a:ext cx="54864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81928" y="37398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Node2vec embedding  (64-dim, pre-computed per entity)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6032" y="4078224"/>
            <a:ext cx="8631936" cy="384048"/>
          </a:xfrm>
          <a:prstGeom prst="rect">
            <a:avLst/>
          </a:prstGeom>
          <a:solidFill>
            <a:srgbClr val="0A1C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56032" y="4078224"/>
            <a:ext cx="8631936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2336" y="41513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Tokenization: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1773936" y="41330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originator and destination is assigned a stable numeric token ID — the model learns per-entity embeddings from these, capturing behavioral identity without storing account numbers.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Data &amp; Analytics Initiatives — Jack Henry Shared Services</dc:title>
  <dc:subject>PptxGenJS Presentation</dc:subject>
  <dc:creator>PptxGenJS</dc:creator>
  <cp:lastModifiedBy>PptxGenJS</cp:lastModifiedBy>
  <cp:revision>1</cp:revision>
  <dcterms:created xsi:type="dcterms:W3CDTF">2026-03-09T16:38:42Z</dcterms:created>
  <dcterms:modified xsi:type="dcterms:W3CDTF">2026-03-09T16:38:42Z</dcterms:modified>
</cp:coreProperties>
</file>