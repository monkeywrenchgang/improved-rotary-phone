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68" d="100"/>
          <a:sy n="168" d="100"/>
        </p:scale>
        <p:origin x="2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14867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02E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640080" y="1051560"/>
            <a:ext cx="109728" cy="109728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96112" y="1051560"/>
            <a:ext cx="109728" cy="109728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52144" y="1051560"/>
            <a:ext cx="109728" cy="109728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408176" y="1051560"/>
            <a:ext cx="109728" cy="109728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64208" y="1051560"/>
            <a:ext cx="109728" cy="109728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920240" y="1051560"/>
            <a:ext cx="109728" cy="109728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0292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BUSINESS INTELLIGENCE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2920" y="594360"/>
            <a:ext cx="77724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Foundation</a:t>
            </a:r>
            <a:endParaRPr lang="en-US" sz="40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Strategy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288036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Extracting cross-FI intelligence from unified payments data—a roadmap inspired by Nubank's transformer approach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JH Data &amp; AI Leadership  •  March 2026  • 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Nubank's Foundation Model: What's Been Proven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6012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Nubank Built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389888"/>
            <a:ext cx="128016" cy="128016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1335024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Billion-parameter transformer trained on complete customer transaction histories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883664"/>
            <a:ext cx="128016" cy="128016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1828800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pre-training: model predicts future transactions (no labels needed)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377440"/>
            <a:ext cx="128016" cy="128016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66928" y="2322576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transaction encoded as text + numerical + categorical attributes in sequence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871216"/>
            <a:ext cx="128016" cy="128016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2816352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end-to-end, blending transaction embeddings with existing tabular features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3364992"/>
            <a:ext cx="128016" cy="128016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66928" y="3310128"/>
            <a:ext cx="3840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to production decision engines across 100M+ customers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98848" y="868680"/>
            <a:ext cx="27432" cy="40233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63440" y="960120"/>
            <a:ext cx="4023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914400"/>
            <a:ext cx="416052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3440" y="914400"/>
            <a:ext cx="54864" cy="117043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28032" y="969264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1.20%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4828032" y="1408176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AUC lift vs. baseline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828032" y="168249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2–3× the typical annual improvement in mature financial ML systems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663440" y="2212848"/>
            <a:ext cx="416052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663440" y="2212848"/>
            <a:ext cx="54864" cy="117043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28032" y="226771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100M+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4828032" y="2706624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served by the foundation model in production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828032" y="29809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across fraud detection and credit decisions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3511296"/>
            <a:ext cx="4160520" cy="1170432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663440" y="3511296"/>
            <a:ext cx="54864" cy="117043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828032" y="35661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Trillions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4828032" y="400507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tokens processed during pre-training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28032" y="42793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Billions of behavioral labels; thousands of txns per monthly decision cycle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54864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JH'S STRUCTURAL ADVANTAGE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 Can Go Further Than Nubank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Nubank trained within one bank. JH sits between 9,000 of them — across every payment rail.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274320" y="1572768"/>
            <a:ext cx="2743200" cy="3200400"/>
          </a:xfrm>
          <a:prstGeom prst="rect">
            <a:avLst/>
          </a:prstGeom>
          <a:solidFill>
            <a:srgbClr val="102E52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1572768"/>
            <a:ext cx="2743200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166420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11480" y="19019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~9,000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411480" y="26334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institutions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2999232"/>
            <a:ext cx="2286000" cy="27432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11480" y="3090672"/>
            <a:ext cx="246888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JH's payment data spans nearly 9,000 FI clients. Rare behavioral patterns invisible within any single bank are statistically rich in JH's aggregate dataset.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0400" y="1572768"/>
            <a:ext cx="2743200" cy="3200400"/>
          </a:xfrm>
          <a:prstGeom prst="rect">
            <a:avLst/>
          </a:prstGeom>
          <a:solidFill>
            <a:srgbClr val="102E52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0" y="1572768"/>
            <a:ext cx="2743200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337560" y="166420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337560" y="19019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3337560" y="26334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rails unified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37560" y="2999232"/>
            <a:ext cx="2286000" cy="27432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37560" y="3090672"/>
            <a:ext cx="246888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ACH, Wire, RTP, FedNow, Zelle, Card, Check, P2P, A2A, Bill Pay, Merchant — no single FI sees all rails simultaneously. JH does.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126480" y="1572768"/>
            <a:ext cx="2743200" cy="3200400"/>
          </a:xfrm>
          <a:prstGeom prst="rect">
            <a:avLst/>
          </a:prstGeom>
          <a:solidFill>
            <a:srgbClr val="102E52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26480" y="1572768"/>
            <a:ext cx="2743200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263640" y="1664208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263640" y="1901952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B2B²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6263640" y="263347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layer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63640" y="2999232"/>
            <a:ext cx="2286000" cy="27432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63640" y="3090672"/>
            <a:ext cx="2468880" cy="11338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 doesn't just serve consumers — it operates the payment infrastructure for institutions, giving it a privileged view of the full funds-flow graph.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ASSET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JHBI Unified Payments Data Represents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96112"/>
            <a:ext cx="84124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JHBI's CDC pipeline already ingests from 8 payment source applications. Together they form a cross-rail behavioral record that no single FI — and no competitor — can replicate.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508760"/>
            <a:ext cx="20116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508760"/>
            <a:ext cx="2011680" cy="54864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iPay Solutions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365760" y="22219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Pay, P2P, CardPay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423160" y="1508760"/>
            <a:ext cx="20116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423160" y="1508760"/>
            <a:ext cx="2011680" cy="54864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51460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JHA PayCenter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14600" y="22219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RTP, FedNow, Zelle, Rail Finder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1508760"/>
            <a:ext cx="20116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4572000" y="1508760"/>
            <a:ext cx="2011680" cy="54864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6344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Payrailz Platform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63440" y="22219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P2P, A2A, Loan Pay, Disbursements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720840" y="1508760"/>
            <a:ext cx="20116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720840" y="1508760"/>
            <a:ext cx="2011680" cy="54864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812280" y="16002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Payments (EPS)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812280" y="222199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ACH, Check 21, RDC, Card Gateway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3063240"/>
            <a:ext cx="20116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274320" y="3063240"/>
            <a:ext cx="2011680" cy="54864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6576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Processing (CPS)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365760" y="377647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Debit, Credit, Prepaid, ATM, EMV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423160" y="3063240"/>
            <a:ext cx="20116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423160" y="3063240"/>
            <a:ext cx="2011680" cy="54864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51460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Jack Henry Wires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514600" y="377647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FedWire (domestic), Corpay (intl)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0" y="3063240"/>
            <a:ext cx="20116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572000" y="3063240"/>
            <a:ext cx="2011680" cy="54864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66344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Payments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663440" y="377647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B2V ACH, Payroll, Remittance, Govt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720840" y="3063240"/>
            <a:ext cx="2011680" cy="137160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6720840" y="3063240"/>
            <a:ext cx="2011680" cy="54864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6812280" y="315468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Tap2Local (2025)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6812280" y="3776472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Tap-to-pay, QR, Payment Links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0" y="4873752"/>
            <a:ext cx="9144000" cy="27432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65760" y="4892040"/>
            <a:ext cx="8412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Financial Crimes Defender, Payrailz Fraud Monitor, Positive Pay, AlertCenter — fraud signals as additional training inputs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Unified Payments Schema to Foundation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87552"/>
            <a:ext cx="1572768" cy="393192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87552"/>
            <a:ext cx="1572768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65760" y="109728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ZONE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146304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CDC from 8 Source Apps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856232"/>
            <a:ext cx="1298448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65760" y="1947672"/>
            <a:ext cx="138988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data capture streams normalized into JHBI raw zone. PAN tokenized at ingestion.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47088" y="2926080"/>
            <a:ext cx="128016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901952" y="2816352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1993392" y="987552"/>
            <a:ext cx="1572768" cy="3931920"/>
          </a:xfrm>
          <a:prstGeom prst="rect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993392" y="987552"/>
            <a:ext cx="1572768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084832" y="109728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SCHEMA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084832" y="146304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Cross-Rail Transaction Record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084832" y="1856232"/>
            <a:ext cx="1298448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2084832" y="1947672"/>
            <a:ext cx="138988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txn: rail, type, direction, channel, amount, timing, status, FI ID, counterparty category.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566160" y="2926080"/>
            <a:ext cx="128016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621024" y="2816352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712464" y="987552"/>
            <a:ext cx="1572768" cy="3931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712464" y="987552"/>
            <a:ext cx="1572768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803904" y="109728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ENCODER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803904" y="146304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Tokenization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803904" y="1856232"/>
            <a:ext cx="1298448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803904" y="1947672"/>
            <a:ext cx="138988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txn embedded as structured token: rail + amount bucket + category + timing delta + product.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285232" y="2926080"/>
            <a:ext cx="128016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340096" y="2816352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431536" y="987552"/>
            <a:ext cx="1572768" cy="3931920"/>
          </a:xfrm>
          <a:prstGeom prst="rect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431536" y="987552"/>
            <a:ext cx="1572768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522976" y="109728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5522976" y="146304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Billion-Parameter Transformer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522976" y="1856232"/>
            <a:ext cx="1298448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22976" y="1947672"/>
            <a:ext cx="138988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Pre-trained via self-supervised learning on full account transaction histories across all 9,000 FIs.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7004304" y="2926080"/>
            <a:ext cx="128016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7059168" y="2816352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150608" y="987552"/>
            <a:ext cx="1572768" cy="3931920"/>
          </a:xfrm>
          <a:prstGeom prst="rect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7150608" y="987552"/>
            <a:ext cx="1572768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7242048" y="1097280"/>
            <a:ext cx="13898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MODELS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7242048" y="1463040"/>
            <a:ext cx="1389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900" i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Task-Specific Heads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42048" y="1856232"/>
            <a:ext cx="1298448" cy="22860"/>
          </a:xfrm>
          <a:prstGeom prst="rect">
            <a:avLst/>
          </a:prstGeom>
          <a:solidFill>
            <a:srgbClr val="FFFFFF">
              <a:alpha val="40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242048" y="1947672"/>
            <a:ext cx="1389888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detection, credit risk, cash flow, rail optimization, product recommendation — each a fine-tuned head.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Self-Supervised Learning on Transaction Sequences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8595360" cy="749808"/>
          </a:xfrm>
          <a:prstGeom prst="rect">
            <a:avLst/>
          </a:prstGeom>
          <a:solidFill>
            <a:srgbClr val="0A2342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9875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analogy: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126187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as a language model learns by predicting the next word in a sentence, JH's foundation model learns by predicting the next transaction in an account's history. No labels needed — the data supervises itself.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4320" y="1801368"/>
            <a:ext cx="2816352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54864" cy="315468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5720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457200" y="23042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Transaction Prediction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2788920"/>
            <a:ext cx="237744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57200" y="2852928"/>
            <a:ext cx="2514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 a sequence of N transactions, predict transaction N+1: rail, amount bucket, merchant category, direction, and timing delta. Trains the model to understand temporal payment rhythms and behavioral patterns.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218688" y="1801368"/>
            <a:ext cx="2816352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18688" y="1801368"/>
            <a:ext cx="54864" cy="315468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401568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3401568" y="23042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Transaction Modeling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01568" y="2788920"/>
            <a:ext cx="237744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401568" y="2852928"/>
            <a:ext cx="2514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Randomly mask 15% of transactions in a sequence and predict the masked values from context. Analogous to BERT's masked language modeling — builds bidirectional contextual understanding of account behavior.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163056" y="1801368"/>
            <a:ext cx="2816352" cy="3154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63056" y="1801368"/>
            <a:ext cx="54864" cy="315468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345936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345936" y="230428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Contrastive Cross-Rail Learning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345936" y="2788920"/>
            <a:ext cx="237744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345936" y="2852928"/>
            <a:ext cx="2514600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JH-specific: learn that the same economic event (e.g., a payroll receipt) manifests differently across ACH, RTP, and Zelle. Align representations across rails so embeddings are rail-agnostic where appropriate.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ENGINEERING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ML Training Corpus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0040" y="93268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Transaction Tokenization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20040" y="1261872"/>
            <a:ext cx="4160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transaction is encoded as a structured multi-field token before being fed to the model: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20040" y="1709928"/>
            <a:ext cx="4160520" cy="393192"/>
          </a:xfrm>
          <a:prstGeom prst="rect">
            <a:avLst/>
          </a:prstGeom>
          <a:solidFill>
            <a:srgbClr val="EBF4F9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20040" y="1709928"/>
            <a:ext cx="45720" cy="39319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1280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1783080" y="1737360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 / Wire / RTP / FedNow / Zelle / Card …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20040" y="2139696"/>
            <a:ext cx="416052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0040" y="2139696"/>
            <a:ext cx="45720" cy="393192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29768" y="2167128"/>
            <a:ext cx="1280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783080" y="2167128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Credit push · Debit pull · On-us · ATM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0040" y="2569464"/>
            <a:ext cx="4160520" cy="393192"/>
          </a:xfrm>
          <a:prstGeom prst="rect">
            <a:avLst/>
          </a:prstGeom>
          <a:solidFill>
            <a:srgbClr val="EBF4F9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20040" y="2569464"/>
            <a:ext cx="45720" cy="39319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29768" y="2596896"/>
            <a:ext cx="1280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AMOUNT_BUCKET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783080" y="2596896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&lt;$10 / $10–100 / $100–1K / $1K–10K / $10K+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20040" y="2999232"/>
            <a:ext cx="416052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2999232"/>
            <a:ext cx="45720" cy="393192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29768" y="3026664"/>
            <a:ext cx="1280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MCC_CATEGORY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1783080" y="3026664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merchant / payee categories (NACHA + MCC)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3429000"/>
            <a:ext cx="4160520" cy="393192"/>
          </a:xfrm>
          <a:prstGeom prst="rect">
            <a:avLst/>
          </a:prstGeom>
          <a:solidFill>
            <a:srgbClr val="EBF4F9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320040" y="3429000"/>
            <a:ext cx="45720" cy="39319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29768" y="3456432"/>
            <a:ext cx="1280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TIMING_DELTA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783080" y="3456432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Log-scaled buckets: seconds → days since last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20040" y="3858768"/>
            <a:ext cx="416052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858768"/>
            <a:ext cx="45720" cy="393192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29768" y="3886200"/>
            <a:ext cx="1280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SOURCE_APP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1783080" y="3886200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iPay / PayCenter / EPS / CPS / Wires …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4288536"/>
            <a:ext cx="4160520" cy="393192"/>
          </a:xfrm>
          <a:prstGeom prst="rect">
            <a:avLst/>
          </a:prstGeom>
          <a:solidFill>
            <a:srgbClr val="EBF4F9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0040" y="4288536"/>
            <a:ext cx="45720" cy="39319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429768" y="4315968"/>
            <a:ext cx="128016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1783080" y="4315968"/>
            <a:ext cx="26060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Settled / Returned / Disputed / Reversed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4553712" y="868680"/>
            <a:ext cx="27432" cy="40233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663440" y="932688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Sequence Construction &amp; Splits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4663440" y="1417320"/>
            <a:ext cx="118872" cy="118872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864608" y="1362456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window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864608" y="16002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window of up to 512 transactions per account-month. Longer histories are chunked with overlap; newer transactions weighted by recency.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2167128"/>
            <a:ext cx="118872" cy="118872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4864608" y="2112264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split — no leakage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864608" y="2350008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transactions before cutoff date. Validate and test on future transactions. Never shuffle across time — this prevents the model from 'seeing the future.'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63440" y="2916936"/>
            <a:ext cx="118872" cy="118872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64608" y="2862072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 stratification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864608" y="3099816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Ensure all 9,000 FIs are proportionally represented in training. Oversample smaller FIs to prevent large-FI behavioral dominance.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663440" y="3666744"/>
            <a:ext cx="118872" cy="118872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864608" y="3611880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FI set (zero-shot eval)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864608" y="3849624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5% of FIs (~450) withheld from training entirely. Used to test true generalization to unseen institutions — the strongest evaluation signal.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663440" y="4416552"/>
            <a:ext cx="118872" cy="118872"/>
          </a:xfrm>
          <a:prstGeom prst="line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8"/>
          <p:cNvSpPr/>
          <p:nvPr/>
        </p:nvSpPr>
        <p:spPr>
          <a:xfrm>
            <a:off x="4864608" y="4361688"/>
            <a:ext cx="3977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/ PII handling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4864608" y="4599432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 tokenized at CDC layer before raw zone. Counterparty identity abstracted to category. FI account references pseudonymized per tenant. Sequence data never contains raw identifiers.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TRAINING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Developing the Foundation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416052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4160520" cy="54864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11480" y="987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CHOICE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Encoder-Only Transformer (BERT-family)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572768"/>
            <a:ext cx="3840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discriminative downstream tasks (fraud, credit risk, cash flow). Bidirectional attention gives richer contextual embeddings vs. decoder-only. Optional: add a decoder head for anomaly generation tasks.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4160520" cy="18745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60520" cy="54864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46320" y="98755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PROGRESSION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709160" y="1261872"/>
            <a:ext cx="4160520" cy="457200"/>
          </a:xfrm>
          <a:prstGeom prst="rect">
            <a:avLst/>
          </a:prstGeom>
          <a:solidFill>
            <a:srgbClr val="EBF4F9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709160" y="1261872"/>
            <a:ext cx="45720" cy="457200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28032" y="1298448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779008" y="129844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110M params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949440" y="128930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pre-training objectives; benchmark vs. tabular baseline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709160" y="1755648"/>
            <a:ext cx="4160520" cy="457200"/>
          </a:xfrm>
          <a:prstGeom prst="rect">
            <a:avLst/>
          </a:prstGeom>
          <a:solidFill>
            <a:srgbClr val="FFFFFF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09160" y="1755648"/>
            <a:ext cx="45720" cy="45720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828032" y="1792224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779008" y="179222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350M params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49440" y="1783080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cross-FI pre-training; production fine-tuning pilots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2249424"/>
            <a:ext cx="4160520" cy="457200"/>
          </a:xfrm>
          <a:prstGeom prst="rect">
            <a:avLst/>
          </a:prstGeom>
          <a:solidFill>
            <a:srgbClr val="EBF4F9"/>
          </a:solidFill>
          <a:ln w="381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4709160" y="2249424"/>
            <a:ext cx="45720" cy="457200"/>
          </a:xfrm>
          <a:prstGeom prst="rect">
            <a:avLst/>
          </a:prstGeom>
          <a:solidFill>
            <a:srgbClr val="0A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828032" y="228600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779008" y="228600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1B+ params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949440" y="2276856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model; distilled for low-latency FI serving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74320" y="2907792"/>
            <a:ext cx="2816352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274320" y="2907792"/>
            <a:ext cx="2816352" cy="54864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411480" y="298094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11480" y="3273552"/>
            <a:ext cx="237744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11480" y="3337560"/>
            <a:ext cx="25146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Vertex AI with TPU v4 / A100 GPU pods. Distributed training via PyTorch FSDP or DeepSpeed ZeRO Stage 3. Ray for orchestration — same framework used by Nubank at scale.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27832" y="2907792"/>
            <a:ext cx="2816352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227832" y="2907792"/>
            <a:ext cx="2816352" cy="54864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364992" y="298094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CONFIG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364992" y="3273552"/>
            <a:ext cx="237744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364992" y="3337560"/>
            <a:ext cx="25146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length: 512 tokens. Batch: 4,096 sequences. Optimizer: AdamW + cosine LR decay with linear warmup. Gradient clipping at 1.0. Mixed precision (BF16).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181344" y="2907792"/>
            <a:ext cx="2816352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6181344" y="2907792"/>
            <a:ext cx="2816352" cy="54864"/>
          </a:xfrm>
          <a:prstGeom prst="rect">
            <a:avLst/>
          </a:prstGeom>
          <a:solidFill>
            <a:srgbClr val="0A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318504" y="2980944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BUDGET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318504" y="3273552"/>
            <a:ext cx="237744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6318504" y="3337560"/>
            <a:ext cx="251460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110M model: ~1,000 A100-hours. 350M model: ~5,000 A100-hours. 1B model: ~30,000 A100-hours. Fine-tuning per use case: ~200 A100-hours on top of pre-trained checkpoint.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Model Quality Rigorously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0040" y="91440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Three-Tier Evaluation Stack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5074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74320" y="1325880"/>
            <a:ext cx="54864" cy="1115568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20624" y="138074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20624" y="1591056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Pre-Training Intrinsic Metrics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1901952"/>
            <a:ext cx="73152" cy="73152"/>
          </a:xfrm>
          <a:prstGeom prst="line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94360" y="1847088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Next-transaction prediction accuracy (token-level, per-field)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57200" y="2061972"/>
            <a:ext cx="73152" cy="73152"/>
          </a:xfrm>
          <a:prstGeom prst="line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94360" y="2007108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Masked token reconstruction loss (perplexity on held-out sequences)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57200" y="2221992"/>
            <a:ext cx="73152" cy="73152"/>
          </a:xfrm>
          <a:prstGeom prst="line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594360" y="2167128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Cross-rail embedding alignment score (cosine similarity of paired transactions)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274320" y="2542032"/>
            <a:ext cx="5074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4320" y="2542032"/>
            <a:ext cx="54864" cy="1115568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20624" y="25968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20624" y="28072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Task Benchmark Suite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118104"/>
            <a:ext cx="73152" cy="73152"/>
          </a:xfrm>
          <a:prstGeom prst="line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94360" y="3063240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standardized downstream tasks: fraud AUC, return prediction, cash flow accuracy, churn risk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57200" y="3278124"/>
            <a:ext cx="73152" cy="73152"/>
          </a:xfrm>
          <a:prstGeom prst="line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94360" y="3223260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 approach: FM fine-tuned head vs. XGBoost/LightGBM tabular baseline on identical features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57200" y="3438144"/>
            <a:ext cx="73152" cy="73152"/>
          </a:xfrm>
          <a:prstGeom prst="line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94360" y="3383280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≥1.2% AUC lift averaged across tasks (Nubank benchmark)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74320" y="3758184"/>
            <a:ext cx="5074920" cy="11155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274320" y="3758184"/>
            <a:ext cx="54864" cy="1115568"/>
          </a:xfrm>
          <a:prstGeom prst="rect">
            <a:avLst/>
          </a:prstGeom>
          <a:solidFill>
            <a:srgbClr val="0A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20624" y="381304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20624" y="40233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Generalization (Held-Out FIs)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334256"/>
            <a:ext cx="73152" cy="73152"/>
          </a:xfrm>
          <a:prstGeom prst="line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594360" y="4279392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450 FIs withheld from training — tests true cross-FI generalization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457200" y="4494276"/>
            <a:ext cx="73152" cy="73152"/>
          </a:xfrm>
          <a:prstGeom prst="line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94360" y="4439412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 consistency: AUC lift must be positive across FI types (CU, community bank, regional, thrift)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57200" y="4654296"/>
            <a:ext cx="73152" cy="73152"/>
          </a:xfrm>
          <a:prstGeom prst="line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94360" y="4599432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audit: ensure model does not disadvantage smaller FIs or niche payment rails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40680" y="868680"/>
            <a:ext cx="27432" cy="40233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577840" y="914400"/>
            <a:ext cx="32918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Success Metric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5577840" y="1325880"/>
            <a:ext cx="3291840" cy="1371600"/>
          </a:xfrm>
          <a:prstGeom prst="rect">
            <a:avLst/>
          </a:prstGeom>
          <a:solidFill>
            <a:srgbClr val="0A2342"/>
          </a:solidFill>
          <a:ln w="12700">
            <a:solidFill>
              <a:srgbClr val="1A6B8A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577840" y="1325880"/>
            <a:ext cx="3291840" cy="6400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650992" y="1426464"/>
            <a:ext cx="31455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 1.2%</a:t>
            </a:r>
            <a:endParaRPr lang="en-US" sz="4400" dirty="0"/>
          </a:p>
        </p:txBody>
      </p:sp>
      <p:sp>
        <p:nvSpPr>
          <p:cNvPr id="41" name="Text 39"/>
          <p:cNvSpPr/>
          <p:nvPr/>
        </p:nvSpPr>
        <p:spPr>
          <a:xfrm>
            <a:off x="5650992" y="2066544"/>
            <a:ext cx="31455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lift over tabular baseline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650992" y="2359152"/>
            <a:ext cx="31455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across benchmark tasks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5577840" y="2852928"/>
            <a:ext cx="3291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Additional Quality Gates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577840" y="3200400"/>
            <a:ext cx="3291840" cy="393192"/>
          </a:xfrm>
          <a:prstGeom prst="rect">
            <a:avLst/>
          </a:prstGeom>
          <a:solidFill>
            <a:srgbClr val="EBF4F9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5650992" y="3246120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Challenger win rate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662672" y="3246120"/>
            <a:ext cx="1143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&gt;70% of tasks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577840" y="3639312"/>
            <a:ext cx="329184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5650992" y="3685032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Zero-shot AUC lift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662672" y="3685032"/>
            <a:ext cx="1143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&gt;0.5% on held-out FIs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577840" y="4078224"/>
            <a:ext cx="3291840" cy="393192"/>
          </a:xfrm>
          <a:prstGeom prst="rect">
            <a:avLst/>
          </a:prstGeom>
          <a:solidFill>
            <a:srgbClr val="EBF4F9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650992" y="4123944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 latency (p99)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662672" y="4123944"/>
            <a:ext cx="1143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&lt;50ms per sequence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77840" y="4517136"/>
            <a:ext cx="3291840" cy="393192"/>
          </a:xfrm>
          <a:prstGeom prst="rect">
            <a:avLst/>
          </a:prstGeom>
          <a:solidFill>
            <a:srgbClr val="FFFFFF"/>
          </a:solidFill>
          <a:ln w="508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5650992" y="4562856"/>
            <a:ext cx="2103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 consistency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662672" y="4562856"/>
            <a:ext cx="11430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lift on ≥90% of FI types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Signals Propagate Across the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7520" y="932688"/>
            <a:ext cx="3108960" cy="658368"/>
          </a:xfrm>
          <a:prstGeom prst="rect">
            <a:avLst/>
          </a:prstGeom>
          <a:solidFill>
            <a:srgbClr val="0A2342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017520" y="932688"/>
            <a:ext cx="3108960" cy="54864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063240" y="100584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JHBI FOUNDATION MODEL  |  Pre-trained encoder (frozen weights)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74320" y="1627632"/>
            <a:ext cx="8595360" cy="22860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74320" y="1627632"/>
            <a:ext cx="22860" cy="155448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8842248" y="1627632"/>
            <a:ext cx="22860" cy="155448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274320" y="1828800"/>
            <a:ext cx="4251960" cy="13441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74320" y="1828800"/>
            <a:ext cx="54864" cy="1344168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02336" y="1901952"/>
            <a:ext cx="402336" cy="256032"/>
          </a:xfrm>
          <a:prstGeom prst="rect">
            <a:avLst/>
          </a:prstGeom>
          <a:solidFill>
            <a:srgbClr val="1A6B8A">
              <a:alpha val="18000"/>
            </a:srgbClr>
          </a:solidFill>
          <a:ln w="635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02336" y="1901952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77824" y="190195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Task Heads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02336" y="2212848"/>
            <a:ext cx="397764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02336" y="2267712"/>
            <a:ext cx="4041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pre-trained encoder; add task-specific classification head (2–3 dense layers). Fine-tune on labeled data per use case. Requires only 100–1,000 labeled examples vs. 100,000+ for a tabular model built from scratch — the encoder already knows payment semantics.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73168" y="1828800"/>
            <a:ext cx="4251960" cy="13441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73168" y="1828800"/>
            <a:ext cx="54864" cy="1344168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901184" y="1901952"/>
            <a:ext cx="402336" cy="256032"/>
          </a:xfrm>
          <a:prstGeom prst="rect">
            <a:avLst/>
          </a:prstGeom>
          <a:solidFill>
            <a:srgbClr val="0A2342">
              <a:alpha val="18000"/>
            </a:srgbClr>
          </a:solidFill>
          <a:ln w="635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01184" y="1901952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5376672" y="1901952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FI-Specific Adaptation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901184" y="2212848"/>
            <a:ext cx="397764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901184" y="2267712"/>
            <a:ext cx="4041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top layers on an individual FI's transaction history so the FI's customer mix, product slate, and seasonality get embedded. Produces a per-FI model combining cross-FI pattern knowledge with local behavioral nuance — best of both worlds.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3255264"/>
            <a:ext cx="4251960" cy="13441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274320" y="3255264"/>
            <a:ext cx="54864" cy="1344168"/>
          </a:xfrm>
          <a:prstGeom prst="rect">
            <a:avLst/>
          </a:prstGeom>
          <a:solidFill>
            <a:srgbClr val="0A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402336" y="3328416"/>
            <a:ext cx="402336" cy="256032"/>
          </a:xfrm>
          <a:prstGeom prst="rect">
            <a:avLst/>
          </a:prstGeom>
          <a:solidFill>
            <a:srgbClr val="0A4A6E">
              <a:alpha val="18000"/>
            </a:srgbClr>
          </a:solidFill>
          <a:ln w="635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02336" y="332841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77824" y="332841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Distillation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02336" y="3639312"/>
            <a:ext cx="397764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02336" y="3694176"/>
            <a:ext cx="4041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 the 1B-parameter production model into a 50–100M parameter student via distillation. Student learns to match teacher output distributions. Delivers 90%+ of performance at &lt;10% inference cost — critical for &lt;50ms fraud decisions in FI production environments.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773168" y="3255264"/>
            <a:ext cx="4251960" cy="1344168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4773168" y="3255264"/>
            <a:ext cx="54864" cy="1344168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4901184" y="3328416"/>
            <a:ext cx="402336" cy="256032"/>
          </a:xfrm>
          <a:prstGeom prst="rect">
            <a:avLst/>
          </a:prstGeom>
          <a:solidFill>
            <a:srgbClr val="00B4D8">
              <a:alpha val="18000"/>
            </a:srgbClr>
          </a:solidFill>
          <a:ln w="63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4901184" y="3328416"/>
            <a:ext cx="402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376672" y="3328416"/>
            <a:ext cx="3547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API — Signal to Existing Products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901184" y="3639312"/>
            <a:ext cx="397764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4901184" y="3694176"/>
            <a:ext cx="40416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768-dim account-sequence embeddings as a JHBI Analytics API. Existing JH products consume embeddings as pre-computed features — no retraining required:</a:t>
            </a:r>
            <a:endParaRPr lang="en-US" sz="9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Financial Crimes Defender  •  Payrailz Fraud Monitor</a:t>
            </a:r>
            <a:endParaRPr lang="en-US" sz="950" dirty="0"/>
          </a:p>
          <a:p>
            <a:pPr marL="0" indent="0">
              <a:lnSpc>
                <a:spcPct val="122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PayCenter Rail Finder  •  Future credit underwriting APIs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0" y="4809744"/>
            <a:ext cx="9144000" cy="333756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65760" y="484632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04 (Embedding API) is the highest-leverage near-term action — it transfers signal to existing products without requiring those teams to retrain.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CROSS-FI MOAT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114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JH's Position Is Structurally Unassailable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97280"/>
            <a:ext cx="54864" cy="77724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75488" y="111556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rarity problem disappears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75488" y="138988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novel fraud pattern affecting 0.003% of transactions at one FI appears thousands of times in JH's aggregate corpus. Rare-event models trained cross-FI are orders of magnitude better than per-FI models.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2057400"/>
            <a:ext cx="54864" cy="77724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207568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FI can replicate 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5488" y="235000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largest US banks process only a fraction of the payment types and customer segments that JH sees in aggregate. This dataset cannot be acquired — it can only be built over decades of infrastructure.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3017520"/>
            <a:ext cx="54864" cy="77724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5488" y="303580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improves with every new FI client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" y="331012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 that onboards to JHBI makes the foundation model stronger. This creates a compounding data flywheel: better models attract more clients, which generate more training data.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3977640"/>
            <a:ext cx="54864" cy="777240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75488" y="3995928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pricing leverage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5488" y="4270248"/>
            <a:ext cx="4114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 can offer AI capabilities at economics no individual FI could achieve alone — spreading the pre-training cost across 9,000 institutions while delivering per-FI fine-tuned models.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37760" y="987552"/>
            <a:ext cx="3840480" cy="3931920"/>
          </a:xfrm>
          <a:prstGeom prst="rect">
            <a:avLst/>
          </a:prstGeom>
          <a:solidFill>
            <a:srgbClr val="102E52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074920" y="107899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kern="0" spc="2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FLYWHEEL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286500" y="1527048"/>
            <a:ext cx="1143000" cy="512064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286500" y="1527048"/>
            <a:ext cx="1143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23076" y="1563624"/>
            <a:ext cx="1069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FI Clients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 to JHBI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7520940" y="2487168"/>
            <a:ext cx="1143000" cy="512064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7520940" y="2487168"/>
            <a:ext cx="1143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557516" y="2523744"/>
            <a:ext cx="1069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Larger, More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Diverse Training Data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7063740" y="3721608"/>
            <a:ext cx="1143000" cy="512064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7063740" y="3721608"/>
            <a:ext cx="1143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00316" y="3758184"/>
            <a:ext cx="1069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Stronger Foundation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5509260" y="3721608"/>
            <a:ext cx="1143000" cy="512064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5509260" y="3721608"/>
            <a:ext cx="1143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545836" y="3758184"/>
            <a:ext cx="1069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Higher-Value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Products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5052060" y="2487168"/>
            <a:ext cx="1143000" cy="512064"/>
          </a:xfrm>
          <a:prstGeom prst="rect">
            <a:avLst/>
          </a:prstGeom>
          <a:solidFill>
            <a:srgbClr val="FFFFFF"/>
          </a:solidFill>
          <a:ln w="254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052060" y="2487168"/>
            <a:ext cx="1143000" cy="4572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088636" y="2523744"/>
            <a:ext cx="106984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Advantage for JH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 rot="2272499">
            <a:off x="7347204" y="2116836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 rot="6619388">
            <a:off x="7735824" y="3214116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 rot="10800000">
            <a:off x="6729984" y="3831336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 rot="-6619388">
            <a:off x="5724144" y="3214116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 rot="-2272499">
            <a:off x="6112764" y="2116836"/>
            <a:ext cx="25603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APPLICATIONS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High-Value Use Cases for Fine-Tuned Models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274320" y="914400"/>
            <a:ext cx="2743200" cy="50292"/>
          </a:xfrm>
          <a:prstGeom prst="rect">
            <a:avLst/>
          </a:prstGeom>
          <a:solidFill>
            <a:srgbClr val="DC262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84048" y="1005840"/>
            <a:ext cx="1097280" cy="237744"/>
          </a:xfrm>
          <a:prstGeom prst="rect">
            <a:avLst/>
          </a:prstGeom>
          <a:solidFill>
            <a:srgbClr val="DC2626">
              <a:alpha val="20000"/>
            </a:srgbClr>
          </a:solidFill>
          <a:ln w="635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84048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Fraud &amp; Risk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11480" y="13075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" y="1335024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 Fraud Detection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11480" y="1719072"/>
            <a:ext cx="246888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11480" y="1773936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novel fraud rings before they proliferate. A pattern seen at 3 FIs today will hit 300 more next month. Cross-FI training lets JH catch it first.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154680" y="91440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154680" y="914400"/>
            <a:ext cx="2743200" cy="50292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64408" y="1005840"/>
            <a:ext cx="1097280" cy="237744"/>
          </a:xfrm>
          <a:prstGeom prst="rect">
            <a:avLst/>
          </a:prstGeom>
          <a:solidFill>
            <a:srgbClr val="1A6B8A">
              <a:alpha val="20000"/>
            </a:srgbClr>
          </a:solidFill>
          <a:ln w="635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64408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Banking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291840" y="13075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520440" y="1335024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Flow Intelligence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291840" y="1719072"/>
            <a:ext cx="246888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91840" y="1773936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business customer liquidity needs from transaction sequences. Enable FIs to proactively offer lines of credit, float management, or working capital products.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035040" y="91440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035040" y="914400"/>
            <a:ext cx="2743200" cy="50292"/>
          </a:xfrm>
          <a:prstGeom prst="rect">
            <a:avLst/>
          </a:prstGeom>
          <a:solidFill>
            <a:srgbClr val="7C3AE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144768" y="1005840"/>
            <a:ext cx="1097280" cy="237744"/>
          </a:xfrm>
          <a:prstGeom prst="rect">
            <a:avLst/>
          </a:prstGeom>
          <a:solidFill>
            <a:srgbClr val="7C3AED">
              <a:alpha val="20000"/>
            </a:srgbClr>
          </a:solidFill>
          <a:ln w="635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144768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Lending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172200" y="13075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400800" y="1335024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Transaction-Derived Credit Risk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72200" y="1719072"/>
            <a:ext cx="246888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172200" y="1773936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 FICO with real-time behavioral risk signals. Transaction embeddings capture cash flow stability, payment reliability, and account health beyond bureau data.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74320" y="297180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2743200" cy="50292"/>
          </a:xfrm>
          <a:prstGeom prst="rect">
            <a:avLst/>
          </a:prstGeom>
          <a:solidFill>
            <a:srgbClr val="D9770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84048" y="3063240"/>
            <a:ext cx="1097280" cy="237744"/>
          </a:xfrm>
          <a:prstGeom prst="rect">
            <a:avLst/>
          </a:prstGeom>
          <a:solidFill>
            <a:srgbClr val="D97706">
              <a:alpha val="20000"/>
            </a:srgbClr>
          </a:solidFill>
          <a:ln w="635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84048" y="3063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411480" y="33649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40080" y="3392424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Rail Optimization &amp; Routing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411480" y="3776472"/>
            <a:ext cx="246888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11480" y="3831336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optimal payment rail for each transaction — cost, speed, probability of return. Augment PayCenter's Rail Finder with ML-driven outcome prediction.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154680" y="297180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3154680" y="2971800"/>
            <a:ext cx="2743200" cy="50292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3264408" y="3063240"/>
            <a:ext cx="1097280" cy="237744"/>
          </a:xfrm>
          <a:prstGeom prst="rect">
            <a:avLst/>
          </a:prstGeom>
          <a:solidFill>
            <a:srgbClr val="02C39A">
              <a:alpha val="20000"/>
            </a:srgbClr>
          </a:solidFill>
          <a:ln w="635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3264408" y="3063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3291840" y="33649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3520440" y="3392424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Recommendation Engine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3291840" y="3776472"/>
            <a:ext cx="246888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3291840" y="3831336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which JH payment products an FI's customer base is most likely to adopt next — tailored per FI segment. Upsell powered by behavioral embeddings.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035040" y="2971800"/>
            <a:ext cx="27432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035040" y="2971800"/>
            <a:ext cx="2743200" cy="50292"/>
          </a:xfrm>
          <a:prstGeom prst="rect">
            <a:avLst/>
          </a:prstGeom>
          <a:solidFill>
            <a:srgbClr val="0891B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144768" y="3063240"/>
            <a:ext cx="1097280" cy="237744"/>
          </a:xfrm>
          <a:prstGeom prst="rect">
            <a:avLst/>
          </a:prstGeom>
          <a:solidFill>
            <a:srgbClr val="0891B2">
              <a:alpha val="20000"/>
            </a:srgbClr>
          </a:solidFill>
          <a:ln w="6350">
            <a:solidFill>
              <a:srgbClr val="0891B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144768" y="30632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6172200" y="3364992"/>
            <a:ext cx="274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6400800" y="3392424"/>
            <a:ext cx="22677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AML Behavioral Signal Layer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172200" y="3776472"/>
            <a:ext cx="246888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6172200" y="3831336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8000"/>
              </a:lnSpc>
              <a:buNone/>
            </a:pPr>
            <a:r>
              <a:rPr lang="en-US" sz="9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anomalous transaction patterns that precede known money-laundering typologies. Cross-FI training exposes layering patterns that span multiple institutions.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BF4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1828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27432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Three-Phase Implementation Plan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65760" y="987552"/>
            <a:ext cx="8412480" cy="73152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365760" y="987552"/>
            <a:ext cx="2788920" cy="73152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50492" y="896112"/>
            <a:ext cx="219456" cy="219456"/>
          </a:xfrm>
          <a:prstGeom prst="line">
            <a:avLst/>
          </a:prstGeom>
          <a:solidFill>
            <a:srgbClr val="1A6B8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11480" y="1170432"/>
            <a:ext cx="269748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11480" y="1170432"/>
            <a:ext cx="2697480" cy="59436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30352" y="126187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30352" y="1463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Foundation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75488" y="1911096"/>
            <a:ext cx="1371600" cy="274320"/>
          </a:xfrm>
          <a:prstGeom prst="rect">
            <a:avLst/>
          </a:prstGeom>
          <a:solidFill>
            <a:srgbClr val="1A6B8A">
              <a:alpha val="20000"/>
            </a:srgbClr>
          </a:solidFill>
          <a:ln w="635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" y="1920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6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– Q3 2026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2249424"/>
            <a:ext cx="242316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02920" y="2377440"/>
            <a:ext cx="91440" cy="91440"/>
          </a:xfrm>
          <a:prstGeom prst="line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58368" y="232257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JHBI unified payment schema across all 8 source apps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2880360"/>
            <a:ext cx="91440" cy="91440"/>
          </a:xfrm>
          <a:prstGeom prst="line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368" y="282549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CDC pipeline coverage and data quality for all payment types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2920" y="3383280"/>
            <a:ext cx="91440" cy="91440"/>
          </a:xfrm>
          <a:prstGeom prst="line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58368" y="332841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transaction tokenization: encode rail + amount + category + timing into a structured token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02920" y="3886200"/>
            <a:ext cx="91440" cy="91440"/>
          </a:xfrm>
          <a:prstGeom prst="line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658368" y="383133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transaction sequence datasets: per-account histories, cross-FI anonymized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02920" y="4389120"/>
            <a:ext cx="91440" cy="91440"/>
          </a:xfrm>
          <a:prstGeom prst="line">
            <a:avLst/>
          </a:prstGeom>
          <a:solidFill>
            <a:srgbClr val="1A6B8A"/>
          </a:solidFill>
          <a:ln w="1270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658368" y="433425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cross-FI data governance and legal framework for model training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246120" y="987552"/>
            <a:ext cx="2788920" cy="73152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530852" y="896112"/>
            <a:ext cx="219456" cy="219456"/>
          </a:xfrm>
          <a:prstGeom prst="line">
            <a:avLst/>
          </a:prstGeom>
          <a:solidFill>
            <a:srgbClr val="0A2342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91840" y="1170432"/>
            <a:ext cx="269748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91840" y="1170432"/>
            <a:ext cx="2697480" cy="59436"/>
          </a:xfrm>
          <a:prstGeom prst="rect">
            <a:avLst/>
          </a:prstGeom>
          <a:solidFill>
            <a:srgbClr val="0A234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410712" y="1261872"/>
            <a:ext cx="2423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3410712" y="1463040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 Model Pre-Training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355848" y="1911096"/>
            <a:ext cx="1371600" cy="274320"/>
          </a:xfrm>
          <a:prstGeom prst="rect">
            <a:avLst/>
          </a:prstGeom>
          <a:solidFill>
            <a:srgbClr val="0A2342">
              <a:alpha val="20000"/>
            </a:srgbClr>
          </a:solidFill>
          <a:ln w="635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355848" y="1920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Q4 2026 – Q1 2027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383280" y="2249424"/>
            <a:ext cx="242316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3383280" y="2377440"/>
            <a:ext cx="91440" cy="91440"/>
          </a:xfrm>
          <a:prstGeom prst="line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538728" y="232257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transformer model on unified transaction sequences (start small, scale)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383280" y="2880360"/>
            <a:ext cx="91440" cy="91440"/>
          </a:xfrm>
          <a:prstGeom prst="line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538728" y="282549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next-transaction prediction and masked transaction modeling objectives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383280" y="3383280"/>
            <a:ext cx="91440" cy="91440"/>
          </a:xfrm>
          <a:prstGeom prst="line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3538728" y="332841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 contrastive learning: align representations across payment rails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383280" y="3886200"/>
            <a:ext cx="91440" cy="91440"/>
          </a:xfrm>
          <a:prstGeom prst="line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538728" y="383133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foundation model embeddings vs. tabular ML baselines (challenger approach)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383280" y="4389120"/>
            <a:ext cx="91440" cy="91440"/>
          </a:xfrm>
          <a:prstGeom prst="line">
            <a:avLst/>
          </a:prstGeom>
          <a:solidFill>
            <a:srgbClr val="0A2342"/>
          </a:solidFill>
          <a:ln w="12700">
            <a:solidFill>
              <a:srgbClr val="0A234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3538728" y="4334256"/>
            <a:ext cx="22860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embedding quality metrics: AUC lift, coverage, latency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126480" y="987552"/>
            <a:ext cx="2651760" cy="73152"/>
          </a:xfrm>
          <a:prstGeom prst="rect">
            <a:avLst/>
          </a:prstGeom>
          <a:solidFill>
            <a:srgbClr val="0A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7342632" y="896112"/>
            <a:ext cx="219456" cy="219456"/>
          </a:xfrm>
          <a:prstGeom prst="line">
            <a:avLst/>
          </a:prstGeom>
          <a:solidFill>
            <a:srgbClr val="0A4A6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6172200" y="1170432"/>
            <a:ext cx="2560320" cy="374904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  <a:prstDash val="solid"/>
          </a:ln>
          <a:effectLst>
            <a:outerShdw blurRad="101600" dist="381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6172200" y="1170432"/>
            <a:ext cx="2560320" cy="59436"/>
          </a:xfrm>
          <a:prstGeom prst="rect">
            <a:avLst/>
          </a:prstGeom>
          <a:solidFill>
            <a:srgbClr val="0A4A6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291072" y="1261872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200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291072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0A23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&amp; Commercialization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6236208" y="1911096"/>
            <a:ext cx="1371600" cy="274320"/>
          </a:xfrm>
          <a:prstGeom prst="rect">
            <a:avLst/>
          </a:prstGeom>
          <a:solidFill>
            <a:srgbClr val="0A4A6E">
              <a:alpha val="20000"/>
            </a:srgbClr>
          </a:solidFill>
          <a:ln w="635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6236208" y="192024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2027+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263640" y="2249424"/>
            <a:ext cx="2286000" cy="20117"/>
          </a:xfrm>
          <a:prstGeom prst="rect">
            <a:avLst/>
          </a:prstGeom>
          <a:solidFill>
            <a:srgbClr val="CBD5E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6263640" y="2377440"/>
            <a:ext cx="91440" cy="91440"/>
          </a:xfrm>
          <a:prstGeom prst="line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6419088" y="2322576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 for 2 priority use cases: fraud detection and cash flow intelligence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263640" y="2880360"/>
            <a:ext cx="91440" cy="91440"/>
          </a:xfrm>
          <a:prstGeom prst="line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6419088" y="2825496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Financial Crimes Defender and existing FI risk pipelines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6263640" y="3383280"/>
            <a:ext cx="91440" cy="91440"/>
          </a:xfrm>
          <a:prstGeom prst="line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Text 56"/>
          <p:cNvSpPr/>
          <p:nvPr/>
        </p:nvSpPr>
        <p:spPr>
          <a:xfrm>
            <a:off x="6419088" y="3328416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embeddings/predictions as JHBI Analytics APIs for FI consumption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6263640" y="3886200"/>
            <a:ext cx="91440" cy="91440"/>
          </a:xfrm>
          <a:prstGeom prst="line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8"/>
          <p:cNvSpPr/>
          <p:nvPr/>
        </p:nvSpPr>
        <p:spPr>
          <a:xfrm>
            <a:off x="6419088" y="3831336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and publish AUC lift vs. per-FI models; target ≥1.2% lift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263640" y="4389120"/>
            <a:ext cx="91440" cy="91440"/>
          </a:xfrm>
          <a:prstGeom prst="line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419088" y="4334256"/>
            <a:ext cx="21488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to additional use cases: credit risk, rail optimization, product rec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234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1A6B8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102E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kern="0" spc="3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DECISIONS THAT UNLOCK THIS STRATEGY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502920" y="59436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for JH Data &amp; AI Leadership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8321040" cy="896112"/>
          </a:xfrm>
          <a:prstGeom prst="rect">
            <a:avLst/>
          </a:prstGeom>
          <a:solidFill>
            <a:srgbClr val="102E52"/>
          </a:solidFill>
          <a:ln w="1016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1261872"/>
            <a:ext cx="54864" cy="89611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40080" y="1298448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298448" y="1316736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the Unified Schema as the Model's Data Floor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298448" y="1600200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model's quality ceiling is the unified payment schema's quality floor. JHBI's schema work is not just a data engineering project — it is the prerequisite for every AI capability that follows. Prioritize completeness and cross-rail normalization.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57200" y="2304288"/>
            <a:ext cx="8321040" cy="896112"/>
          </a:xfrm>
          <a:prstGeom prst="rect">
            <a:avLst/>
          </a:prstGeom>
          <a:solidFill>
            <a:srgbClr val="102E52"/>
          </a:solidFill>
          <a:ln w="1016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304288"/>
            <a:ext cx="54864" cy="89611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2340864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1298448" y="2359152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Cross-FI Data Governance Now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298448" y="2642616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cross-FI training corpus is JH's decisive moat — but only if the legal and technical framework is in place to use it. Define anonymization standards, tenant isolation, and contractual data usage rights in FI agreements before training begins.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346704"/>
            <a:ext cx="8321040" cy="896112"/>
          </a:xfrm>
          <a:prstGeom prst="rect">
            <a:avLst/>
          </a:prstGeom>
          <a:solidFill>
            <a:srgbClr val="102E52"/>
          </a:solidFill>
          <a:ln w="10160">
            <a:solidFill>
              <a:srgbClr val="1A6B8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57200" y="3346704"/>
            <a:ext cx="54864" cy="896112"/>
          </a:xfrm>
          <a:prstGeom prst="rect">
            <a:avLst/>
          </a:prstGeom>
          <a:solidFill>
            <a:srgbClr val="00B4D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594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1298448" y="3401568"/>
            <a:ext cx="685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Build vs. Partner for Foundation Model ML Capability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298448" y="3685032"/>
            <a:ext cx="68580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JH can build an internal transformer ML team, partner with a financial AI specialist (e.g., via the Nubank/ZenML playbook), or co-develop with a cloud partner (GCP Vertex AI). Each path has different speed, cost, and IP trade-offs — decide before Phase 2 begins.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50292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Nubank / building.nubank.com, ZenML LLMOps Database, Jack Henry 10-K, jackhenry.dev developer documentation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480</TotalTime>
  <Words>2438</Words>
  <Application>Microsoft Macintosh PowerPoint</Application>
  <PresentationFormat>On-screen Show (16:9)</PresentationFormat>
  <Paragraphs>295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JH Payments Foundation Model Strategy</dc:title>
  <dc:subject>PptxGenJS Presentation</dc:subject>
  <dc:creator>JHBI Team</dc:creator>
  <cp:lastModifiedBy>Adam Ames</cp:lastModifiedBy>
  <cp:revision>2</cp:revision>
  <dcterms:created xsi:type="dcterms:W3CDTF">2026-03-03T19:44:09Z</dcterms:created>
  <dcterms:modified xsi:type="dcterms:W3CDTF">2026-03-04T23:33:59Z</dcterms:modified>
</cp:coreProperties>
</file>