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133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1645920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0" y="0"/>
            <a:ext cx="292608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796028"/>
            <a:ext cx="91440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926080" cy="5029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&amp; JHBI — Intelligence for Modern FIs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4389120" cy="329184"/>
          </a:xfrm>
          <a:prstGeom prst="rect">
            <a:avLst/>
          </a:prstGeom>
          <a:solidFill>
            <a:srgbClr val="1A306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670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15 Live Data Pipelines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4389120" cy="329184"/>
          </a:xfrm>
          <a:prstGeom prst="rect">
            <a:avLst/>
          </a:prstGeom>
          <a:solidFill>
            <a:srgbClr val="1A306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090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Full Payments Coverage — Coming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4389120" cy="329184"/>
          </a:xfrm>
          <a:prstGeom prst="rect">
            <a:avLst/>
          </a:prstGeom>
          <a:solidFill>
            <a:srgbClr val="1A306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5112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Introducing JHBI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48143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Bank Conference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— Your Data, Already Waiting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from your Jack Henry systems — standardized, cloud-delivered, BigQuery-ready. No ETL build required.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3200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143000"/>
            <a:ext cx="32004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2710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746504"/>
            <a:ext cx="310896" cy="310896"/>
          </a:xfrm>
          <a:prstGeom prst="line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" y="2057400"/>
            <a:ext cx="54864" cy="420624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9536" y="174650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JH Systems generate data daily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198424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SilverLake, Banno, Payments &amp; more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496312"/>
            <a:ext cx="310896" cy="310896"/>
          </a:xfrm>
          <a:prstGeom prst="line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" y="2807208"/>
            <a:ext cx="54864" cy="420624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9536" y="249631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Extracts &amp; Standardizes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" y="273405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Canonical, Dereference &amp; Raw formats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310896" cy="310896"/>
          </a:xfrm>
          <a:prstGeom prst="line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" y="3557016"/>
            <a:ext cx="54864" cy="420624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9536" y="324612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Google BigQuery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" y="348386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Single-tenant, SOC2 Compliant, secure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995928"/>
            <a:ext cx="310896" cy="310896"/>
          </a:xfrm>
          <a:prstGeom prst="line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" y="399592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It Your Way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" y="423367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tools, data science, custom apps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306824"/>
            <a:ext cx="3200400" cy="310896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" y="43068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BigQuery  ·  Single-Tenant  ·  SOC2  ·  Monthly Refresh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03320" y="1143000"/>
            <a:ext cx="5184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Data Feeds  (15 Live Pipelines)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703320" y="1527048"/>
            <a:ext cx="1627632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03320" y="1527048"/>
            <a:ext cx="54864" cy="2743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94760" y="15270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/ Digital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703320" y="18379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776472" y="18379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Operations &amp; Transactions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703320" y="21122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76472" y="21122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History &amp; High-Risk Events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03320" y="238658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76472" y="23865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Usage &amp; Product Adoption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703320" y="266090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76472" y="26609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Conversations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703320" y="293522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776472" y="293522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Ads Reporting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422392" y="1527048"/>
            <a:ext cx="1627632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22392" y="1527048"/>
            <a:ext cx="54864" cy="2743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513832" y="15270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Integration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22392" y="18379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495544" y="18379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SilverLake Core Data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22392" y="21122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95544" y="21122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General Ledger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422392" y="238658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95544" y="23865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Account Services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422392" y="266090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495544" y="26609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Entity Services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422392" y="293522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495544" y="293522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JH Wires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422392" y="32095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495544" y="32095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Exception Items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422392" y="34838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495544" y="34838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Sanction Screening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141464" y="1527048"/>
            <a:ext cx="1627632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141464" y="1527048"/>
            <a:ext cx="54864" cy="2743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232904" y="15270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Specialized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141464" y="18379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214616" y="18379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Payments-SmartSight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141464" y="21122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214616" y="21122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Card Mgmt (Apple/Google Pay)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141464" y="238658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214616" y="23865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Treasury Management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141464" y="266090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214616" y="26609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Finicity (3rd-party)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01168"/>
            <a:ext cx="14173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011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— Full Payments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54864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v1 brings comprehensive payments data coverage across every rail your institution touches — available GA July 2026.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42416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042416"/>
            <a:ext cx="2706624" cy="5029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2336" y="1143000"/>
            <a:ext cx="420624" cy="23774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1430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96112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&amp; Wire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" y="15179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ACH credit/debit origination &amp; returns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0624" y="17922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Same-Day ACH volume trends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0624" y="2066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FedWire domestic &amp; SWIFT intl (ISO 20022)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23408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Returns, exceptions &amp; volume analytics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27248" y="1042416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27248" y="1042416"/>
            <a:ext cx="2706624" cy="502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73552" y="1143000"/>
            <a:ext cx="420624" cy="23774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73552" y="11430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767328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15179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RTP (TCH) — send/receive &amp; trends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91840" y="17922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FedNow adoption &amp; instant payment flows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91840" y="2066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Zelle P2P &amp; commercial transaction data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0" y="23408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Request for Payment (RfP) coverage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98464" y="1042416"/>
            <a:ext cx="2706624" cy="1719072"/>
          </a:xfrm>
          <a:prstGeom prst="rect">
            <a:avLst/>
          </a:prstGeom>
          <a:solidFill>
            <a:srgbClr val="162038"/>
          </a:solidFill>
          <a:ln w="12700">
            <a:solidFill>
              <a:srgbClr val="3A4A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98464" y="1042416"/>
            <a:ext cx="2706624" cy="502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44768" y="1143000"/>
            <a:ext cx="420624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4768" y="11430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v2+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38544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— Post v1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63056" y="15179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CPS card analytics on the roadmap for v2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63056" y="17922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Debit, ATM, prepaid &amp; gift card issuer data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63056" y="2066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Card Mgmt Data Exchange in DataHub today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63056" y="23408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Digital wallet provisioning (Apple/Google Pay)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2852928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2852928"/>
            <a:ext cx="2706624" cy="502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02336" y="2953512"/>
            <a:ext cx="420624" cy="23774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295351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96112" y="29443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 &amp; P2P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20624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iPay consumer &amp; business bill pay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20624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Payrailz P2P, A2A &amp; loan payments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0624" y="38770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Card-funded bill pay (CardPay)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0624" y="41513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Volume trends &amp; channel breakdown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127248" y="2852928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127248" y="2852928"/>
            <a:ext cx="2706624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73552" y="2953512"/>
            <a:ext cx="420624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73552" y="295351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767328" y="29443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Payments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291840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B2B/B2V ACH &amp; payroll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91840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Check 21, RDC &amp; SmartPay (mRDC)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91840" y="38770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Same-Day ACH &amp; remittance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91840" y="41513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Vendor &amp; government payment flows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998464" y="2852928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998464" y="2852928"/>
            <a:ext cx="2706624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44768" y="2953512"/>
            <a:ext cx="42062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144768" y="295351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RSK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638544" y="29443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163056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Returns monitoring &amp; fraud signals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63056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Positive Pay &amp; exception processing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163056" y="38770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Enterprise Sanctions Screening data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163056" y="41513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Compliance reporting — ready on day one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4887468"/>
            <a:ext cx="9144000" cy="365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  ·  Subject to Change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&amp; The Early Mover Advantage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Forward-thinking institutions are already shaping what comes next — the window to influence the roadmap is open, but closing.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3291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82296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1243584"/>
            <a:ext cx="914400" cy="18288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" y="12435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20624" y="1463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Community of Early Adopters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" y="17007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across the country are already live on DataHub — connecting their Jack Henry data to cloud analytics and custom applications.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286000"/>
            <a:ext cx="3291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2286000"/>
            <a:ext cx="82296" cy="10241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0624" y="2359152"/>
            <a:ext cx="9144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" y="2359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0624" y="2578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Clients Are Shaping JHBI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select group of institutions is actively collaborating with our product teams — influencing data models, portal design, and the payments analytics roadmap.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401568"/>
            <a:ext cx="3291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3401568"/>
            <a:ext cx="82296" cy="1024128"/>
          </a:xfrm>
          <a:prstGeom prst="rect">
            <a:avLst/>
          </a:prstGeom>
          <a:solidFill>
            <a:srgbClr val="E45858"/>
          </a:solidFill>
          <a:ln w="12700">
            <a:solidFill>
              <a:srgbClr val="E45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0624" y="3474720"/>
            <a:ext cx="914400" cy="182880"/>
          </a:xfrm>
          <a:prstGeom prst="rect">
            <a:avLst/>
          </a:prstGeom>
          <a:solidFill>
            <a:srgbClr val="E45858"/>
          </a:solidFill>
          <a:ln w="12700">
            <a:solidFill>
              <a:srgbClr val="E45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0624" y="3694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Outreach Is Active Now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in active conversations with charter partners for JHBI Payments v1 (GA July 2026). Early participants receive preferred access, dedicated support, and roadmap influence.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22192" y="1170432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Path to JHBI Payments v1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32504" y="1883664"/>
            <a:ext cx="54864" cy="548640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13632" y="1609344"/>
            <a:ext cx="310896" cy="310896"/>
          </a:xfrm>
          <a:prstGeom prst="line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34256" y="1600200"/>
            <a:ext cx="123444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34256" y="1600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Apr 2026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334256" y="1819656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Client Outreach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34256" y="2048256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conversations with select partners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032504" y="2688336"/>
            <a:ext cx="54864" cy="548640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913632" y="2414016"/>
            <a:ext cx="310896" cy="310896"/>
          </a:xfrm>
          <a:prstGeom prst="lin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34256" y="2404872"/>
            <a:ext cx="123444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34256" y="24048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Jun 2026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34256" y="2624328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&amp; Pilot Access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34256" y="2852928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FI beta, data model refinement, onboarding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913632" y="3218688"/>
            <a:ext cx="310896" cy="310896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334256" y="3209544"/>
            <a:ext cx="123444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34256" y="32095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334256" y="3429000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Availability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34256" y="3657600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ACH, Wire, Bill Pay, RTP, Zelle, Card — self-service portal open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822192" y="3986784"/>
            <a:ext cx="5065776" cy="91440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22192" y="3986784"/>
            <a:ext cx="5065776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005072" y="4078224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Client Benefits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05072" y="4352544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Early platform access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37960" y="4352544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Roadmap influence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05072" y="4590288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Preferred onboarding &amp; pricing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37960" y="4590288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data science support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182880"/>
            <a:ext cx="64008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82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JHBI — Jack Henry Business Intelligence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486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JHKnow &amp; ARCU — a cloud-based DaaS platform built for self-service intelligence. Zero infrastructure. Ready on day one.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9692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243584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3075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15453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front door — SSO, favorites, KPI subscriptions &amp; scheduling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1243584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82112" y="1243584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28416" y="13075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8416" y="15453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Metadata, data lineage, quality profiling &amp; semantic search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08192" y="1243584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08192" y="1243584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4496" y="13075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Reports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54496" y="15453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dashboards, persona-based KPIs &amp; user-embedded analytics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1901952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1901952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" y="1965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Query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" y="2203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 — get SQL, narrative answers &amp; instant charts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82112" y="1901952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82112" y="1901952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28416" y="1965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28416" y="2203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 MDM — unified customer view across all JH systems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08192" y="1901952"/>
            <a:ext cx="2779776" cy="60350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08192" y="1901952"/>
            <a:ext cx="64008" cy="60350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54496" y="1965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54496" y="2203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ML apps — fraud signals, product adoption, wallet share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6032" y="256032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ARCHITECTURE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2816352"/>
            <a:ext cx="2578608" cy="1664208"/>
          </a:xfrm>
          <a:prstGeom prst="rect">
            <a:avLst/>
          </a:prstGeom>
          <a:solidFill>
            <a:srgbClr val="1A3060"/>
          </a:solidFill>
          <a:ln w="12700">
            <a:solidFill>
              <a:srgbClr val="CD7F3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" y="2816352"/>
            <a:ext cx="2578608" cy="329184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2852928"/>
            <a:ext cx="1418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4048" y="285292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Zone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" y="320040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replica of source data — every transaction, every field, every rail preserved. Enables audit, replay &amp; reprocessing. PII/PAN tokenized at ingestion.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62656" y="2816352"/>
            <a:ext cx="2578608" cy="1664208"/>
          </a:xfrm>
          <a:prstGeom prst="rect">
            <a:avLst/>
          </a:prstGeom>
          <a:solidFill>
            <a:srgbClr val="1A3060"/>
          </a:solidFill>
          <a:ln w="12700">
            <a:solidFill>
              <a:srgbClr val="94A3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962656" y="2816352"/>
            <a:ext cx="2578608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090672" y="2852928"/>
            <a:ext cx="1418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090672" y="285292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Zone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090672" y="320040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normalized &amp; unified across all payment rails. Unified payment schema applied. Identity Resolution runs here. Pre-built data models.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69280" y="2816352"/>
            <a:ext cx="2578608" cy="1664208"/>
          </a:xfrm>
          <a:prstGeom prst="rect">
            <a:avLst/>
          </a:prstGeom>
          <a:solidFill>
            <a:srgbClr val="1A3060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69280" y="2816352"/>
            <a:ext cx="2578608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97296" y="2852928"/>
            <a:ext cx="1418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797296" y="285292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Zone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797296" y="320040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aggregations for analytics &amp; self-service. Powers dashboards, AI query builder &amp; out-of-the-box apps. Re-aggregate anytime.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88920" y="3456432"/>
            <a:ext cx="109728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495544" y="3456432"/>
            <a:ext cx="109728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0" y="4887468"/>
            <a:ext cx="9144000" cy="365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Target: July 2026  ·  Jack Henry &amp; Associates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872</Words>
  <Application>Microsoft Macintosh PowerPoint</Application>
  <PresentationFormat>On-screen Show (16:9)</PresentationFormat>
  <Paragraphs>143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DataHub &amp; JHBI — Payments Intelligence for Modern Banks</dc:title>
  <dc:subject>PptxGenJS Presentation</dc:subject>
  <dc:creator>PptxGenJS</dc:creator>
  <cp:lastModifiedBy>Adam Ames</cp:lastModifiedBy>
  <cp:revision>2</cp:revision>
  <dcterms:created xsi:type="dcterms:W3CDTF">2026-03-09T15:27:43Z</dcterms:created>
  <dcterms:modified xsi:type="dcterms:W3CDTF">2026-03-09T15:37:52Z</dcterms:modified>
</cp:coreProperties>
</file>